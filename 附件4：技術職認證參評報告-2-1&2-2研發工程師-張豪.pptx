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4"/>
  </p:notesMasterIdLst>
  <p:handoutMasterIdLst>
    <p:handoutMasterId r:id="rId10"/>
  </p:handoutMasterIdLst>
  <p:sldIdLst>
    <p:sldId id="282" r:id="rId3"/>
    <p:sldId id="283" r:id="rId5"/>
    <p:sldId id="284" r:id="rId6"/>
    <p:sldId id="285" r:id="rId7"/>
    <p:sldId id="286" r:id="rId8"/>
    <p:sldId id="287" r:id="rId9"/>
  </p:sldIdLst>
  <p:sldSz cx="12192000" cy="6858000"/>
  <p:notesSz cx="6797675" cy="992632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52" autoAdjust="0"/>
    <p:restoredTop sz="94706" autoAdjust="0"/>
  </p:normalViewPr>
  <p:slideViewPr>
    <p:cSldViewPr snapToGrid="0">
      <p:cViewPr varScale="1">
        <p:scale>
          <a:sx n="116" d="100"/>
          <a:sy n="116" d="100"/>
        </p:scale>
        <p:origin x="384" y="126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9" d="100"/>
          <a:sy n="99" d="100"/>
        </p:scale>
        <p:origin x="282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0176C01-2996-41EA-87C6-D94E8BA12DB2}" type="datetime2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1604A0D4-B89B-4ADD-AF9E-38636B40EE4E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A50F75F-AD11-4973-BAED-59A0098129E9}" type="datetime2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195"/>
            <a:ext cx="5438140" cy="335024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 rtl="0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 rtl="0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 rtl="0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 rtl="0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82869989-EB00-4EE7-BCB5-25BDC5BB29F8}" type="slidenum">
              <a:rPr lang="en-US" altLang="zh-CN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2869989-EB00-4EE7-BCB5-25BDC5BB29F8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TW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TW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292E4-C117-4AE5-8BCA-334E149AE116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zh-CN" noProof="0" smtClean="0"/>
            </a:fld>
            <a:endParaRPr lang="zh-CN" altLang="en-US" noProof="0" dirty="0"/>
          </a:p>
        </p:txBody>
      </p:sp>
      <p:grpSp>
        <p:nvGrpSpPr>
          <p:cNvPr id="7" name="组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直接连接符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​​(S)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​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​​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​​(S)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​​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​​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组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直接连接符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​​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​​(S)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组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直接连接符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直接连接符​​(S)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直接连接符​​(S)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接连接符​​(S)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直接连接符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直接连接符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​​(S)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​​(S)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​​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​​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组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直接连接符​​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​​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​​(S)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​​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组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直接连接符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​​(S)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接连接符​​(S)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​​(S)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接连接符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直接连接符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​​(S)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​​(S)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​​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58" name="直接连接符​​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TW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TW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86692-0600-494D-A58B-8346A1607219}" type="datetime2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CN" altLang="en-US" smtClean="0"/>
              <a:t>添加页脚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TW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292E4-C117-4AE5-8BCA-334E149AE116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44DCD-E941-46B3-ADE3-0AFD533C6B28}" type="slidenum">
              <a:rPr lang="zh-TW" altLang="en-US" smtClean="0"/>
            </a:fld>
            <a:endParaRPr lang="zh-TW" altLang="en-US"/>
          </a:p>
        </p:txBody>
      </p:sp>
      <p:grpSp>
        <p:nvGrpSpPr>
          <p:cNvPr id="7" name="组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直接连接符​​(S)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​​(S)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​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​​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​​(S)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​​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​​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​​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组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直接连接符​​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​​(S)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​​(S)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组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直接连接符​​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直接连接符​​(S)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直接连接符​​(S)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接连接符​​(S)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直接连接符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直接连接符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​​(S)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​​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​​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组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直接连接符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​​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​​(S)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​​(S)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​​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组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直接连接符​​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​​(S)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接连接符​​(S)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​​(S)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接连接符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直接连接符​​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​​(S)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​​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58" name="直接连接符​​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TW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TW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TW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FDCFB-9841-4E8E-A26A-EE55E04AFFB4}" type="datetime2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CN" altLang="en-US" smtClean="0"/>
              <a:t>添加页脚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TW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TW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TW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E997A-1EEE-4D88-AEC9-C83348780DB3}" type="datetime2">
              <a:rPr lang="zh-CN" altLang="en-US" smtClean="0"/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添加页脚</a:t>
            </a:r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TW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B8D67-B939-44AB-992D-F02AFF2C2399}" type="datetime2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CN" altLang="en-US" noProof="0" smtClean="0"/>
              <a:t>添加页脚</a:t>
            </a:r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78190-531B-41DD-AD7A-47EC2C22B86C}" type="datetime2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CN" altLang="en-US" smtClean="0"/>
              <a:t>添加页脚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zh-CN" smtClean="0"/>
            </a:fld>
            <a:endParaRPr lang="zh-CN" altLang="en-US" dirty="0"/>
          </a:p>
        </p:txBody>
      </p:sp>
      <p:grpSp>
        <p:nvGrpSpPr>
          <p:cNvPr id="5" name="组 160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直接连接符​​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​​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​​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​​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​​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​​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​​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​​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​​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​​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​​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​​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​​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​​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​​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​​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组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0" name="直接连接符​​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​​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5" name="组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1" name="直接连接符​​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直接连接符​​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直接连接符​​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直接连接符 5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直接连接符​​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6" name="直接连接符 4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​​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​​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​​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组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4" name="直接连接符​​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​​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​​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" name="组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5" name="直接连接符 3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直接连接符​​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接连接符​​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​​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接连接符​​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0" name="直接连接符​​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​​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​​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​​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​​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TW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TW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EE274-C014-4170-9D78-BB3EE034439F}" type="datetime2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noProof="0" smtClean="0"/>
              <a:t>添加页脚</a:t>
            </a:r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TW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EE274-C014-4170-9D78-BB3EE034439F}" type="datetime2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noProof="0" smtClean="0"/>
              <a:t>添加页脚</a:t>
            </a:r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TW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TW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EC09C-6658-4B3F-8DB1-134C6DD59176}" type="datetime2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CN" altLang="en-US" noProof="0" smtClean="0"/>
              <a:t>添加页脚</a:t>
            </a:r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TW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TW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EE274-C014-4170-9D78-BB3EE034439F}" type="datetime2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noProof="0" smtClean="0"/>
              <a:t>添加页脚</a:t>
            </a:r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TW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TW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7EE274-C014-4170-9D78-BB3EE034439F}" type="datetime2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noProof="0" smtClean="0"/>
              <a:t>添加页脚</a:t>
            </a:r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375A4-56A4-47D6-9801-1991572033F7}" type="slidenum">
              <a:rPr lang="en-US" altLang="zh-CN" noProof="0" smtClean="0"/>
            </a:fld>
            <a:endParaRPr lang="zh-CN" altLang="en-US" noProof="0" dirty="0"/>
          </a:p>
        </p:txBody>
      </p:sp>
      <p:grpSp>
        <p:nvGrpSpPr>
          <p:cNvPr id="7" name="组 95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8" name="直接连接符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​​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​​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​​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​​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​​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​​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组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直接连接符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组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直接连接符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直接连接符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直接连接符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接连接符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直接连接符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直接连接符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组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直接连接符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组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直接连接符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​​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接连接符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接连接符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直接连接符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58" name="直接连接符 57"/>
          <p:cNvCxnSpPr/>
          <p:nvPr userDrawn="1"/>
        </p:nvCxnSpPr>
        <p:spPr>
          <a:xfrm>
            <a:off x="609600" y="6172200"/>
            <a:ext cx="9434117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58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4" y="0"/>
            <a:ext cx="2013167" cy="543847"/>
          </a:xfrm>
          <a:prstGeom prst="rect">
            <a:avLst/>
          </a:prstGeom>
        </p:spPr>
      </p:pic>
      <p:pic>
        <p:nvPicPr>
          <p:cNvPr id="60" name="Picture 7" descr="未命名 -2拷貝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9279" y="5665419"/>
            <a:ext cx="1476375" cy="846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6248" y="1041119"/>
            <a:ext cx="2135659" cy="652720"/>
          </a:xfrm>
        </p:spPr>
        <p:txBody>
          <a:bodyPr rtlCol="0">
            <a:normAutofit/>
          </a:bodyPr>
          <a:lstStyle/>
          <a:p>
            <a:pPr rtl="0"/>
            <a:r>
              <a:rPr lang="zh-CN" altLang="en-US" sz="2000" b="1" dirty="0" smtClean="0">
                <a:latin typeface="Microsoft JhengHei UI" pitchFamily="34" charset="-120"/>
                <a:ea typeface="Microsoft JhengHei UI" pitchFamily="34" charset="-120"/>
                <a:sym typeface="Arial" panose="020B0604020202090204" pitchFamily="34" charset="0"/>
              </a:rPr>
              <a:t>編寫說明：</a:t>
            </a:r>
            <a:endParaRPr lang="zh-CN" altLang="en-US" sz="2000" b="1" dirty="0">
              <a:latin typeface="Microsoft JhengHei UI" pitchFamily="34" charset="-120"/>
              <a:ea typeface="Microsoft JhengHei UI" pitchFamily="34" charset="-120"/>
              <a:sym typeface="Arial" panose="020B0604020202090204" pitchFamily="34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452948" y="1480742"/>
          <a:ext cx="9308757" cy="100584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353566"/>
                <a:gridCol w="7955191"/>
              </a:tblGrid>
              <a:tr h="7957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bg1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要求</a:t>
                      </a:r>
                      <a:endParaRPr lang="zh-TW" altLang="en-US" sz="1200" dirty="0">
                        <a:solidFill>
                          <a:schemeClr val="bg1"/>
                        </a:solidFill>
                        <a:latin typeface="Microsoft JhengHei UI" pitchFamily="34" charset="-120"/>
                        <a:ea typeface="Microsoft JhengHei UI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>
                          <a:solidFill>
                            <a:schemeClr val="bg1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依研發工程師能力要求，描述個人每個能力項的執行情況，并通過實際工作舉證個人達標情況，填寫要求：</a:t>
                      </a:r>
                      <a:endParaRPr lang="en-US" altLang="zh-CN" sz="1200" dirty="0" smtClean="0">
                        <a:solidFill>
                          <a:schemeClr val="bg1"/>
                        </a:solidFill>
                        <a:latin typeface="Microsoft JhengHei UI" pitchFamily="34" charset="-120"/>
                        <a:ea typeface="Microsoft JhengHei U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 smtClean="0">
                          <a:solidFill>
                            <a:schemeClr val="bg1"/>
                          </a:solidFill>
                          <a:latin typeface="Microsoft JhengHei UI" pitchFamily="34" charset="-120"/>
                          <a:ea typeface="Microsoft JhengHei UI" pitchFamily="34" charset="-120"/>
                          <a:sym typeface="Arial" panose="020B0604020202090204" pitchFamily="34" charset="0"/>
                        </a:rPr>
                        <a:t>1.</a:t>
                      </a:r>
                      <a:r>
                        <a:rPr lang="zh-CN" altLang="en-US" sz="1200" dirty="0" smtClean="0">
                          <a:solidFill>
                            <a:schemeClr val="bg1"/>
                          </a:solidFill>
                          <a:latin typeface="Microsoft JhengHei UI" pitchFamily="34" charset="-120"/>
                          <a:ea typeface="Microsoft JhengHei UI" pitchFamily="34" charset="-120"/>
                          <a:sym typeface="Arial" panose="020B0604020202090204" pitchFamily="34" charset="0"/>
                        </a:rPr>
                        <a:t>報告必須包括每個能力要素，不能有缺失，呈現形式不限</a:t>
                      </a:r>
                      <a:endParaRPr lang="en-US" altLang="zh-CN" sz="1200" dirty="0" smtClean="0">
                        <a:solidFill>
                          <a:schemeClr val="bg1"/>
                        </a:solidFill>
                        <a:latin typeface="Microsoft JhengHei UI" pitchFamily="34" charset="-120"/>
                        <a:ea typeface="Microsoft JhengHei UI" pitchFamily="34" charset="-120"/>
                        <a:sym typeface="Arial" panose="020B060402020209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 smtClean="0">
                          <a:solidFill>
                            <a:schemeClr val="bg1"/>
                          </a:solidFill>
                          <a:latin typeface="Microsoft JhengHei UI" pitchFamily="34" charset="-120"/>
                          <a:ea typeface="Microsoft JhengHei UI" pitchFamily="34" charset="-120"/>
                          <a:sym typeface="Arial" panose="020B0604020202090204" pitchFamily="34" charset="0"/>
                        </a:rPr>
                        <a:t>2.</a:t>
                      </a:r>
                      <a:r>
                        <a:rPr lang="zh-CN" altLang="en-US" sz="1200" dirty="0" smtClean="0">
                          <a:solidFill>
                            <a:schemeClr val="bg1"/>
                          </a:solidFill>
                          <a:latin typeface="Microsoft JhengHei UI" pitchFamily="34" charset="-120"/>
                          <a:ea typeface="Microsoft JhengHei UI" pitchFamily="34" charset="-120"/>
                          <a:sym typeface="Arial" panose="020B0604020202090204" pitchFamily="34" charset="0"/>
                        </a:rPr>
                        <a:t>語言簡練，避免過多的文字描述</a:t>
                      </a:r>
                      <a:endParaRPr lang="en-US" altLang="zh-CN" sz="1200" dirty="0" smtClean="0">
                        <a:solidFill>
                          <a:schemeClr val="bg1"/>
                        </a:solidFill>
                        <a:latin typeface="Microsoft JhengHei UI" pitchFamily="34" charset="-120"/>
                        <a:ea typeface="Microsoft JhengHei UI" pitchFamily="34" charset="-120"/>
                        <a:sym typeface="Arial" panose="020B060402020209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 smtClean="0">
                          <a:solidFill>
                            <a:schemeClr val="bg1"/>
                          </a:solidFill>
                          <a:latin typeface="Microsoft JhengHei UI" pitchFamily="34" charset="-120"/>
                          <a:ea typeface="Microsoft JhengHei UI" pitchFamily="34" charset="-120"/>
                          <a:sym typeface="Arial" panose="020B0604020202090204" pitchFamily="34" charset="0"/>
                        </a:rPr>
                        <a:t>3.</a:t>
                      </a:r>
                      <a:r>
                        <a:rPr lang="zh-CN" altLang="en-US" sz="1200" dirty="0" smtClean="0">
                          <a:solidFill>
                            <a:schemeClr val="bg1"/>
                          </a:solidFill>
                          <a:latin typeface="Microsoft JhengHei UI" pitchFamily="34" charset="-120"/>
                          <a:ea typeface="Microsoft JhengHei UI" pitchFamily="34" charset="-120"/>
                          <a:sym typeface="Arial" panose="020B0604020202090204" pitchFamily="34" charset="0"/>
                        </a:rPr>
                        <a:t>結構清晰，證據確著，以實例、數據等作為舉證材料</a:t>
                      </a:r>
                      <a:endParaRPr lang="en-US" altLang="zh-CN" sz="1200" dirty="0" smtClean="0">
                        <a:solidFill>
                          <a:schemeClr val="bg1"/>
                        </a:solidFill>
                        <a:latin typeface="Microsoft JhengHei UI" pitchFamily="34" charset="-120"/>
                        <a:ea typeface="Microsoft JhengHei UI" pitchFamily="34" charset="-120"/>
                        <a:sym typeface="Arial" panose="020B060402020209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1200" dirty="0" smtClean="0">
                          <a:solidFill>
                            <a:schemeClr val="bg1"/>
                          </a:solidFill>
                          <a:latin typeface="Microsoft JhengHei UI" pitchFamily="34" charset="-120"/>
                          <a:ea typeface="Microsoft JhengHei UI" pitchFamily="34" charset="-120"/>
                          <a:sym typeface="Arial" panose="020B0604020202090204" pitchFamily="34" charset="0"/>
                        </a:rPr>
                        <a:t>4.</a:t>
                      </a:r>
                      <a:r>
                        <a:rPr lang="zh-CN" altLang="en-US" sz="1200" dirty="0" smtClean="0">
                          <a:solidFill>
                            <a:schemeClr val="bg1"/>
                          </a:solidFill>
                          <a:latin typeface="Microsoft JhengHei UI" pitchFamily="34" charset="-120"/>
                          <a:ea typeface="Microsoft JhengHei UI" pitchFamily="34" charset="-120"/>
                          <a:sym typeface="Arial" panose="020B0604020202090204" pitchFamily="34" charset="0"/>
                        </a:rPr>
                        <a:t>舉證材料可另外附件。</a:t>
                      </a:r>
                      <a:endParaRPr lang="zh-TW" altLang="en-US" sz="1200" dirty="0">
                        <a:solidFill>
                          <a:schemeClr val="bg1"/>
                        </a:solidFill>
                        <a:latin typeface="Microsoft JhengHei UI" pitchFamily="34" charset="-120"/>
                        <a:ea typeface="Microsoft JhengHei UI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5" name="标题 1"/>
          <p:cNvSpPr txBox="1"/>
          <p:nvPr/>
        </p:nvSpPr>
        <p:spPr>
          <a:xfrm>
            <a:off x="1846819" y="527222"/>
            <a:ext cx="7987613" cy="8402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3200" b="1" dirty="0" smtClean="0">
                <a:solidFill>
                  <a:schemeClr val="accent5">
                    <a:lumMod val="75000"/>
                  </a:schemeClr>
                </a:solidFill>
                <a:latin typeface="Microsoft JhengHei UI" pitchFamily="34" charset="-120"/>
                <a:ea typeface="Microsoft JhengHei UI" pitchFamily="34" charset="-120"/>
                <a:sym typeface="Arial" panose="020B0604020202090204" pitchFamily="34" charset="0"/>
              </a:rPr>
              <a:t>中原資訊總處技術職認證答辯報告</a:t>
            </a:r>
            <a:endParaRPr lang="zh-CN" altLang="en-US" sz="3200" b="1" dirty="0">
              <a:solidFill>
                <a:schemeClr val="accent5">
                  <a:lumMod val="75000"/>
                </a:schemeClr>
              </a:solidFill>
              <a:latin typeface="Microsoft JhengHei UI" pitchFamily="34" charset="-120"/>
              <a:ea typeface="Microsoft JhengHei UI" pitchFamily="34" charset="-120"/>
              <a:sym typeface="Arial" panose="020B0604020202090204" pitchFamily="34" charset="0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1195773" y="2546069"/>
            <a:ext cx="1356927" cy="4066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JhengHei UI" pitchFamily="34" charset="-120"/>
                <a:ea typeface="Microsoft JhengHei UI" pitchFamily="34" charset="-120"/>
                <a:cs typeface="+mj-cs"/>
                <a:sym typeface="Arial" panose="020B0604020202090204" pitchFamily="34" charset="0"/>
              </a:rPr>
              <a:t>能力要求：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icrosoft JhengHei UI" pitchFamily="34" charset="-120"/>
              <a:ea typeface="Microsoft JhengHei UI" pitchFamily="34" charset="-120"/>
              <a:cs typeface="+mj-cs"/>
              <a:sym typeface="Arial" panose="020B0604020202090204" pitchFamily="34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2587626" y="2537884"/>
          <a:ext cx="7280274" cy="3475028"/>
        </p:xfrm>
        <a:graphic>
          <a:graphicData uri="http://schemas.openxmlformats.org/drawingml/2006/table">
            <a:tbl>
              <a:tblPr/>
              <a:tblGrid>
                <a:gridCol w="943740"/>
                <a:gridCol w="4841109"/>
                <a:gridCol w="762000"/>
                <a:gridCol w="733425"/>
              </a:tblGrid>
              <a:tr h="297272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50" b="0" i="0" u="none" strike="noStrike" dirty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能力項</a:t>
                      </a:r>
                      <a:endParaRPr lang="zh-TW" altLang="en-US" sz="1050" b="0" i="0" u="none" strike="noStrike" dirty="0">
                        <a:solidFill>
                          <a:srgbClr val="000000"/>
                        </a:solidFill>
                        <a:latin typeface="Microsoft JhengHei UI" pitchFamily="34" charset="-120"/>
                        <a:ea typeface="Microsoft JhengHei UI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50" b="0" i="0" u="none" strike="noStrike" dirty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能力描述</a:t>
                      </a:r>
                      <a:endParaRPr lang="zh-TW" altLang="en-US" sz="1050" b="0" i="0" u="none" strike="noStrike" dirty="0">
                        <a:solidFill>
                          <a:srgbClr val="000000"/>
                        </a:solidFill>
                        <a:latin typeface="Microsoft JhengHei UI" pitchFamily="34" charset="-120"/>
                        <a:ea typeface="Microsoft JhengHei UI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2-1</a:t>
                      </a:r>
                      <a:endParaRPr lang="en-US" altLang="zh-TW" sz="1000" b="0" i="0" u="none" strike="noStrike" dirty="0" smtClean="0">
                        <a:solidFill>
                          <a:srgbClr val="000000"/>
                        </a:solidFill>
                        <a:latin typeface="Microsoft JhengHei UI" pitchFamily="34" charset="-120"/>
                        <a:ea typeface="Microsoft JhengHei UI" pitchFamily="34" charset="-120"/>
                      </a:endParaRPr>
                    </a:p>
                    <a:p>
                      <a:pPr algn="ctr" fontAlgn="ctr"/>
                      <a:r>
                        <a:rPr lang="zh-CN" altLang="en-US" sz="100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研發工程師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latin typeface="Microsoft JhengHei UI" pitchFamily="34" charset="-120"/>
                        <a:ea typeface="Microsoft JhengHei UI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2-2</a:t>
                      </a:r>
                      <a:endParaRPr lang="en-US" altLang="zh-TW" sz="1000" b="0" i="0" u="none" strike="noStrike" dirty="0" smtClean="0">
                        <a:solidFill>
                          <a:srgbClr val="000000"/>
                        </a:solidFill>
                        <a:latin typeface="Microsoft JhengHei UI" pitchFamily="34" charset="-120"/>
                        <a:ea typeface="Microsoft JhengHei UI" pitchFamily="34" charset="-120"/>
                      </a:endParaRPr>
                    </a:p>
                    <a:p>
                      <a:pPr algn="ctr" fontAlgn="ctr"/>
                      <a:r>
                        <a:rPr lang="zh-CN" altLang="en-US" sz="1000" b="0" i="0" u="none" strike="noStrike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研發工程</a:t>
                      </a:r>
                      <a:r>
                        <a:rPr lang="zh-CN" altLang="en-US" sz="100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師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latin typeface="Microsoft JhengHei UI" pitchFamily="34" charset="-120"/>
                        <a:ea typeface="Microsoft JhengHei UI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3587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技能水平</a:t>
                      </a:r>
                      <a:endParaRPr lang="zh-TW" altLang="en-US" sz="1050" b="0" i="0" u="none" strike="noStrike" dirty="0">
                        <a:solidFill>
                          <a:srgbClr val="000000"/>
                        </a:solidFill>
                        <a:latin typeface="Microsoft JhengHei UI" pitchFamily="34" charset="-120"/>
                        <a:ea typeface="Microsoft JhengHei UI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10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①熟悉所使用的主要技術，能够独立分析、快速排查和解決問題</a:t>
                      </a:r>
                      <a:endParaRPr lang="zh-TW" altLang="en-US" sz="1100" b="0" i="0" u="none" strike="noStrike" dirty="0" smtClean="0">
                        <a:solidFill>
                          <a:srgbClr val="000000"/>
                        </a:solidFill>
                        <a:latin typeface="Microsoft JhengHei UI" pitchFamily="34" charset="-120"/>
                        <a:ea typeface="Microsoft JhengHei UI" pitchFamily="34" charset="-120"/>
                      </a:endParaRPr>
                    </a:p>
                    <a:p>
                      <a:pPr algn="l" fontAlgn="ctr"/>
                      <a:r>
                        <a:rPr lang="zh-TW" altLang="en-US" sz="110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②某一專業領域比較精通，具有一定權威，具备辅导他人的能力和技能</a:t>
                      </a:r>
                      <a:endParaRPr lang="zh-TW" altLang="en-US" sz="1100" b="0" i="0" u="none" strike="noStrike" dirty="0" smtClean="0">
                        <a:solidFill>
                          <a:srgbClr val="000000"/>
                        </a:solidFill>
                        <a:latin typeface="Microsoft JhengHei UI" pitchFamily="34" charset="-120"/>
                        <a:ea typeface="Microsoft JhengHei UI" pitchFamily="34" charset="-120"/>
                      </a:endParaRPr>
                    </a:p>
                    <a:p>
                      <a:pPr algn="l" fontAlgn="ctr"/>
                      <a:r>
                        <a:rPr lang="zh-TW" altLang="en-US" sz="110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③主動學習新技能、新知識，充分了解業界某一領域的新技術動向</a:t>
                      </a:r>
                      <a:endParaRPr lang="zh-TW" altLang="en-US" sz="1100" b="0" i="0" u="none" strike="noStrike" dirty="0">
                        <a:solidFill>
                          <a:srgbClr val="000000"/>
                        </a:solidFill>
                        <a:latin typeface="Microsoft JhengHei UI" pitchFamily="34" charset="-120"/>
                        <a:ea typeface="Microsoft JhengHei UI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5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A</a:t>
                      </a:r>
                      <a:endParaRPr lang="zh-TW" altLang="en-US" sz="1050" b="0" i="0" u="none" strike="noStrike" dirty="0">
                        <a:solidFill>
                          <a:srgbClr val="000000"/>
                        </a:solidFill>
                        <a:latin typeface="Microsoft JhengHei UI" pitchFamily="34" charset="-120"/>
                        <a:ea typeface="Microsoft JhengHei UI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A</a:t>
                      </a:r>
                      <a:endParaRPr lang="zh-TW" altLang="en-US" sz="1050" b="0" i="0" u="none" strike="noStrike" dirty="0">
                        <a:solidFill>
                          <a:srgbClr val="000000"/>
                        </a:solidFill>
                        <a:latin typeface="Microsoft JhengHei UI" pitchFamily="34" charset="-120"/>
                        <a:ea typeface="Microsoft JhengHei UI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4372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5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新技術應用</a:t>
                      </a:r>
                      <a:endParaRPr lang="zh-TW" altLang="en-US" sz="1050" b="0" i="0" u="none" strike="noStrike" dirty="0">
                        <a:solidFill>
                          <a:srgbClr val="000000"/>
                        </a:solidFill>
                        <a:latin typeface="Microsoft JhengHei UI" pitchFamily="34" charset="-120"/>
                        <a:ea typeface="Microsoft JhengHei UI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10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①深入瞭解行業趨勢，掌握前沿知識和方法，業界成功經驗和最佳實踐案例</a:t>
                      </a:r>
                      <a:endParaRPr lang="zh-TW" altLang="en-US" sz="1100" b="0" i="0" u="none" strike="noStrike" dirty="0" smtClean="0">
                        <a:solidFill>
                          <a:srgbClr val="000000"/>
                        </a:solidFill>
                        <a:latin typeface="Microsoft JhengHei UI" pitchFamily="34" charset="-120"/>
                        <a:ea typeface="Microsoft JhengHei UI" pitchFamily="34" charset="-120"/>
                      </a:endParaRPr>
                    </a:p>
                    <a:p>
                      <a:pPr algn="l" fontAlgn="ctr"/>
                      <a:r>
                        <a:rPr lang="zh-TW" altLang="en-US" sz="110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②結合業務實際成功導入有價值的技術，并在組織內部推廣適用</a:t>
                      </a:r>
                      <a:endParaRPr lang="zh-TW" altLang="en-US" sz="1100" b="0" i="0" u="none" strike="noStrike" dirty="0" smtClean="0">
                        <a:solidFill>
                          <a:srgbClr val="000000"/>
                        </a:solidFill>
                        <a:latin typeface="Microsoft JhengHei UI" pitchFamily="34" charset="-120"/>
                        <a:ea typeface="Microsoft JhengHei UI" pitchFamily="34" charset="-120"/>
                      </a:endParaRPr>
                    </a:p>
                    <a:p>
                      <a:pPr algn="l" fontAlgn="ctr"/>
                      <a:r>
                        <a:rPr lang="zh-TW" altLang="en-US" sz="110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③導入新方法和新技術，能產生實際效益，並進行優化升級，形成系統體系</a:t>
                      </a:r>
                      <a:endParaRPr lang="zh-TW" altLang="en-US" sz="1100" b="0" i="0" u="none" strike="noStrike" dirty="0">
                        <a:solidFill>
                          <a:srgbClr val="000000"/>
                        </a:solidFill>
                        <a:latin typeface="Microsoft JhengHei UI" pitchFamily="34" charset="-120"/>
                        <a:ea typeface="Microsoft JhengHei UI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5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B</a:t>
                      </a:r>
                      <a:endParaRPr lang="zh-TW" altLang="en-US" sz="1050" b="0" i="0" u="none" strike="noStrike" dirty="0">
                        <a:solidFill>
                          <a:srgbClr val="000000"/>
                        </a:solidFill>
                        <a:latin typeface="Microsoft JhengHei UI" pitchFamily="34" charset="-120"/>
                        <a:ea typeface="Microsoft JhengHei UI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B</a:t>
                      </a:r>
                      <a:endParaRPr lang="zh-TW" altLang="en-US" sz="1050" b="0" i="0" u="none" strike="noStrike" dirty="0">
                        <a:solidFill>
                          <a:srgbClr val="000000"/>
                        </a:solidFill>
                        <a:latin typeface="Microsoft JhengHei UI" pitchFamily="34" charset="-120"/>
                        <a:ea typeface="Microsoft JhengHei UI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130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5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專案管理</a:t>
                      </a:r>
                      <a:endParaRPr lang="zh-TW" altLang="en-US" sz="1050" b="0" i="0" u="none" strike="noStrike" dirty="0">
                        <a:solidFill>
                          <a:srgbClr val="000000"/>
                        </a:solidFill>
                        <a:latin typeface="Microsoft JhengHei UI" pitchFamily="34" charset="-120"/>
                        <a:ea typeface="Microsoft JhengHei UI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10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①專案资源配置與運用：有效控制專案成本，利用最少的成本實現最大效益</a:t>
                      </a:r>
                      <a:endParaRPr lang="zh-TW" altLang="en-US" sz="1100" b="0" i="0" u="none" strike="noStrike" dirty="0" smtClean="0">
                        <a:solidFill>
                          <a:srgbClr val="000000"/>
                        </a:solidFill>
                        <a:latin typeface="Microsoft JhengHei UI" pitchFamily="34" charset="-120"/>
                        <a:ea typeface="Microsoft JhengHei UI" pitchFamily="34" charset="-120"/>
                      </a:endParaRPr>
                    </a:p>
                    <a:p>
                      <a:pPr algn="l" fontAlgn="ctr"/>
                      <a:r>
                        <a:rPr lang="zh-TW" altLang="en-US" sz="110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②專案時程掌控：進行有效合理分解及優先級排序，確保專案按期交付</a:t>
                      </a:r>
                      <a:endParaRPr lang="zh-TW" altLang="en-US" sz="1100" b="0" i="0" u="none" strike="noStrike" dirty="0" smtClean="0">
                        <a:solidFill>
                          <a:srgbClr val="000000"/>
                        </a:solidFill>
                        <a:latin typeface="Microsoft JhengHei UI" pitchFamily="34" charset="-120"/>
                        <a:ea typeface="Microsoft JhengHei UI" pitchFamily="34" charset="-120"/>
                      </a:endParaRPr>
                    </a:p>
                    <a:p>
                      <a:pPr algn="l" fontAlgn="ctr"/>
                      <a:r>
                        <a:rPr lang="zh-TW" altLang="en-US" sz="110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③專案風險評估：能有針對性的制定風險應對措施，有效控制風險</a:t>
                      </a:r>
                      <a:endParaRPr lang="zh-TW" altLang="en-US" sz="1100" b="0" i="0" u="none" strike="noStrike" dirty="0" smtClean="0">
                        <a:solidFill>
                          <a:srgbClr val="000000"/>
                        </a:solidFill>
                        <a:latin typeface="Microsoft JhengHei UI" pitchFamily="34" charset="-120"/>
                        <a:ea typeface="Microsoft JhengHei UI" pitchFamily="34" charset="-120"/>
                      </a:endParaRPr>
                    </a:p>
                    <a:p>
                      <a:pPr algn="l" fontAlgn="ctr"/>
                      <a:r>
                        <a:rPr lang="zh-TW" altLang="en-US" sz="110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④專案質量管控：确保專案成果達到用戶所期望的質量要求</a:t>
                      </a:r>
                      <a:endParaRPr lang="zh-TW" altLang="en-US" sz="1100" b="0" i="0" u="none" strike="noStrike" dirty="0">
                        <a:solidFill>
                          <a:srgbClr val="000000"/>
                        </a:solidFill>
                        <a:latin typeface="Microsoft JhengHei UI" pitchFamily="34" charset="-120"/>
                        <a:ea typeface="Microsoft JhengHei UI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C</a:t>
                      </a:r>
                      <a:endParaRPr lang="zh-TW" altLang="en-US" sz="1050" b="0" i="0" u="none" strike="noStrike" dirty="0">
                        <a:solidFill>
                          <a:srgbClr val="000000"/>
                        </a:solidFill>
                        <a:latin typeface="Microsoft JhengHei UI" pitchFamily="34" charset="-120"/>
                        <a:ea typeface="Microsoft JhengHei UI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B</a:t>
                      </a:r>
                      <a:endParaRPr lang="zh-TW" altLang="en-US" sz="1050" b="0" i="0" u="none" strike="noStrike" dirty="0">
                        <a:solidFill>
                          <a:srgbClr val="000000"/>
                        </a:solidFill>
                        <a:latin typeface="Microsoft JhengHei UI" pitchFamily="34" charset="-120"/>
                        <a:ea typeface="Microsoft JhengHei UI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4373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5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人才培育</a:t>
                      </a:r>
                      <a:endParaRPr lang="zh-TW" altLang="en-US" sz="1050" b="0" i="0" u="none" strike="noStrike" dirty="0">
                        <a:solidFill>
                          <a:srgbClr val="000000"/>
                        </a:solidFill>
                        <a:latin typeface="Microsoft JhengHei UI" pitchFamily="34" charset="-120"/>
                        <a:ea typeface="Microsoft JhengHei UI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10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①能結合員工績效、技術能力特點，制定針對性的培養計劃幷指導實施</a:t>
                      </a:r>
                      <a:endParaRPr lang="zh-TW" altLang="en-US" sz="1100" b="0" i="0" u="none" strike="noStrike" dirty="0" smtClean="0">
                        <a:solidFill>
                          <a:srgbClr val="000000"/>
                        </a:solidFill>
                        <a:latin typeface="Microsoft JhengHei UI" pitchFamily="34" charset="-120"/>
                        <a:ea typeface="Microsoft JhengHei UI" pitchFamily="34" charset="-120"/>
                      </a:endParaRPr>
                    </a:p>
                    <a:p>
                      <a:pPr algn="l" fontAlgn="ctr"/>
                      <a:r>
                        <a:rPr lang="zh-TW" altLang="en-US" sz="110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②履行導師職責，做好團隊教練，及時輔導，合理授權</a:t>
                      </a:r>
                      <a:endParaRPr lang="zh-TW" altLang="en-US" sz="1100" b="0" i="0" u="none" strike="noStrike" dirty="0" smtClean="0">
                        <a:solidFill>
                          <a:srgbClr val="000000"/>
                        </a:solidFill>
                        <a:latin typeface="Microsoft JhengHei UI" pitchFamily="34" charset="-120"/>
                        <a:ea typeface="Microsoft JhengHei UI" pitchFamily="34" charset="-120"/>
                      </a:endParaRPr>
                    </a:p>
                    <a:p>
                      <a:pPr algn="l" fontAlgn="ctr"/>
                      <a:r>
                        <a:rPr lang="zh-TW" altLang="en-US" sz="110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③人才培育養成輸出，爲組織做出貢獻</a:t>
                      </a:r>
                      <a:endParaRPr lang="zh-TW" altLang="en-US" sz="1100" b="0" i="0" u="none" strike="noStrike" dirty="0">
                        <a:solidFill>
                          <a:srgbClr val="000000"/>
                        </a:solidFill>
                        <a:latin typeface="Microsoft JhengHei UI" pitchFamily="34" charset="-120"/>
                        <a:ea typeface="Microsoft JhengHei UI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5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/</a:t>
                      </a:r>
                      <a:endParaRPr lang="zh-TW" altLang="en-US" sz="1050" b="0" i="0" u="none" strike="noStrike" dirty="0">
                        <a:solidFill>
                          <a:srgbClr val="000000"/>
                        </a:solidFill>
                        <a:latin typeface="Microsoft JhengHei UI" pitchFamily="34" charset="-120"/>
                        <a:ea typeface="Microsoft JhengHei UI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5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C</a:t>
                      </a:r>
                      <a:endParaRPr lang="zh-TW" altLang="en-US" sz="1050" b="0" i="0" u="none" strike="noStrike" dirty="0" smtClean="0">
                        <a:solidFill>
                          <a:srgbClr val="000000"/>
                        </a:solidFill>
                        <a:latin typeface="Microsoft JhengHei UI" pitchFamily="34" charset="-120"/>
                        <a:ea typeface="Microsoft JhengHei UI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6766">
                <a:tc gridSpan="4"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程度說明</a:t>
                      </a:r>
                      <a:r>
                        <a:rPr lang="zh-TW" altLang="en-US" sz="105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：</a:t>
                      </a:r>
                      <a:br>
                        <a:rPr lang="zh-TW" altLang="en-US" sz="1050" b="0" i="0" u="none" strike="noStrike" dirty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</a:br>
                      <a:r>
                        <a:rPr lang="en-US" altLang="zh-TW" sz="105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【A】</a:t>
                      </a:r>
                      <a:r>
                        <a:rPr lang="zh-TW" altLang="en-US" sz="105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水平高，完全可以成爲他人學習的楷模 </a:t>
                      </a:r>
                      <a:endParaRPr lang="zh-TW" altLang="en-US" sz="1050" b="0" i="0" u="none" strike="noStrike" dirty="0" smtClean="0">
                        <a:solidFill>
                          <a:srgbClr val="000000"/>
                        </a:solidFill>
                        <a:latin typeface="Microsoft JhengHei UI" pitchFamily="34" charset="-120"/>
                        <a:ea typeface="Microsoft JhengHei UI" pitchFamily="34" charset="-120"/>
                      </a:endParaRPr>
                    </a:p>
                    <a:p>
                      <a:pPr algn="l" fontAlgn="ctr"/>
                      <a:r>
                        <a:rPr lang="en-US" altLang="zh-TW" sz="105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【B】</a:t>
                      </a:r>
                      <a:r>
                        <a:rPr lang="zh-TW" altLang="en-US" sz="105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能夠熟練和持續的展現狀態，已具備成功經驗和方法</a:t>
                      </a:r>
                      <a:endParaRPr lang="en-US" altLang="zh-TW" sz="1050" b="0" i="0" u="none" strike="noStrike" dirty="0" smtClean="0">
                        <a:solidFill>
                          <a:srgbClr val="000000"/>
                        </a:solidFill>
                        <a:latin typeface="Microsoft JhengHei UI" pitchFamily="34" charset="-120"/>
                        <a:ea typeface="Microsoft JhengHei UI" pitchFamily="34" charset="-120"/>
                      </a:endParaRPr>
                    </a:p>
                    <a:p>
                      <a:pPr algn="l" fontAlgn="ctr"/>
                      <a:r>
                        <a:rPr lang="en-US" altLang="zh-TW" sz="105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【C】</a:t>
                      </a:r>
                      <a:r>
                        <a:rPr lang="zh-TW" altLang="en-US" sz="105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能展現出基本的狀態和意識，掌握一定的基本方法</a:t>
                      </a:r>
                      <a:endParaRPr lang="zh-TW" altLang="en-US" sz="1050" b="0" i="0" u="none" strike="noStrike" dirty="0">
                        <a:solidFill>
                          <a:srgbClr val="000000"/>
                        </a:solidFill>
                        <a:latin typeface="Microsoft JhengHei UI" pitchFamily="34" charset="-120"/>
                        <a:ea typeface="Microsoft JhengHei UI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031363" y="1463314"/>
          <a:ext cx="10129520" cy="4232910"/>
        </p:xfrm>
        <a:graphic>
          <a:graphicData uri="http://schemas.openxmlformats.org/drawingml/2006/table">
            <a:tbl>
              <a:tblPr/>
              <a:tblGrid>
                <a:gridCol w="872841"/>
                <a:gridCol w="937497"/>
                <a:gridCol w="2025574"/>
                <a:gridCol w="786917"/>
                <a:gridCol w="883617"/>
                <a:gridCol w="224790"/>
                <a:gridCol w="1650204"/>
                <a:gridCol w="872841"/>
                <a:gridCol w="1874994"/>
              </a:tblGrid>
              <a:tr h="423378">
                <a:tc gridSpan="9">
                  <a:txBody>
                    <a:bodyPr/>
                    <a:lstStyle/>
                    <a:p>
                      <a:pPr algn="l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基本信息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423378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姓名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TW" altLang="zh-CN" sz="1200" b="0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張豪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年齡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31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i="0" u="none" strike="noStrike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資位</a:t>
                      </a:r>
                      <a:endParaRPr lang="zh-CN" altLang="en-US" sz="1200" b="1" i="0" u="none" strike="noStrike" dirty="0" smtClean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zh-CN" sz="1200" b="0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師</a:t>
                      </a: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3378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學歷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TW" altLang="zh-CN" sz="1200" b="0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本科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畢業學校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TW" altLang="zh-CN" sz="1200" b="0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山西大同大學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專業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zh-CN" sz="1200" b="0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計算機科學與技術</a:t>
                      </a:r>
                      <a:endParaRPr lang="zh-TW" altLang="zh-CN" sz="1200" b="0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3378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現部門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TW" altLang="zh-CN" sz="1200" b="0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精益管理系統開發中心園區管理系統開發部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申報職級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2-1</a:t>
                      </a: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研發工程師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i="0" u="none" strike="noStrike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集團年資</a:t>
                      </a:r>
                      <a:endParaRPr lang="zh-CN" altLang="en-US" sz="1200" b="1" i="0" u="none" strike="noStrike" dirty="0" smtClean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2.58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3378">
                <a:tc gridSpan="9">
                  <a:txBody>
                    <a:bodyPr/>
                    <a:lstStyle/>
                    <a:p>
                      <a:pPr algn="l" fontAlgn="ctr"/>
                      <a:r>
                        <a:rPr lang="zh-CN" altLang="en-US" sz="1200" b="1" i="0" u="none" strike="noStrike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工作履歷（從集團外經歷起，倒序填寫）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42291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起止時間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任職單位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崗位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工作執掌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</a:tr>
              <a:tr h="42291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2018/12/19-</a:t>
                      </a:r>
                      <a:r>
                        <a:rPr lang="zh-TW" altLang="en-US" sz="1300" b="0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至今</a:t>
                      </a:r>
                      <a:endParaRPr lang="zh-TW" altLang="en-US" sz="1300" b="0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zh-CN" sz="1300" b="0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中原資訊總處</a:t>
                      </a:r>
                      <a:endParaRPr lang="zh-TW" altLang="zh-CN" sz="1300" b="0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TW" altLang="en-US" sz="1300" b="0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移動開發工程師</a:t>
                      </a:r>
                      <a:endParaRPr lang="zh-TW" altLang="en-US" sz="1300" b="0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altLang="zh-TW" sz="1400"/>
                        <a:t>iOS App</a:t>
                      </a:r>
                      <a:r>
                        <a:rPr lang="zh-TW" altLang="en-US" sz="1400"/>
                        <a:t>開發、</a:t>
                      </a:r>
                      <a:r>
                        <a:rPr lang="en-US" altLang="zh-TW" sz="1400"/>
                        <a:t>Java </a:t>
                      </a:r>
                      <a:r>
                        <a:rPr lang="zh-TW" altLang="en-US" sz="1400"/>
                        <a:t>系統功能開發及運維</a:t>
                      </a:r>
                      <a:endParaRPr lang="zh-TW" altLang="en-US" sz="1400"/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</a:tr>
              <a:tr h="42354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2015/9/17</a:t>
                      </a:r>
                      <a:r>
                        <a:rPr lang="zh-TW" altLang="en-US" sz="1300" b="0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PMingLiU" charset="0"/>
                        </a:rPr>
                        <a:t>～</a:t>
                      </a:r>
                      <a:r>
                        <a:rPr lang="en-US" altLang="zh-TW" sz="1300" b="0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PMingLiU" charset="0"/>
                        </a:rPr>
                        <a:t>2018/11/30</a:t>
                      </a:r>
                      <a:endParaRPr lang="en-US" altLang="zh-TW" sz="1300" b="0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PMingLiU" charset="0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zh-CN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北京鳳凰学易科技有限公司</a:t>
                      </a:r>
                      <a:endParaRPr lang="zh-TW" altLang="zh-CN" sz="1300" b="0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iOS </a:t>
                      </a:r>
                      <a:r>
                        <a:rPr lang="zh-TW" altLang="en-US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開發工程師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r>
                        <a:rPr lang="zh-TW" altLang="en-US" sz="1400">
                          <a:sym typeface="+mn-ea"/>
                        </a:rPr>
                        <a:t>学易學堂、学易提分系統、高考必備</a:t>
                      </a:r>
                      <a:r>
                        <a:rPr lang="en-US" altLang="zh-TW" sz="1400">
                          <a:sym typeface="+mn-ea"/>
                        </a:rPr>
                        <a:t>App iOS </a:t>
                      </a:r>
                      <a:r>
                        <a:rPr lang="zh-TW" altLang="en-US" sz="1400">
                          <a:sym typeface="+mn-ea"/>
                        </a:rPr>
                        <a:t>版本開發</a:t>
                      </a:r>
                      <a:endParaRPr lang="en-US" altLang="zh-TW" sz="1400" dirty="0"/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</a:tr>
              <a:tr h="423378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2015/2/9</a:t>
                      </a:r>
                      <a:r>
                        <a:rPr lang="zh-TW" altLang="en-US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PMingLiU" charset="0"/>
                          <a:sym typeface="+mn-ea"/>
                        </a:rPr>
                        <a:t>～</a:t>
                      </a:r>
                      <a:r>
                        <a:rPr lang="en-US" altLang="zh-TW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PMingLiU" charset="0"/>
                          <a:sym typeface="+mn-ea"/>
                        </a:rPr>
                        <a:t>2015/9/9</a:t>
                      </a:r>
                      <a:endParaRPr lang="en-US" altLang="zh-TW" sz="1300" b="0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PMingLiU" charset="0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zh-CN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上海吟隆信息科技有限公司</a:t>
                      </a:r>
                      <a:endParaRPr lang="zh-TW" altLang="zh-CN" sz="1300" b="0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iOS </a:t>
                      </a:r>
                      <a:r>
                        <a:rPr lang="zh-TW" altLang="en-US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開發工程師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r>
                        <a:rPr lang="zh-TW" altLang="en-US" sz="1400" dirty="0">
                          <a:sym typeface="+mn-ea"/>
                        </a:rPr>
                        <a:t>音樂雷達 </a:t>
                      </a:r>
                      <a:r>
                        <a:rPr lang="en-US" altLang="zh-TW" sz="1400" dirty="0">
                          <a:sym typeface="+mn-ea"/>
                        </a:rPr>
                        <a:t>App</a:t>
                      </a:r>
                      <a:r>
                        <a:rPr lang="en-US" altLang="zh-TW" sz="1400">
                          <a:sym typeface="+mn-ea"/>
                        </a:rPr>
                        <a:t> iOS </a:t>
                      </a:r>
                      <a:r>
                        <a:rPr lang="zh-TW" altLang="en-US" sz="1400">
                          <a:sym typeface="+mn-ea"/>
                        </a:rPr>
                        <a:t>版本開發</a:t>
                      </a:r>
                      <a:endParaRPr lang="zh-TW" altLang="en-US" sz="1400" dirty="0"/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</a:tr>
              <a:tr h="423378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2013/4/7</a:t>
                      </a:r>
                      <a:r>
                        <a:rPr lang="zh-TW" altLang="en-US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PMingLiU" charset="0"/>
                          <a:sym typeface="+mn-ea"/>
                        </a:rPr>
                        <a:t>～</a:t>
                      </a:r>
                      <a:r>
                        <a:rPr lang="en-US" altLang="zh-TW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PMingLiU" charset="0"/>
                          <a:sym typeface="+mn-ea"/>
                        </a:rPr>
                        <a:t>2015/2/6</a:t>
                      </a:r>
                      <a:endParaRPr lang="en-US" altLang="zh-CN" sz="1300" b="0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太原優聯科技有限公司</a:t>
                      </a:r>
                      <a:endParaRPr lang="zh-TW" altLang="en-US" sz="13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iOS </a:t>
                      </a:r>
                      <a:r>
                        <a:rPr lang="zh-TW" altLang="en-US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開發工程師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r>
                        <a:rPr lang="zh-TW" altLang="en-US" sz="1400" dirty="0">
                          <a:sym typeface="+mn-ea"/>
                        </a:rPr>
                        <a:t>山西移動</a:t>
                      </a:r>
                      <a:r>
                        <a:rPr lang="en-US" altLang="zh-TW" sz="1400" dirty="0">
                          <a:sym typeface="+mn-ea"/>
                        </a:rPr>
                        <a:t>OA</a:t>
                      </a:r>
                      <a:r>
                        <a:rPr lang="zh-TW" altLang="en-US" sz="1400" dirty="0">
                          <a:sym typeface="+mn-ea"/>
                        </a:rPr>
                        <a:t>、陽煤在線學習</a:t>
                      </a:r>
                      <a:r>
                        <a:rPr lang="en-US" altLang="zh-TW" sz="1400" dirty="0">
                          <a:sym typeface="+mn-ea"/>
                        </a:rPr>
                        <a:t>App iOS</a:t>
                      </a:r>
                      <a:r>
                        <a:rPr lang="zh-TW" altLang="en-US" sz="1400" dirty="0">
                          <a:sym typeface="+mn-ea"/>
                        </a:rPr>
                        <a:t>版本開發</a:t>
                      </a:r>
                      <a:endParaRPr lang="zh-TW" altLang="en-US" sz="1400">
                        <a:sym typeface="+mn-ea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6173" y="685569"/>
            <a:ext cx="1981063" cy="374706"/>
          </a:xfrm>
          <a:prstGeom prst="rect">
            <a:avLst/>
          </a:prstGeom>
          <a:noFill/>
        </p:spPr>
        <p:txBody>
          <a:bodyPr wrap="square" lIns="96762" tIns="48381" rIns="96762" bIns="48381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基础信息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6173" y="765752"/>
            <a:ext cx="2590621" cy="55937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lIns="96762" tIns="48381" rIns="96762" bIns="48381" rtlCol="0">
            <a:spAutoFit/>
          </a:bodyPr>
          <a:lstStyle/>
          <a:p>
            <a:pPr algn="ctr"/>
            <a:r>
              <a:rPr lang="zh-CN" altLang="en-US" sz="3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技能水平</a:t>
            </a:r>
            <a:endParaRPr lang="zh-CN" altLang="en-US" sz="3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6435" y="1785620"/>
            <a:ext cx="1045273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 </a:t>
            </a:r>
            <a:r>
              <a:rPr lang="zh-TW" altLang="en-US"/>
              <a:t>熟練使用 </a:t>
            </a:r>
            <a:r>
              <a:rPr lang="en-US" altLang="zh-TW"/>
              <a:t>iOS </a:t>
            </a:r>
            <a:r>
              <a:rPr lang="zh-TW" altLang="en-US"/>
              <a:t>系統提供的 </a:t>
            </a:r>
            <a:r>
              <a:rPr lang="en-US" altLang="zh-TW"/>
              <a:t>Foundation</a:t>
            </a:r>
            <a:r>
              <a:rPr lang="zh-TW" altLang="en-US"/>
              <a:t>、</a:t>
            </a:r>
            <a:r>
              <a:rPr lang="en-US" altLang="zh-TW"/>
              <a:t>UIKit </a:t>
            </a:r>
            <a:r>
              <a:rPr lang="zh-TW" altLang="en-US"/>
              <a:t>框架及常有的第三方框架 </a:t>
            </a:r>
            <a:r>
              <a:rPr lang="en-US" altLang="zh-TW"/>
              <a:t>AFNetworking</a:t>
            </a:r>
            <a:r>
              <a:rPr lang="zh-TW" altLang="en-US"/>
              <a:t>、</a:t>
            </a:r>
            <a:r>
              <a:rPr lang="en-US" altLang="zh-TW"/>
              <a:t>SDWebImage</a:t>
            </a:r>
            <a:r>
              <a:rPr lang="zh-TW" altLang="en-US"/>
              <a:t>、</a:t>
            </a:r>
            <a:r>
              <a:rPr lang="en-US" altLang="zh-TW"/>
              <a:t>Masonry </a:t>
            </a:r>
            <a:r>
              <a:rPr lang="zh-TW" altLang="en-US"/>
              <a:t>等框架。熟悉 </a:t>
            </a:r>
            <a:r>
              <a:rPr lang="en-US" altLang="zh-TW"/>
              <a:t>iOS App UI</a:t>
            </a:r>
            <a:r>
              <a:rPr lang="zh-TW" altLang="en-US"/>
              <a:t>佈局方式及發展歷程。</a:t>
            </a:r>
            <a:endParaRPr lang="zh-TW" altLang="en-US"/>
          </a:p>
          <a:p>
            <a:endParaRPr lang="zh-TW" altLang="en-US"/>
          </a:p>
          <a:p>
            <a:r>
              <a:rPr lang="en-US" altLang="zh-TW"/>
              <a:t>2. </a:t>
            </a:r>
            <a:r>
              <a:rPr lang="zh-TW" altLang="en-US"/>
              <a:t>熟悉 </a:t>
            </a:r>
            <a:r>
              <a:rPr lang="en-US" altLang="zh-TW"/>
              <a:t>iOS </a:t>
            </a:r>
            <a:r>
              <a:rPr lang="zh-TW" altLang="en-US"/>
              <a:t>中的音</a:t>
            </a:r>
            <a:r>
              <a:rPr lang="en-US" altLang="zh-TW"/>
              <a:t>/</a:t>
            </a:r>
            <a:r>
              <a:rPr lang="zh-TW" altLang="en-US"/>
              <a:t>視頻播放技術，使用 </a:t>
            </a:r>
            <a:r>
              <a:rPr lang="en-US" altLang="zh-TW"/>
              <a:t>FFmpeg </a:t>
            </a:r>
            <a:r>
              <a:rPr lang="zh-TW" altLang="en-US"/>
              <a:t>開發過視頻格式轉換功能。</a:t>
            </a:r>
            <a:endParaRPr lang="zh-TW" altLang="en-US"/>
          </a:p>
          <a:p>
            <a:endParaRPr lang="zh-TW" altLang="en-US"/>
          </a:p>
          <a:p>
            <a:r>
              <a:rPr lang="en-US" altLang="zh-TW"/>
              <a:t>3. </a:t>
            </a:r>
            <a:r>
              <a:rPr lang="zh-TW" altLang="en-US"/>
              <a:t>熟悉 </a:t>
            </a:r>
            <a:r>
              <a:rPr lang="en-US" altLang="zh-TW"/>
              <a:t>HTTP </a:t>
            </a:r>
            <a:r>
              <a:rPr lang="zh-TW" altLang="en-US"/>
              <a:t>協議中常用方法、常見請求頭、響應頭及 </a:t>
            </a:r>
            <a:r>
              <a:rPr lang="en-US" altLang="zh-TW"/>
              <a:t>HTTP </a:t>
            </a:r>
            <a:r>
              <a:rPr lang="zh-TW" altLang="en-US"/>
              <a:t>協議緩存。</a:t>
            </a:r>
            <a:endParaRPr lang="zh-TW" altLang="en-US"/>
          </a:p>
          <a:p>
            <a:endParaRPr lang="zh-TW" altLang="en-US"/>
          </a:p>
          <a:p>
            <a:r>
              <a:rPr lang="en-US" altLang="zh-TW"/>
              <a:t>4. </a:t>
            </a:r>
            <a:r>
              <a:rPr lang="zh-TW" altLang="en-US"/>
              <a:t>熟悉基本的 </a:t>
            </a:r>
            <a:r>
              <a:rPr lang="en-US" altLang="zh-TW"/>
              <a:t>Git </a:t>
            </a:r>
            <a:r>
              <a:rPr lang="zh-TW" altLang="en-US"/>
              <a:t>操作及 </a:t>
            </a:r>
            <a:r>
              <a:rPr lang="en-US" altLang="zh-TW"/>
              <a:t>Git Flow</a:t>
            </a:r>
            <a:r>
              <a:rPr lang="zh-TW" altLang="en-US"/>
              <a:t>、</a:t>
            </a:r>
            <a:r>
              <a:rPr lang="en-US" altLang="zh-TW"/>
              <a:t>GitHub Flow</a:t>
            </a:r>
            <a:r>
              <a:rPr lang="zh-TW" altLang="en-US"/>
              <a:t>。</a:t>
            </a:r>
            <a:endParaRPr lang="zh-TW" altLang="en-US"/>
          </a:p>
          <a:p>
            <a:endParaRPr lang="zh-TW" altLang="en-US"/>
          </a:p>
          <a:p>
            <a:r>
              <a:rPr lang="en-US" altLang="zh-TW"/>
              <a:t>5. </a:t>
            </a:r>
            <a:r>
              <a:rPr lang="zh-TW" altLang="en-US"/>
              <a:t>熟悉常用 </a:t>
            </a:r>
            <a:r>
              <a:rPr lang="en-US" altLang="zh-TW"/>
              <a:t>Shell </a:t>
            </a:r>
            <a:r>
              <a:rPr lang="zh-TW" altLang="en-US"/>
              <a:t>命令，喜歡編寫 </a:t>
            </a:r>
            <a:r>
              <a:rPr lang="en-US" altLang="zh-TW"/>
              <a:t>Shell </a:t>
            </a:r>
            <a:r>
              <a:rPr lang="zh-TW" altLang="en-US"/>
              <a:t>腳本來輔助日常開發工作。</a:t>
            </a:r>
            <a:endParaRPr lang="zh-TW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728083" y="784763"/>
            <a:ext cx="2590621" cy="55937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lIns="96762" tIns="48381" rIns="96762" bIns="48381" rtlCol="0">
            <a:spAutoFit/>
          </a:bodyPr>
          <a:lstStyle/>
          <a:p>
            <a:pPr algn="ctr"/>
            <a:r>
              <a:rPr lang="zh-CN" altLang="en-US" sz="3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新技術應用</a:t>
            </a:r>
            <a:endParaRPr lang="zh-CN" altLang="en-US" sz="3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28345" y="1750060"/>
            <a:ext cx="760539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 ora2pg </a:t>
            </a:r>
            <a:r>
              <a:rPr lang="zh-TW" altLang="en-US"/>
              <a:t>搭建，在部分 </a:t>
            </a:r>
            <a:r>
              <a:rPr lang="en-US" altLang="zh-TW"/>
              <a:t>Oracle </a:t>
            </a:r>
            <a:r>
              <a:rPr lang="zh-TW" altLang="en-US"/>
              <a:t>轉 </a:t>
            </a:r>
            <a:r>
              <a:rPr lang="en-US" altLang="zh-TW"/>
              <a:t>Postgres </a:t>
            </a:r>
            <a:r>
              <a:rPr lang="zh-TW" altLang="en-US"/>
              <a:t>專案中遷移數據。</a:t>
            </a:r>
            <a:endParaRPr lang="zh-TW" altLang="en-US"/>
          </a:p>
          <a:p>
            <a:endParaRPr lang="en-US" altLang="zh-CN"/>
          </a:p>
          <a:p>
            <a:r>
              <a:rPr lang="en-US" altLang="zh-CN"/>
              <a:t>2. CAA </a:t>
            </a:r>
            <a:r>
              <a:rPr lang="zh-TW" altLang="en-US"/>
              <a:t>門禁管理平台卡機在線狀態</a:t>
            </a:r>
            <a:r>
              <a:rPr lang="en-US" altLang="zh-TW"/>
              <a:t>API</a:t>
            </a:r>
            <a:r>
              <a:rPr lang="zh-TW" altLang="en-US"/>
              <a:t>，使用 </a:t>
            </a:r>
            <a:r>
              <a:rPr lang="en-US" altLang="zh-TW"/>
              <a:t>Go </a:t>
            </a:r>
            <a:r>
              <a:rPr lang="zh-TW" altLang="en-US"/>
              <a:t>語言開發，使用了 </a:t>
            </a:r>
            <a:r>
              <a:rPr lang="en-US" altLang="zh-TW"/>
              <a:t>Gin</a:t>
            </a:r>
            <a:r>
              <a:rPr lang="zh-TW" altLang="en-US"/>
              <a:t>、</a:t>
            </a:r>
            <a:r>
              <a:rPr lang="en-US" altLang="zh-TW"/>
              <a:t>GORM</a:t>
            </a:r>
            <a:r>
              <a:rPr lang="zh-TW" altLang="en-US"/>
              <a:t>、</a:t>
            </a:r>
            <a:r>
              <a:rPr lang="en-US" altLang="zh-TW"/>
              <a:t>gedis</a:t>
            </a:r>
            <a:r>
              <a:rPr lang="zh-TW" altLang="en-US"/>
              <a:t>等框架。</a:t>
            </a:r>
            <a:endParaRPr lang="zh-TW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734428" y="693997"/>
            <a:ext cx="2590621" cy="55937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lIns="96762" tIns="48381" rIns="96762" bIns="48381" rtlCol="0">
            <a:spAutoFit/>
          </a:bodyPr>
          <a:lstStyle/>
          <a:p>
            <a:pPr algn="ctr"/>
            <a:r>
              <a:rPr lang="zh-CN" altLang="en-US" sz="3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專案管理</a:t>
            </a:r>
            <a:endParaRPr lang="zh-CN" altLang="en-US" sz="3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762368" y="707967"/>
            <a:ext cx="2590621" cy="55937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lIns="96762" tIns="48381" rIns="96762" bIns="48381" rtlCol="0">
            <a:spAutoFit/>
          </a:bodyPr>
          <a:lstStyle/>
          <a:p>
            <a:pPr algn="ctr"/>
            <a:r>
              <a:rPr lang="zh-CN" altLang="en-US" sz="3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人才培育</a:t>
            </a:r>
            <a:endParaRPr lang="zh-CN" altLang="en-US" sz="3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TABLE_BEAUTIFY" val="smartTable{34e14147-460d-4aa4-b07d-0228483648a5}"/>
</p:tagLst>
</file>

<file path=ppt/tags/tag2.xml><?xml version="1.0" encoding="utf-8"?>
<p:tagLst xmlns:p="http://schemas.openxmlformats.org/presentationml/2006/main">
  <p:tag name="KSO_WM_UNIT_TABLE_BEAUTIFY" val="smartTable{ead9fbf2-027a-419e-873a-8ff35b7004bf}"/>
</p:tagLst>
</file>

<file path=ppt/tags/tag3.xml><?xml version="1.0" encoding="utf-8"?>
<p:tagLst xmlns:p="http://schemas.openxmlformats.org/presentationml/2006/main">
  <p:tag name="KSO_WM_UNIT_TABLE_BEAUTIFY" val="smartTable{eedc54f5-1732-4d7f-b138-5bf2dcd09a77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2210</Words>
  <Application>WPS 演示</Application>
  <PresentationFormat>宽屏</PresentationFormat>
  <Paragraphs>285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4" baseType="lpstr">
      <vt:lpstr>Arial</vt:lpstr>
      <vt:lpstr>方正书宋_GBK</vt:lpstr>
      <vt:lpstr>Wingdings</vt:lpstr>
      <vt:lpstr>微软雅黑</vt:lpstr>
      <vt:lpstr>汉仪旗黑</vt:lpstr>
      <vt:lpstr>Microsoft JhengHei UI</vt:lpstr>
      <vt:lpstr>苹方-简</vt:lpstr>
      <vt:lpstr>PMingLiU</vt:lpstr>
      <vt:lpstr>宋体</vt:lpstr>
      <vt:lpstr>Arial Unicode MS</vt:lpstr>
      <vt:lpstr>汉仪书宋二KW</vt:lpstr>
      <vt:lpstr>Calibri Light</vt:lpstr>
      <vt:lpstr>Helvetica Neue</vt:lpstr>
      <vt:lpstr>Calibri</vt:lpstr>
      <vt:lpstr>宋体-繁</vt:lpstr>
      <vt:lpstr>PMingLiU</vt:lpstr>
      <vt:lpstr>PMingLiU</vt:lpstr>
      <vt:lpstr>Office 主题</vt:lpstr>
      <vt:lpstr>編寫說明：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智能製造系統平台中心</dc:title>
  <dc:creator>Windows 使用者</dc:creator>
  <cp:lastModifiedBy>zhanghao</cp:lastModifiedBy>
  <cp:revision>151</cp:revision>
  <cp:lastPrinted>2021-07-20T15:02:54Z</cp:lastPrinted>
  <dcterms:created xsi:type="dcterms:W3CDTF">2021-07-20T15:02:54Z</dcterms:created>
  <dcterms:modified xsi:type="dcterms:W3CDTF">2021-07-20T15:02:54Z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  <property fmtid="{D5CDD505-2E9C-101B-9397-08002B2CF9AE}" pid="8" name="KSOProductBuildVer">
    <vt:lpwstr>2052-3.0.0.4824</vt:lpwstr>
  </property>
</Properties>
</file>