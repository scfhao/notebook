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0" r:id="rId1"/>
  </p:sldMasterIdLst>
  <p:notesMasterIdLst>
    <p:notesMasterId r:id="rId8"/>
  </p:notesMasterIdLst>
  <p:handoutMasterIdLst>
    <p:handoutMasterId r:id="rId9"/>
  </p:handoutMasterIdLst>
  <p:sldIdLst>
    <p:sldId id="282" r:id="rId2"/>
    <p:sldId id="283" r:id="rId3"/>
    <p:sldId id="284" r:id="rId4"/>
    <p:sldId id="285" r:id="rId5"/>
    <p:sldId id="286" r:id="rId6"/>
    <p:sldId id="287" r:id="rId7"/>
  </p:sldIdLst>
  <p:sldSz cx="12192000" cy="6858000"/>
  <p:notesSz cx="6797675" cy="9926638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706" autoAdjust="0"/>
  </p:normalViewPr>
  <p:slideViewPr>
    <p:cSldViewPr snapToGrid="0">
      <p:cViewPr varScale="1">
        <p:scale>
          <a:sx n="116" d="100"/>
          <a:sy n="116" d="100"/>
        </p:scale>
        <p:origin x="384" y="12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176C01-2996-41EA-87C6-D94E8BA12DB2}" type="datetime2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rtl="0"/>
              <a:t>2021年7月6日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rtl="0"/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A50F75F-AD11-4973-BAED-59A0098129E9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3502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2869989-EB00-4EE7-BCB5-25BDC5BB29F8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zh-CN" smtClean="0"/>
              <a:pPr rtl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292E4-C117-4AE5-8BCA-334E149AE116}" type="datetimeFigureOut">
              <a:rPr lang="zh-TW" altLang="en-US" smtClean="0"/>
              <a:pPr/>
              <a:t>2021/7/6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grpSp>
        <p:nvGrpSpPr>
          <p:cNvPr id="7" name="组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58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6692-0600-494D-A58B-8346A1607219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  <a:pPr rt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465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292E4-C117-4AE5-8BCA-334E149AE116}" type="datetimeFigureOut">
              <a:rPr lang="zh-TW" altLang="en-US" smtClean="0"/>
              <a:pPr/>
              <a:t>2021/7/6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4DCD-E941-46B3-ADE3-0AFD533C6B2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pSp>
        <p:nvGrpSpPr>
          <p:cNvPr id="7" name="组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​​(S)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​​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​​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​​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04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DCFB-9841-4E8E-A26A-EE55E04AFFB4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  <a:pPr rt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963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997A-1EEE-4D88-AEC9-C83348780DB3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76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B8D67-B939-44AB-992D-F02AFF2C2399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noProof="0" smtClean="0"/>
              <a:pPr rtl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9615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8190-531B-41DD-AD7A-47EC2C22B86C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  <a:pPr rtl="0"/>
              <a:t>‹#›</a:t>
            </a:fld>
            <a:endParaRPr lang="zh-CN" altLang="en-US" dirty="0"/>
          </a:p>
        </p:txBody>
      </p:sp>
      <p:grpSp>
        <p:nvGrpSpPr>
          <p:cNvPr id="5" name="组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​​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​​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​​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​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​​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​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​​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​​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​​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" name="直接连接符​​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组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直接连接符​​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​​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直接连接符 4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" name="直接连接符​​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​​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组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5" name="直接连接符 3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​​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直接连接符​​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5824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238462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299358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EC09C-6658-4B3F-8DB1-134C6DD59176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noProof="0" smtClean="0"/>
              <a:pPr rtl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514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7309326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EE274-C014-4170-9D78-BB3EE034439F}" type="datetime2">
              <a:rPr lang="zh-CN" altLang="en-US" smtClean="0"/>
              <a:pPr/>
              <a:t>2021年7月6日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grpSp>
        <p:nvGrpSpPr>
          <p:cNvPr id="7" name="组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8" name="直接连接符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 57"/>
          <p:cNvCxnSpPr/>
          <p:nvPr userDrawn="1"/>
        </p:nvCxnSpPr>
        <p:spPr>
          <a:xfrm>
            <a:off x="609600" y="6172200"/>
            <a:ext cx="9434117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" y="0"/>
            <a:ext cx="2013167" cy="543847"/>
          </a:xfrm>
          <a:prstGeom prst="rect">
            <a:avLst/>
          </a:prstGeom>
        </p:spPr>
      </p:pic>
      <p:pic>
        <p:nvPicPr>
          <p:cNvPr id="60" name="Picture 7" descr="未命名 -2拷貝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279" y="5665419"/>
            <a:ext cx="1476375" cy="8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80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248" y="1041119"/>
            <a:ext cx="2135659" cy="65272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2000" b="1" dirty="0" smtClean="0">
                <a:latin typeface="Microsoft JhengHei UI" pitchFamily="34" charset="-120"/>
                <a:ea typeface="Microsoft JhengHei UI" pitchFamily="34" charset="-120"/>
                <a:sym typeface="Arial" panose="020B0604020202020204" pitchFamily="34" charset="0"/>
              </a:rPr>
              <a:t>編寫說明：</a:t>
            </a:r>
            <a:endParaRPr lang="zh-CN" altLang="en-US" sz="2000" b="1" dirty="0">
              <a:latin typeface="Microsoft JhengHei UI" pitchFamily="34" charset="-120"/>
              <a:ea typeface="Microsoft JhengHei UI" pitchFamily="34" charset="-120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231472"/>
              </p:ext>
            </p:extLst>
          </p:nvPr>
        </p:nvGraphicFramePr>
        <p:xfrm>
          <a:off x="1452948" y="1480742"/>
          <a:ext cx="9308757" cy="10058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353566"/>
                <a:gridCol w="7955191"/>
              </a:tblGrid>
              <a:tr h="7957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要求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依研發工程師能力要求，描述個人每個能力項的執行情況，并通過實際工作舉證個人達標情況，填寫要求：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1.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報告必須包括每個能力要素，不能有缺失，呈現形式不限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  <a:sym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2.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語言簡練，避免過多的文字描述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  <a:sym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3.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結構清晰，證據確著，以實例、數據等作為舉證材料</a:t>
                      </a:r>
                      <a:endParaRPr lang="en-US" altLang="zh-CN" sz="1200" dirty="0" smtClean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  <a:sym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4.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  <a:latin typeface="Microsoft JhengHei UI" pitchFamily="34" charset="-120"/>
                          <a:ea typeface="Microsoft JhengHei UI" pitchFamily="34" charset="-120"/>
                          <a:sym typeface="Arial" panose="020B0604020202020204" pitchFamily="34" charset="0"/>
                        </a:rPr>
                        <a:t>舉證材料可另外附件。</a:t>
                      </a:r>
                      <a:endParaRPr lang="zh-TW" altLang="en-US" sz="1200" dirty="0">
                        <a:solidFill>
                          <a:schemeClr val="bg1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标题 1"/>
          <p:cNvSpPr txBox="1">
            <a:spLocks/>
          </p:cNvSpPr>
          <p:nvPr/>
        </p:nvSpPr>
        <p:spPr>
          <a:xfrm>
            <a:off x="1846819" y="527222"/>
            <a:ext cx="7987613" cy="840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 smtClean="0">
                <a:solidFill>
                  <a:schemeClr val="accent5">
                    <a:lumMod val="75000"/>
                  </a:schemeClr>
                </a:solidFill>
                <a:latin typeface="Microsoft JhengHei UI" pitchFamily="34" charset="-120"/>
                <a:ea typeface="Microsoft JhengHei UI" pitchFamily="34" charset="-120"/>
                <a:sym typeface="Arial" panose="020B0604020202020204" pitchFamily="34" charset="0"/>
              </a:rPr>
              <a:t>中原資訊總處技術職認證答辯報告</a:t>
            </a:r>
            <a:endParaRPr lang="zh-CN" altLang="en-US" sz="3200" b="1" dirty="0">
              <a:solidFill>
                <a:schemeClr val="accent5">
                  <a:lumMod val="75000"/>
                </a:schemeClr>
              </a:solidFill>
              <a:latin typeface="Microsoft JhengHei UI" pitchFamily="34" charset="-120"/>
              <a:ea typeface="Microsoft JhengHei UI" pitchFamily="34" charset="-120"/>
              <a:sym typeface="Arial" panose="020B0604020202020204" pitchFamily="34" charset="0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195773" y="2546069"/>
            <a:ext cx="1356927" cy="4066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 UI" pitchFamily="34" charset="-120"/>
                <a:ea typeface="Microsoft JhengHei UI" pitchFamily="34" charset="-120"/>
                <a:cs typeface="+mj-cs"/>
                <a:sym typeface="Arial" panose="020B0604020202020204" pitchFamily="34" charset="0"/>
              </a:rPr>
              <a:t>能力要求：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JhengHei UI" pitchFamily="34" charset="-120"/>
              <a:ea typeface="Microsoft JhengHei UI" pitchFamily="34" charset="-120"/>
              <a:cs typeface="+mj-cs"/>
              <a:sym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80465"/>
              </p:ext>
            </p:extLst>
          </p:nvPr>
        </p:nvGraphicFramePr>
        <p:xfrm>
          <a:off x="2587626" y="2537884"/>
          <a:ext cx="7280274" cy="3475028"/>
        </p:xfrm>
        <a:graphic>
          <a:graphicData uri="http://schemas.openxmlformats.org/drawingml/2006/table">
            <a:tbl>
              <a:tblPr/>
              <a:tblGrid>
                <a:gridCol w="943740"/>
                <a:gridCol w="4841109"/>
                <a:gridCol w="762000"/>
                <a:gridCol w="733425"/>
              </a:tblGrid>
              <a:tr h="29727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能力項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能力描述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2-1</a:t>
                      </a:r>
                    </a:p>
                    <a:p>
                      <a:pPr algn="ctr" fontAlgn="ctr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研發工程師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2-2</a:t>
                      </a:r>
                    </a:p>
                    <a:p>
                      <a:pPr algn="ctr" fontAlgn="ctr"/>
                      <a:r>
                        <a:rPr lang="zh-CN" altLang="en-US" sz="1000" b="0" i="0" u="none" strike="noStrike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研發工程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師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58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技能水平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①熟悉所使用的主要技術，能够独立分析、快速排查和解決問題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②某一專業領域比較精通，具有一定權威，具备辅导他人的能力和技能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③主動學習新技能、新知識，充分了解業界某一領域的新技術動向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A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A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37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新技術應用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①深入瞭解行業趨勢，掌握前沿知識和方法，業界成功經驗和最佳實踐案例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②結合業務實際成功導入有價值的技術，并在組織內部推廣適用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③導入新方法和新技術，能產生實際效益，並進行優化升級，形成系統體系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B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B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3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專案管理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①專案资源配置與運用：有效控制專案成本，利用最少的成本實現最大效益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②專案時程掌控：進行有效合理分解及優先級排序，確保專案按期交付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③專案風險評估：能有針對性的制定風險應對措施，有效控制風險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④專案質量管控：确保專案成果達到用戶所期望的質量要求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C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B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373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人才培育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①能結合員工績效、技術能力特點，制定針對性的培養計劃幷指導實施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②履行導師職責，做好團隊教練，及時輔導，合理授權</a:t>
                      </a:r>
                    </a:p>
                    <a:p>
                      <a:pPr algn="l" fontAlgn="ctr"/>
                      <a:r>
                        <a:rPr lang="zh-TW" altLang="en-US" sz="110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③人才培育養成輸出，爲組織做出貢獻</a:t>
                      </a:r>
                      <a:endParaRPr lang="zh-TW" altLang="en-US" sz="110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/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C</a:t>
                      </a:r>
                      <a:endParaRPr lang="zh-TW" altLang="en-US" sz="105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6766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程度說明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：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/>
                      </a:r>
                      <a:b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</a:br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【A】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水平高，完全可以成爲他人學習的楷模 </a:t>
                      </a:r>
                    </a:p>
                    <a:p>
                      <a:pPr algn="l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【B】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能夠熟練和持續的展現狀態，已具備成功經驗和方法</a:t>
                      </a:r>
                      <a:endParaRPr lang="en-US" altLang="zh-TW" sz="1050" b="0" i="0" u="none" strike="noStrike" dirty="0" smtClean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  <a:p>
                      <a:pPr algn="l" fontAlgn="ctr"/>
                      <a:r>
                        <a:rPr lang="en-US" altLang="zh-TW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【C】</a:t>
                      </a:r>
                      <a:r>
                        <a:rPr lang="zh-TW" altLang="en-US" sz="1050" b="0" i="0" u="none" strike="noStrike" dirty="0" smtClean="0">
                          <a:solidFill>
                            <a:srgbClr val="000000"/>
                          </a:solidFill>
                          <a:latin typeface="Microsoft JhengHei UI" pitchFamily="34" charset="-120"/>
                          <a:ea typeface="Microsoft JhengHei UI" pitchFamily="34" charset="-120"/>
                        </a:rPr>
                        <a:t>能展現出基本的狀態和意識，掌握一定的基本方法</a:t>
                      </a:r>
                      <a:endParaRPr lang="zh-TW" altLang="en-US" sz="1050" b="0" i="0" u="none" strike="noStrike" dirty="0">
                        <a:solidFill>
                          <a:srgbClr val="000000"/>
                        </a:solidFill>
                        <a:latin typeface="Microsoft JhengHei UI" pitchFamily="34" charset="-120"/>
                        <a:ea typeface="Microsoft JhengHei UI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31363" y="1463314"/>
          <a:ext cx="10129275" cy="4233780"/>
        </p:xfrm>
        <a:graphic>
          <a:graphicData uri="http://schemas.openxmlformats.org/drawingml/2006/table">
            <a:tbl>
              <a:tblPr/>
              <a:tblGrid>
                <a:gridCol w="872841"/>
                <a:gridCol w="937497"/>
                <a:gridCol w="2025574"/>
                <a:gridCol w="786917"/>
                <a:gridCol w="883617"/>
                <a:gridCol w="224941"/>
                <a:gridCol w="1650053"/>
                <a:gridCol w="872841"/>
                <a:gridCol w="1874994"/>
              </a:tblGrid>
              <a:tr h="423378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基本信息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姓名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年齡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資位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學歷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畢業學校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專業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現部門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申報職級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集團年資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工作履歷（從集團外經歷起，倒序填寫）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起止時間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任職單位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崗位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工作執掌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6173" y="685569"/>
            <a:ext cx="1981063" cy="374706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基础信息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6173" y="685569"/>
            <a:ext cx="1981063" cy="374706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CN" altLang="en-US" b="1" dirty="0" smtClean="0">
                <a:latin typeface="Microsoft JhengHei UI" pitchFamily="34" charset="-120"/>
                <a:ea typeface="Microsoft JhengHei UI" pitchFamily="34" charset="-120"/>
              </a:rPr>
              <a:t>能力舉證</a:t>
            </a:r>
            <a:endParaRPr lang="zh-CN" altLang="en-US" b="1" dirty="0">
              <a:latin typeface="Microsoft JhengHei UI" pitchFamily="34" charset="-120"/>
              <a:ea typeface="Microsoft JhengHei UI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6173" y="1198733"/>
            <a:ext cx="10819653" cy="1021037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TW" altLang="en-US" sz="3000" dirty="0" smtClean="0">
                <a:latin typeface="微软雅黑" pitchFamily="34" charset="-122"/>
                <a:ea typeface="微软雅黑" pitchFamily="34" charset="-122"/>
              </a:rPr>
              <a:t>結合自身情况與實際開展工作，對能力項分別進行描述、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舉證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TW" altLang="en-US" sz="3000" b="1" dirty="0" smtClean="0">
                <a:latin typeface="微软雅黑" pitchFamily="34" charset="-122"/>
                <a:ea typeface="微软雅黑" pitchFamily="34" charset="-122"/>
              </a:rPr>
              <a:t>實際開展完成的工作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----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正式報告中此段文字刪除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6173" y="2265622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技能水平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6173" y="685569"/>
            <a:ext cx="1981063" cy="374706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CN" altLang="en-US" b="1" dirty="0" smtClean="0">
                <a:latin typeface="Microsoft JhengHei UI" pitchFamily="34" charset="-120"/>
                <a:ea typeface="Microsoft JhengHei UI" pitchFamily="34" charset="-120"/>
              </a:rPr>
              <a:t>能力舉證</a:t>
            </a:r>
            <a:endParaRPr lang="zh-CN" altLang="en-US" b="1" dirty="0">
              <a:latin typeface="Microsoft JhengHei UI" pitchFamily="34" charset="-120"/>
              <a:ea typeface="Microsoft JhengHei UI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6173" y="1198733"/>
            <a:ext cx="10819653" cy="1051814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TW" altLang="en-US" sz="3000" dirty="0" smtClean="0">
                <a:latin typeface="微软雅黑" pitchFamily="34" charset="-122"/>
                <a:ea typeface="微软雅黑" pitchFamily="34" charset="-122"/>
              </a:rPr>
              <a:t>結合自身情况與實際開展工作，對能力項分別進行描述、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舉證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TW" altLang="en-US" sz="3000" b="1" dirty="0" smtClean="0">
                <a:latin typeface="微软雅黑" pitchFamily="34" charset="-122"/>
                <a:ea typeface="微软雅黑" pitchFamily="34" charset="-122"/>
              </a:rPr>
              <a:t>實際開展完成的工作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----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正式報告中此段文字刪除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6173" y="2285903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新技術應用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6173" y="685569"/>
            <a:ext cx="1981063" cy="374706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CN" altLang="en-US" b="1" smtClean="0">
                <a:latin typeface="Microsoft JhengHei UI" pitchFamily="34" charset="-120"/>
                <a:ea typeface="Microsoft JhengHei UI" pitchFamily="34" charset="-120"/>
              </a:rPr>
              <a:t>能力舉證</a:t>
            </a:r>
            <a:endParaRPr lang="zh-CN" altLang="en-US" b="1" dirty="0">
              <a:latin typeface="Microsoft JhengHei UI" pitchFamily="34" charset="-120"/>
              <a:ea typeface="Microsoft JhengHei UI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6173" y="1198733"/>
            <a:ext cx="10819653" cy="1051814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TW" altLang="en-US" sz="3000" dirty="0" smtClean="0">
                <a:latin typeface="微软雅黑" pitchFamily="34" charset="-122"/>
                <a:ea typeface="微软雅黑" pitchFamily="34" charset="-122"/>
              </a:rPr>
              <a:t>結合自身情况與實際開展工作，對能力項分別進行描述、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舉證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TW" altLang="en-US" sz="3000" b="1" dirty="0" smtClean="0">
                <a:latin typeface="微软雅黑" pitchFamily="34" charset="-122"/>
                <a:ea typeface="微软雅黑" pitchFamily="34" charset="-122"/>
              </a:rPr>
              <a:t>實際開展完成的工作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----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正式報告中此段文字刪除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368" y="2265622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專案管理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6173" y="685569"/>
            <a:ext cx="1981063" cy="374706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CN" altLang="en-US" b="1" smtClean="0">
                <a:latin typeface="Microsoft JhengHei UI" pitchFamily="34" charset="-120"/>
                <a:ea typeface="Microsoft JhengHei UI" pitchFamily="34" charset="-120"/>
              </a:rPr>
              <a:t>能力舉證</a:t>
            </a:r>
            <a:endParaRPr lang="zh-CN" altLang="en-US" b="1" dirty="0">
              <a:latin typeface="Microsoft JhengHei UI" pitchFamily="34" charset="-120"/>
              <a:ea typeface="Microsoft JhengHei UI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6173" y="1198733"/>
            <a:ext cx="10819653" cy="1051814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TW" altLang="en-US" sz="3000" dirty="0" smtClean="0">
                <a:latin typeface="微软雅黑" pitchFamily="34" charset="-122"/>
                <a:ea typeface="微软雅黑" pitchFamily="34" charset="-122"/>
              </a:rPr>
              <a:t>結合自身情况與實際開展工作，對能力項分別進行描述、</a:t>
            </a: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舉證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TW" altLang="en-US" sz="3000" b="1" dirty="0" smtClean="0">
                <a:latin typeface="微软雅黑" pitchFamily="34" charset="-122"/>
                <a:ea typeface="微软雅黑" pitchFamily="34" charset="-122"/>
              </a:rPr>
              <a:t>實際開展完成的工作</a:t>
            </a:r>
            <a:r>
              <a:rPr lang="en-US" altLang="zh-CN" sz="3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----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正式報告中此段文字刪除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368" y="2265622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人才培育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50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1781</TotalTime>
  <Words>724</Words>
  <Application>Microsoft Office PowerPoint</Application>
  <PresentationFormat>宽屏</PresentationFormat>
  <Paragraphs>77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Microsoft JhengHei UI</vt:lpstr>
      <vt:lpstr>微软雅黑</vt:lpstr>
      <vt:lpstr>宋体</vt:lpstr>
      <vt:lpstr>新細明體</vt:lpstr>
      <vt:lpstr>Arial</vt:lpstr>
      <vt:lpstr>Calibri</vt:lpstr>
      <vt:lpstr>Calibri Light</vt:lpstr>
      <vt:lpstr>Office 主题</vt:lpstr>
      <vt:lpstr>編寫說明：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智能製造系統平台中心</dc:title>
  <dc:creator>Windows 使用者</dc:creator>
  <cp:lastModifiedBy>夏荊</cp:lastModifiedBy>
  <cp:revision>148</cp:revision>
  <cp:lastPrinted>2018-12-25T02:29:49Z</cp:lastPrinted>
  <dcterms:created xsi:type="dcterms:W3CDTF">2018-09-01T01:25:56Z</dcterms:created>
  <dcterms:modified xsi:type="dcterms:W3CDTF">2021-07-06T06:18:00Z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