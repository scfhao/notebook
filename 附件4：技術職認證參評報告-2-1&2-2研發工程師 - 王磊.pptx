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
  </p:notesMasterIdLst>
  <p:handoutMasterIdLst>
    <p:handoutMasterId r:id="rId11"/>
  </p:handoutMasterIdLst>
  <p:sldIdLst>
    <p:sldId id="282" r:id="rId3"/>
    <p:sldId id="283" r:id="rId5"/>
    <p:sldId id="284" r:id="rId6"/>
    <p:sldId id="288" r:id="rId7"/>
    <p:sldId id="289" r:id="rId8"/>
    <p:sldId id="291" r:id="rId9"/>
    <p:sldId id="290" r:id="rId10"/>
  </p:sldIdLst>
  <p:sldSz cx="12192000" cy="6858000"/>
  <p:notesSz cx="6797675" cy="992632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4706" autoAdjust="0"/>
  </p:normalViewPr>
  <p:slideViewPr>
    <p:cSldViewPr snapToGrid="0">
      <p:cViewPr varScale="1">
        <p:scale>
          <a:sx n="116" d="100"/>
          <a:sy n="116" d="100"/>
        </p:scale>
        <p:origin x="384" y="132"/>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9" d="100"/>
          <a:sy n="99"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pPr rtl="0"/>
            <a:fld id="{50176C01-2996-41EA-87C6-D94E8BA12DB2}" type="datetime2">
              <a:rPr lang="zh-CN" altLang="en-US" smtClean="0">
                <a:latin typeface="微软雅黑" panose="020B0503020204020204" pitchFamily="34" charset="-122"/>
                <a:ea typeface="微软雅黑" panose="020B0503020204020204" pitchFamily="34" charset="-122"/>
              </a:rPr>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pPr rtl="0"/>
            <a:fld id="{1604A0D4-B89B-4ADD-AF9E-38636B40EE4E}" type="slidenum">
              <a:rPr lang="en-US" altLang="zh-CN" smtClean="0">
                <a:latin typeface="微软雅黑" panose="020B0503020204020204" pitchFamily="34" charset="-122"/>
                <a:ea typeface="微软雅黑" panose="020B0503020204020204" pitchFamily="34" charset="-122"/>
              </a:rPr>
            </a:fld>
            <a:endParaRPr lang="zh-CN" altLang="en-US" dirty="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EA50F75F-AD11-4973-BAED-59A0098129E9}" type="datetime2">
              <a:rPr lang="zh-CN" altLang="en-US" smtClean="0"/>
            </a:fld>
            <a:endParaRPr lang="zh-CN" altLang="en-US" dirty="0"/>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rtl="0"/>
            <a:endParaRPr lang="zh-CN" altLang="en-US" dirty="0"/>
          </a:p>
        </p:txBody>
      </p:sp>
      <p:sp>
        <p:nvSpPr>
          <p:cNvPr id="5" name="备注占位符 4"/>
          <p:cNvSpPr>
            <a:spLocks noGrp="1"/>
          </p:cNvSpPr>
          <p:nvPr>
            <p:ph type="body" sz="quarter" idx="3"/>
          </p:nvPr>
        </p:nvSpPr>
        <p:spPr>
          <a:xfrm>
            <a:off x="679768" y="4777195"/>
            <a:ext cx="5438140" cy="3350240"/>
          </a:xfrm>
          <a:prstGeom prst="rect">
            <a:avLst/>
          </a:prstGeom>
        </p:spPr>
        <p:txBody>
          <a:bodyPr vert="horz" lIns="91440" tIns="45720" rIns="91440" bIns="45720"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82869989-EB00-4EE7-BCB5-25BDC5BB29F8}" type="slidenum">
              <a:rPr lang="en-US" altLang="zh-CN"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rtlCol="0"/>
          <a:lstStyle/>
          <a:p>
            <a:pPr rtl="0"/>
            <a:fld id="{82869989-EB00-4EE7-BCB5-25BDC5BB29F8}" type="slidenum">
              <a:rPr lang="en-US" altLang="zh-CN"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TW"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TW" altLang="en-US"/>
          </a:p>
        </p:txBody>
      </p:sp>
      <p:sp>
        <p:nvSpPr>
          <p:cNvPr id="4" name="日期占位符 3"/>
          <p:cNvSpPr>
            <a:spLocks noGrp="1"/>
          </p:cNvSpPr>
          <p:nvPr>
            <p:ph type="dt" sz="half" idx="10"/>
          </p:nvPr>
        </p:nvSpPr>
        <p:spPr/>
        <p:txBody>
          <a:bodyPr/>
          <a:lstStyle/>
          <a:p>
            <a:fld id="{5DD292E4-C117-4AE5-8BCA-334E149AE116}" type="datetimeFigureOut">
              <a:rPr lang="zh-TW" altLang="en-US" smtClean="0"/>
            </a:fld>
            <a:endParaRPr lang="zh-TW" altLang="en-US"/>
          </a:p>
        </p:txBody>
      </p:sp>
      <p:sp>
        <p:nvSpPr>
          <p:cNvPr id="5" name="页脚占位符 4"/>
          <p:cNvSpPr>
            <a:spLocks noGrp="1"/>
          </p:cNvSpPr>
          <p:nvPr>
            <p:ph type="ftr" sz="quarter" idx="11"/>
          </p:nvPr>
        </p:nvSpPr>
        <p:spPr/>
        <p:txBody>
          <a:bodyPr/>
          <a:lstStyle/>
          <a:p>
            <a:endParaRPr lang="zh-TW" altLang="en-US"/>
          </a:p>
        </p:txBody>
      </p:sp>
      <p:sp>
        <p:nvSpPr>
          <p:cNvPr id="6" name="灯片编号占位符 5"/>
          <p:cNvSpPr>
            <a:spLocks noGrp="1"/>
          </p:cNvSpPr>
          <p:nvPr>
            <p:ph type="sldNum" sz="quarter" idx="12"/>
          </p:nvPr>
        </p:nvSpPr>
        <p:spPr/>
        <p:txBody>
          <a:bodyPr/>
          <a:lstStyle/>
          <a:p>
            <a:fld id="{E31375A4-56A4-47D6-9801-1991572033F7}" type="slidenum">
              <a:rPr lang="en-US" altLang="zh-CN" noProof="0" smtClean="0"/>
            </a:fld>
            <a:endParaRPr lang="zh-CN" altLang="en-US" noProof="0" dirty="0"/>
          </a:p>
        </p:txBody>
      </p:sp>
      <p:grpSp>
        <p:nvGrpSpPr>
          <p:cNvPr id="7" name="组 4"/>
          <p:cNvGrpSpPr/>
          <p:nvPr userDrawn="1"/>
        </p:nvGrpSpPr>
        <p:grpSpPr bwMode="hidden">
          <a:xfrm>
            <a:off x="-1" y="0"/>
            <a:ext cx="12192002" cy="6858000"/>
            <a:chOff x="-1" y="0"/>
            <a:chExt cx="12192002" cy="6858000"/>
          </a:xfrm>
        </p:grpSpPr>
        <p:cxnSp>
          <p:nvCxnSpPr>
            <p:cNvPr id="8" name="直接连接符 7"/>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S)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S)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4" name="组 22"/>
            <p:cNvGrpSpPr/>
            <p:nvPr userDrawn="1"/>
          </p:nvGrpSpPr>
          <p:grpSpPr bwMode="hidden">
            <a:xfrm>
              <a:off x="-1" y="0"/>
              <a:ext cx="12192001" cy="6858000"/>
              <a:chOff x="-1" y="0"/>
              <a:chExt cx="12192001" cy="6858000"/>
            </a:xfrm>
          </p:grpSpPr>
          <p:cxnSp>
            <p:nvCxnSpPr>
              <p:cNvPr id="42" name="直接连接符 41"/>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7" name="组 45"/>
              <p:cNvGrpSpPr/>
              <p:nvPr/>
            </p:nvGrpSpPr>
            <p:grpSpPr bwMode="hidden">
              <a:xfrm>
                <a:off x="6327885" y="0"/>
                <a:ext cx="5864115" cy="5898673"/>
                <a:chOff x="6327885" y="0"/>
                <a:chExt cx="5864115" cy="5898673"/>
              </a:xfrm>
            </p:grpSpPr>
            <p:cxnSp>
              <p:nvCxnSpPr>
                <p:cNvPr id="53" name="直接连接符 52"/>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S)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 23"/>
            <p:cNvGrpSpPr/>
            <p:nvPr userDrawn="1"/>
          </p:nvGrpSpPr>
          <p:grpSpPr bwMode="hidden">
            <a:xfrm flipH="1">
              <a:off x="0" y="0"/>
              <a:ext cx="12192001" cy="6858000"/>
              <a:chOff x="-1" y="0"/>
              <a:chExt cx="12192001" cy="6858000"/>
            </a:xfrm>
          </p:grpSpPr>
          <p:cxnSp>
            <p:nvCxnSpPr>
              <p:cNvPr id="26" name="直接连接符​​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1" name="组 29"/>
              <p:cNvGrpSpPr/>
              <p:nvPr/>
            </p:nvGrpSpPr>
            <p:grpSpPr bwMode="hidden">
              <a:xfrm>
                <a:off x="6327885" y="0"/>
                <a:ext cx="5864115" cy="5898673"/>
                <a:chOff x="6327885" y="0"/>
                <a:chExt cx="5864115" cy="5898673"/>
              </a:xfrm>
            </p:grpSpPr>
            <p:cxnSp>
              <p:nvCxnSpPr>
                <p:cNvPr id="37" name="直接连接符 36"/>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2" name="直接连接符 31"/>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S)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cxnSp>
        <p:nvCxnSpPr>
          <p:cNvPr id="58" name="直接连接符​​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TW"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TW" altLang="en-US"/>
          </a:p>
        </p:txBody>
      </p:sp>
      <p:sp>
        <p:nvSpPr>
          <p:cNvPr id="4" name="日期占位符 3"/>
          <p:cNvSpPr>
            <a:spLocks noGrp="1"/>
          </p:cNvSpPr>
          <p:nvPr>
            <p:ph type="dt" sz="half" idx="10"/>
          </p:nvPr>
        </p:nvSpPr>
        <p:spPr/>
        <p:txBody>
          <a:bodyPr/>
          <a:lstStyle/>
          <a:p>
            <a:fld id="{76486692-0600-494D-A58B-8346A1607219}" type="datetime2">
              <a:rPr lang="zh-CN" altLang="en-US" smtClean="0"/>
            </a:fld>
            <a:endParaRPr lang="zh-CN" altLang="en-US" dirty="0"/>
          </a:p>
        </p:txBody>
      </p:sp>
      <p:sp>
        <p:nvSpPr>
          <p:cNvPr id="5" name="页脚占位符 4"/>
          <p:cNvSpPr>
            <a:spLocks noGrp="1"/>
          </p:cNvSpPr>
          <p:nvPr>
            <p:ph type="ftr" sz="quarter" idx="11"/>
          </p:nvPr>
        </p:nvSpPr>
        <p:spPr/>
        <p:txBody>
          <a:bodyPr/>
          <a:lstStyle/>
          <a:p>
            <a:pPr rtl="0"/>
            <a:r>
              <a:rPr lang="zh-CN" altLang="en-US" smtClean="0"/>
              <a:t>添加页脚</a:t>
            </a:r>
            <a:endParaRPr lang="zh-CN" altLang="en-US" dirty="0"/>
          </a:p>
        </p:txBody>
      </p:sp>
      <p:sp>
        <p:nvSpPr>
          <p:cNvPr id="6" name="灯片编号占位符 5"/>
          <p:cNvSpPr>
            <a:spLocks noGrp="1"/>
          </p:cNvSpPr>
          <p:nvPr>
            <p:ph type="sldNum" sz="quarter" idx="12"/>
          </p:nvPr>
        </p:nvSpPr>
        <p:spPr/>
        <p:txBody>
          <a:bodyPr/>
          <a:lstStyle/>
          <a:p>
            <a:pPr rtl="0"/>
            <a:fld id="{E31375A4-56A4-47D6-9801-1991572033F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TW"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5DD292E4-C117-4AE5-8BCA-334E149AE116}" type="datetimeFigureOut">
              <a:rPr lang="zh-TW" altLang="en-US" smtClean="0"/>
            </a:fld>
            <a:endParaRPr lang="zh-TW" altLang="en-US"/>
          </a:p>
        </p:txBody>
      </p:sp>
      <p:sp>
        <p:nvSpPr>
          <p:cNvPr id="5" name="页脚占位符 4"/>
          <p:cNvSpPr>
            <a:spLocks noGrp="1"/>
          </p:cNvSpPr>
          <p:nvPr>
            <p:ph type="ftr" sz="quarter" idx="11"/>
          </p:nvPr>
        </p:nvSpPr>
        <p:spPr/>
        <p:txBody>
          <a:bodyPr/>
          <a:lstStyle/>
          <a:p>
            <a:endParaRPr lang="zh-TW" altLang="en-US"/>
          </a:p>
        </p:txBody>
      </p:sp>
      <p:sp>
        <p:nvSpPr>
          <p:cNvPr id="6" name="灯片编号占位符 5"/>
          <p:cNvSpPr>
            <a:spLocks noGrp="1"/>
          </p:cNvSpPr>
          <p:nvPr>
            <p:ph type="sldNum" sz="quarter" idx="12"/>
          </p:nvPr>
        </p:nvSpPr>
        <p:spPr/>
        <p:txBody>
          <a:bodyPr/>
          <a:lstStyle/>
          <a:p>
            <a:fld id="{FE844DCD-E941-46B3-ADE3-0AFD533C6B28}" type="slidenum">
              <a:rPr lang="zh-TW" altLang="en-US" smtClean="0"/>
            </a:fld>
            <a:endParaRPr lang="zh-TW" altLang="en-US"/>
          </a:p>
        </p:txBody>
      </p:sp>
      <p:grpSp>
        <p:nvGrpSpPr>
          <p:cNvPr id="7" name="组 6"/>
          <p:cNvGrpSpPr/>
          <p:nvPr userDrawn="1"/>
        </p:nvGrpSpPr>
        <p:grpSpPr bwMode="hidden">
          <a:xfrm>
            <a:off x="-1" y="0"/>
            <a:ext cx="12192002" cy="6858000"/>
            <a:chOff x="-1" y="0"/>
            <a:chExt cx="12192002" cy="6858000"/>
          </a:xfrm>
        </p:grpSpPr>
        <p:cxnSp>
          <p:nvCxnSpPr>
            <p:cNvPr id="8" name="直接连接符​​(S)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组 23"/>
            <p:cNvGrpSpPr/>
            <p:nvPr userDrawn="1"/>
          </p:nvGrpSpPr>
          <p:grpSpPr bwMode="hidden">
            <a:xfrm>
              <a:off x="-1" y="0"/>
              <a:ext cx="12192001" cy="6858000"/>
              <a:chOff x="-1" y="0"/>
              <a:chExt cx="12192001" cy="6858000"/>
            </a:xfrm>
          </p:grpSpPr>
          <p:cxnSp>
            <p:nvCxnSpPr>
              <p:cNvPr id="42" name="直接连接符​​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组 46"/>
              <p:cNvGrpSpPr/>
              <p:nvPr/>
            </p:nvGrpSpPr>
            <p:grpSpPr bwMode="hidden">
              <a:xfrm>
                <a:off x="6327885" y="0"/>
                <a:ext cx="5864115" cy="5898673"/>
                <a:chOff x="6327885" y="0"/>
                <a:chExt cx="5864115" cy="5898673"/>
              </a:xfrm>
            </p:grpSpPr>
            <p:cxnSp>
              <p:nvCxnSpPr>
                <p:cNvPr id="53" name="直接连接符​​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 24"/>
            <p:cNvGrpSpPr/>
            <p:nvPr userDrawn="1"/>
          </p:nvGrpSpPr>
          <p:grpSpPr bwMode="hidden">
            <a:xfrm flipH="1">
              <a:off x="0" y="0"/>
              <a:ext cx="12192001" cy="6858000"/>
              <a:chOff x="-1" y="0"/>
              <a:chExt cx="12192001" cy="6858000"/>
            </a:xfrm>
          </p:grpSpPr>
          <p:cxnSp>
            <p:nvCxnSpPr>
              <p:cNvPr id="26" name="直接连接符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组 30"/>
              <p:cNvGrpSpPr/>
              <p:nvPr/>
            </p:nvGrpSpPr>
            <p:grpSpPr bwMode="hidden">
              <a:xfrm>
                <a:off x="6327885" y="0"/>
                <a:ext cx="5864115" cy="5898673"/>
                <a:chOff x="6327885" y="0"/>
                <a:chExt cx="5864115" cy="5898673"/>
              </a:xfrm>
            </p:grpSpPr>
            <p:cxnSp>
              <p:nvCxnSpPr>
                <p:cNvPr id="37" name="直接连接符​​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直接连接符​​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cxnSp>
        <p:nvCxnSpPr>
          <p:cNvPr id="58" name="直接连接符​​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TW"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TW"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TW" altLang="en-US"/>
          </a:p>
        </p:txBody>
      </p:sp>
      <p:sp>
        <p:nvSpPr>
          <p:cNvPr id="5" name="日期占位符 4"/>
          <p:cNvSpPr>
            <a:spLocks noGrp="1"/>
          </p:cNvSpPr>
          <p:nvPr>
            <p:ph type="dt" sz="half" idx="10"/>
          </p:nvPr>
        </p:nvSpPr>
        <p:spPr/>
        <p:txBody>
          <a:bodyPr/>
          <a:lstStyle/>
          <a:p>
            <a:fld id="{4FBFDCFB-9841-4E8E-A26A-EE55E04AFFB4}" type="datetime2">
              <a:rPr lang="zh-CN" altLang="en-US" smtClean="0"/>
            </a:fld>
            <a:endParaRPr lang="zh-CN" altLang="en-US" dirty="0"/>
          </a:p>
        </p:txBody>
      </p:sp>
      <p:sp>
        <p:nvSpPr>
          <p:cNvPr id="6" name="页脚占位符 5"/>
          <p:cNvSpPr>
            <a:spLocks noGrp="1"/>
          </p:cNvSpPr>
          <p:nvPr>
            <p:ph type="ftr" sz="quarter" idx="11"/>
          </p:nvPr>
        </p:nvSpPr>
        <p:spPr/>
        <p:txBody>
          <a:bodyPr/>
          <a:lstStyle/>
          <a:p>
            <a:pPr rtl="0"/>
            <a:r>
              <a:rPr lang="zh-CN" altLang="en-US" smtClean="0"/>
              <a:t>添加页脚</a:t>
            </a:r>
            <a:endParaRPr lang="zh-CN" altLang="en-US" dirty="0"/>
          </a:p>
        </p:txBody>
      </p:sp>
      <p:sp>
        <p:nvSpPr>
          <p:cNvPr id="7" name="灯片编号占位符 6"/>
          <p:cNvSpPr>
            <a:spLocks noGrp="1"/>
          </p:cNvSpPr>
          <p:nvPr>
            <p:ph type="sldNum" sz="quarter" idx="12"/>
          </p:nvPr>
        </p:nvSpPr>
        <p:spPr/>
        <p:txBody>
          <a:bodyPr/>
          <a:lstStyle/>
          <a:p>
            <a:pPr rtl="0"/>
            <a:fld id="{E31375A4-56A4-47D6-9801-1991572033F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TW"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TW"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TW" altLang="en-US"/>
          </a:p>
        </p:txBody>
      </p:sp>
      <p:sp>
        <p:nvSpPr>
          <p:cNvPr id="7" name="日期占位符 6"/>
          <p:cNvSpPr>
            <a:spLocks noGrp="1"/>
          </p:cNvSpPr>
          <p:nvPr>
            <p:ph type="dt" sz="half" idx="10"/>
          </p:nvPr>
        </p:nvSpPr>
        <p:spPr/>
        <p:txBody>
          <a:bodyPr/>
          <a:lstStyle/>
          <a:p>
            <a:fld id="{1C3E997A-1EEE-4D88-AEC9-C83348780DB3}" type="datetime2">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smtClean="0"/>
              <a:t>添加页脚</a:t>
            </a:r>
            <a:endParaRPr lang="zh-CN" altLang="en-US" dirty="0"/>
          </a:p>
        </p:txBody>
      </p:sp>
      <p:sp>
        <p:nvSpPr>
          <p:cNvPr id="9" name="灯片编号占位符 8"/>
          <p:cNvSpPr>
            <a:spLocks noGrp="1"/>
          </p:cNvSpPr>
          <p:nvPr>
            <p:ph type="sldNum" sz="quarter" idx="12"/>
          </p:nvPr>
        </p:nvSpPr>
        <p:spPr/>
        <p:txBody>
          <a:bodyPr/>
          <a:lstStyle/>
          <a:p>
            <a:fld id="{E31375A4-56A4-47D6-9801-1991572033F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TW" altLang="en-US"/>
          </a:p>
        </p:txBody>
      </p:sp>
      <p:sp>
        <p:nvSpPr>
          <p:cNvPr id="3" name="日期占位符 2"/>
          <p:cNvSpPr>
            <a:spLocks noGrp="1"/>
          </p:cNvSpPr>
          <p:nvPr>
            <p:ph type="dt" sz="half" idx="10"/>
          </p:nvPr>
        </p:nvSpPr>
        <p:spPr/>
        <p:txBody>
          <a:bodyPr/>
          <a:lstStyle/>
          <a:p>
            <a:fld id="{018B8D67-B939-44AB-992D-F02AFF2C2399}" type="datetime2">
              <a:rPr lang="zh-CN" altLang="en-US" smtClean="0"/>
            </a:fld>
            <a:endParaRPr lang="zh-CN" altLang="en-US" dirty="0"/>
          </a:p>
        </p:txBody>
      </p:sp>
      <p:sp>
        <p:nvSpPr>
          <p:cNvPr id="4" name="页脚占位符 3"/>
          <p:cNvSpPr>
            <a:spLocks noGrp="1"/>
          </p:cNvSpPr>
          <p:nvPr>
            <p:ph type="ftr" sz="quarter" idx="11"/>
          </p:nvPr>
        </p:nvSpPr>
        <p:spPr/>
        <p:txBody>
          <a:bodyPr/>
          <a:lstStyle/>
          <a:p>
            <a:pPr rtl="0"/>
            <a:r>
              <a:rPr lang="zh-CN" altLang="en-US" noProof="0" smtClean="0"/>
              <a:t>添加页脚</a:t>
            </a:r>
            <a:endParaRPr lang="zh-CN" altLang="en-US" noProof="0" dirty="0"/>
          </a:p>
        </p:txBody>
      </p:sp>
      <p:sp>
        <p:nvSpPr>
          <p:cNvPr id="5" name="灯片编号占位符 4"/>
          <p:cNvSpPr>
            <a:spLocks noGrp="1"/>
          </p:cNvSpPr>
          <p:nvPr>
            <p:ph type="sldNum" sz="quarter" idx="12"/>
          </p:nvPr>
        </p:nvSpPr>
        <p:spPr/>
        <p:txBody>
          <a:bodyPr/>
          <a:lstStyle/>
          <a:p>
            <a:pPr rtl="0"/>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F278190-531B-41DD-AD7A-47EC2C22B86C}" type="datetime2">
              <a:rPr lang="zh-CN" altLang="en-US" smtClean="0"/>
            </a:fld>
            <a:endParaRPr lang="zh-CN" altLang="en-US" dirty="0"/>
          </a:p>
        </p:txBody>
      </p:sp>
      <p:sp>
        <p:nvSpPr>
          <p:cNvPr id="3" name="页脚占位符 2"/>
          <p:cNvSpPr>
            <a:spLocks noGrp="1"/>
          </p:cNvSpPr>
          <p:nvPr>
            <p:ph type="ftr" sz="quarter" idx="11"/>
          </p:nvPr>
        </p:nvSpPr>
        <p:spPr/>
        <p:txBody>
          <a:bodyPr/>
          <a:lstStyle/>
          <a:p>
            <a:pPr rtl="0"/>
            <a:r>
              <a:rPr lang="zh-CN" altLang="en-US" smtClean="0"/>
              <a:t>添加页脚</a:t>
            </a:r>
            <a:endParaRPr lang="zh-CN" altLang="en-US" dirty="0"/>
          </a:p>
        </p:txBody>
      </p:sp>
      <p:sp>
        <p:nvSpPr>
          <p:cNvPr id="4" name="灯片编号占位符 3"/>
          <p:cNvSpPr>
            <a:spLocks noGrp="1"/>
          </p:cNvSpPr>
          <p:nvPr>
            <p:ph type="sldNum" sz="quarter" idx="12"/>
          </p:nvPr>
        </p:nvSpPr>
        <p:spPr/>
        <p:txBody>
          <a:bodyPr/>
          <a:lstStyle/>
          <a:p>
            <a:pPr rtl="0"/>
            <a:fld id="{E31375A4-56A4-47D6-9801-1991572033F7}" type="slidenum">
              <a:rPr lang="en-US" altLang="zh-CN" smtClean="0"/>
            </a:fld>
            <a:endParaRPr lang="zh-CN" altLang="en-US" dirty="0"/>
          </a:p>
        </p:txBody>
      </p:sp>
      <p:grpSp>
        <p:nvGrpSpPr>
          <p:cNvPr id="5" name="组 160"/>
          <p:cNvGrpSpPr/>
          <p:nvPr userDrawn="1"/>
        </p:nvGrpSpPr>
        <p:grpSpPr bwMode="hidden">
          <a:xfrm>
            <a:off x="-1" y="0"/>
            <a:ext cx="12192002" cy="6858000"/>
            <a:chOff x="-1" y="0"/>
            <a:chExt cx="12192002" cy="6858000"/>
          </a:xfrm>
        </p:grpSpPr>
        <p:cxnSp>
          <p:nvCxnSpPr>
            <p:cNvPr id="6" name="直接连接符​​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2" name="组 177"/>
            <p:cNvGrpSpPr/>
            <p:nvPr userDrawn="1"/>
          </p:nvGrpSpPr>
          <p:grpSpPr bwMode="hidden">
            <a:xfrm>
              <a:off x="-1" y="0"/>
              <a:ext cx="12192001" cy="6858000"/>
              <a:chOff x="-1" y="0"/>
              <a:chExt cx="12192001" cy="6858000"/>
            </a:xfrm>
          </p:grpSpPr>
          <p:cxnSp>
            <p:nvCxnSpPr>
              <p:cNvPr id="40" name="直接连接符​​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45" name="组 200"/>
              <p:cNvGrpSpPr/>
              <p:nvPr/>
            </p:nvGrpSpPr>
            <p:grpSpPr bwMode="hidden">
              <a:xfrm>
                <a:off x="6327885" y="0"/>
                <a:ext cx="5864115" cy="5898673"/>
                <a:chOff x="6327885" y="0"/>
                <a:chExt cx="5864115" cy="5898673"/>
              </a:xfrm>
            </p:grpSpPr>
            <p:cxnSp>
              <p:nvCxnSpPr>
                <p:cNvPr id="51" name="直接连接符​​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46" name="直接连接符 4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23" name="组 178"/>
            <p:cNvGrpSpPr/>
            <p:nvPr userDrawn="1"/>
          </p:nvGrpSpPr>
          <p:grpSpPr bwMode="hidden">
            <a:xfrm flipH="1">
              <a:off x="0" y="0"/>
              <a:ext cx="12192001" cy="6858000"/>
              <a:chOff x="-1" y="0"/>
              <a:chExt cx="12192001" cy="6858000"/>
            </a:xfrm>
          </p:grpSpPr>
          <p:cxnSp>
            <p:nvCxnSpPr>
              <p:cNvPr id="24" name="直接连接符​​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9" name="组 184"/>
              <p:cNvGrpSpPr/>
              <p:nvPr/>
            </p:nvGrpSpPr>
            <p:grpSpPr bwMode="hidden">
              <a:xfrm>
                <a:off x="6327885" y="0"/>
                <a:ext cx="5864115" cy="5898673"/>
                <a:chOff x="6327885" y="0"/>
                <a:chExt cx="5864115" cy="5898673"/>
              </a:xfrm>
            </p:grpSpPr>
            <p:cxnSp>
              <p:nvCxnSpPr>
                <p:cNvPr id="35" name="直接连接符 34"/>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30" name="直接连接符​​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TW"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TW"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97EE274-C014-4170-9D78-BB3EE034439F}" type="datetime2">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noProof="0" smtClean="0"/>
              <a:t>添加页脚</a:t>
            </a:r>
            <a:endParaRPr lang="zh-CN" altLang="en-US" noProof="0" dirty="0"/>
          </a:p>
        </p:txBody>
      </p:sp>
      <p:sp>
        <p:nvSpPr>
          <p:cNvPr id="7" name="灯片编号占位符 6"/>
          <p:cNvSpPr>
            <a:spLocks noGrp="1"/>
          </p:cNvSpPr>
          <p:nvPr>
            <p:ph type="sldNum" sz="quarter" idx="12"/>
          </p:nvPr>
        </p:nvSpPr>
        <p:spPr/>
        <p:txBody>
          <a:bodyPr/>
          <a:lstStyle/>
          <a:p>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TW"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97EE274-C014-4170-9D78-BB3EE034439F}" type="datetime2">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noProof="0" smtClean="0"/>
              <a:t>添加页脚</a:t>
            </a:r>
            <a:endParaRPr lang="zh-CN" altLang="en-US" noProof="0" dirty="0"/>
          </a:p>
        </p:txBody>
      </p:sp>
      <p:sp>
        <p:nvSpPr>
          <p:cNvPr id="7" name="灯片编号占位符 6"/>
          <p:cNvSpPr>
            <a:spLocks noGrp="1"/>
          </p:cNvSpPr>
          <p:nvPr>
            <p:ph type="sldNum" sz="quarter" idx="12"/>
          </p:nvPr>
        </p:nvSpPr>
        <p:spPr/>
        <p:txBody>
          <a:bodyPr/>
          <a:lstStyle/>
          <a:p>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TW"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TW" altLang="en-US"/>
          </a:p>
        </p:txBody>
      </p:sp>
      <p:sp>
        <p:nvSpPr>
          <p:cNvPr id="4" name="日期占位符 3"/>
          <p:cNvSpPr>
            <a:spLocks noGrp="1"/>
          </p:cNvSpPr>
          <p:nvPr>
            <p:ph type="dt" sz="half" idx="10"/>
          </p:nvPr>
        </p:nvSpPr>
        <p:spPr/>
        <p:txBody>
          <a:bodyPr/>
          <a:lstStyle/>
          <a:p>
            <a:fld id="{315EC09C-6658-4B3F-8DB1-134C6DD59176}" type="datetime2">
              <a:rPr lang="zh-CN" altLang="en-US" smtClean="0"/>
            </a:fld>
            <a:endParaRPr lang="zh-CN" altLang="en-US" dirty="0"/>
          </a:p>
        </p:txBody>
      </p:sp>
      <p:sp>
        <p:nvSpPr>
          <p:cNvPr id="5" name="页脚占位符 4"/>
          <p:cNvSpPr>
            <a:spLocks noGrp="1"/>
          </p:cNvSpPr>
          <p:nvPr>
            <p:ph type="ftr" sz="quarter" idx="11"/>
          </p:nvPr>
        </p:nvSpPr>
        <p:spPr/>
        <p:txBody>
          <a:bodyPr/>
          <a:lstStyle/>
          <a:p>
            <a:pPr rtl="0"/>
            <a:r>
              <a:rPr lang="zh-CN" altLang="en-US" noProof="0" smtClean="0"/>
              <a:t>添加页脚</a:t>
            </a:r>
            <a:endParaRPr lang="zh-CN" altLang="en-US" noProof="0" dirty="0"/>
          </a:p>
        </p:txBody>
      </p:sp>
      <p:sp>
        <p:nvSpPr>
          <p:cNvPr id="6" name="灯片编号占位符 5"/>
          <p:cNvSpPr>
            <a:spLocks noGrp="1"/>
          </p:cNvSpPr>
          <p:nvPr>
            <p:ph type="sldNum" sz="quarter" idx="12"/>
          </p:nvPr>
        </p:nvSpPr>
        <p:spPr/>
        <p:txBody>
          <a:bodyPr/>
          <a:lstStyle/>
          <a:p>
            <a:pPr rtl="0"/>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TW"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TW" altLang="en-US"/>
          </a:p>
        </p:txBody>
      </p:sp>
      <p:sp>
        <p:nvSpPr>
          <p:cNvPr id="4" name="日期占位符 3"/>
          <p:cNvSpPr>
            <a:spLocks noGrp="1"/>
          </p:cNvSpPr>
          <p:nvPr>
            <p:ph type="dt" sz="half" idx="10"/>
          </p:nvPr>
        </p:nvSpPr>
        <p:spPr/>
        <p:txBody>
          <a:bodyPr/>
          <a:lstStyle/>
          <a:p>
            <a:fld id="{597EE274-C014-4170-9D78-BB3EE034439F}" type="datetime2">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noProof="0" smtClean="0"/>
              <a:t>添加页脚</a:t>
            </a:r>
            <a:endParaRPr lang="zh-CN" altLang="en-US" noProof="0" dirty="0"/>
          </a:p>
        </p:txBody>
      </p:sp>
      <p:sp>
        <p:nvSpPr>
          <p:cNvPr id="6" name="灯片编号占位符 5"/>
          <p:cNvSpPr>
            <a:spLocks noGrp="1"/>
          </p:cNvSpPr>
          <p:nvPr>
            <p:ph type="sldNum" sz="quarter" idx="12"/>
          </p:nvPr>
        </p:nvSpPr>
        <p:spPr/>
        <p:txBody>
          <a:bodyPr/>
          <a:lstStyle/>
          <a:p>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TW"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TW"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7EE274-C014-4170-9D78-BB3EE034439F}" type="datetime2">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noProof="0" smtClean="0"/>
              <a:t>添加页脚</a:t>
            </a:r>
            <a:endParaRPr lang="zh-CN" altLang="en-US" noProof="0"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1375A4-56A4-47D6-9801-1991572033F7}" type="slidenum">
              <a:rPr lang="en-US" altLang="zh-CN" noProof="0" smtClean="0"/>
            </a:fld>
            <a:endParaRPr lang="zh-CN" altLang="en-US" noProof="0" dirty="0"/>
          </a:p>
        </p:txBody>
      </p:sp>
      <p:grpSp>
        <p:nvGrpSpPr>
          <p:cNvPr id="7" name="组 95"/>
          <p:cNvGrpSpPr/>
          <p:nvPr userDrawn="1"/>
        </p:nvGrpSpPr>
        <p:grpSpPr bwMode="hidden">
          <a:xfrm>
            <a:off x="-1" y="-195943"/>
            <a:ext cx="12192002" cy="6858000"/>
            <a:chOff x="-1" y="0"/>
            <a:chExt cx="12192002" cy="6858000"/>
          </a:xfrm>
        </p:grpSpPr>
        <p:cxnSp>
          <p:nvCxnSpPr>
            <p:cNvPr id="8" name="直接连接符 7"/>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组 112"/>
            <p:cNvGrpSpPr/>
            <p:nvPr userDrawn="1"/>
          </p:nvGrpSpPr>
          <p:grpSpPr bwMode="hidden">
            <a:xfrm>
              <a:off x="-1" y="0"/>
              <a:ext cx="12192001" cy="6858000"/>
              <a:chOff x="-1" y="0"/>
              <a:chExt cx="12192001" cy="6858000"/>
            </a:xfrm>
          </p:grpSpPr>
          <p:cxnSp>
            <p:nvCxnSpPr>
              <p:cNvPr id="42" name="直接连接符 41"/>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组 135"/>
              <p:cNvGrpSpPr/>
              <p:nvPr/>
            </p:nvGrpSpPr>
            <p:grpSpPr bwMode="hidden">
              <a:xfrm>
                <a:off x="6327885" y="0"/>
                <a:ext cx="5864115" cy="5898673"/>
                <a:chOff x="6327885" y="0"/>
                <a:chExt cx="5864115" cy="5898673"/>
              </a:xfrm>
            </p:grpSpPr>
            <p:cxnSp>
              <p:nvCxnSpPr>
                <p:cNvPr id="53" name="直接连接符 52"/>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 113"/>
            <p:cNvGrpSpPr/>
            <p:nvPr userDrawn="1"/>
          </p:nvGrpSpPr>
          <p:grpSpPr bwMode="hidden">
            <a:xfrm flipH="1">
              <a:off x="0" y="0"/>
              <a:ext cx="12192001" cy="6858000"/>
              <a:chOff x="-1" y="0"/>
              <a:chExt cx="12192001" cy="6858000"/>
            </a:xfrm>
          </p:grpSpPr>
          <p:cxnSp>
            <p:nvCxnSpPr>
              <p:cNvPr id="26" name="直接连接符 25"/>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组 119"/>
              <p:cNvGrpSpPr/>
              <p:nvPr/>
            </p:nvGrpSpPr>
            <p:grpSpPr bwMode="hidden">
              <a:xfrm>
                <a:off x="6327885" y="0"/>
                <a:ext cx="5864115" cy="5898673"/>
                <a:chOff x="6327885" y="0"/>
                <a:chExt cx="5864115" cy="5898673"/>
              </a:xfrm>
            </p:grpSpPr>
            <p:cxnSp>
              <p:nvCxnSpPr>
                <p:cNvPr id="37" name="直接连接符 36"/>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直接连接符 31"/>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cxnSp>
        <p:nvCxnSpPr>
          <p:cNvPr id="58" name="直接连接符 57"/>
          <p:cNvCxnSpPr/>
          <p:nvPr userDrawn="1"/>
        </p:nvCxnSpPr>
        <p:spPr>
          <a:xfrm>
            <a:off x="609600" y="6172200"/>
            <a:ext cx="9434117"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图片 58"/>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1084" y="0"/>
            <a:ext cx="2013167" cy="543847"/>
          </a:xfrm>
          <a:prstGeom prst="rect">
            <a:avLst/>
          </a:prstGeom>
        </p:spPr>
      </p:pic>
      <p:pic>
        <p:nvPicPr>
          <p:cNvPr id="60" name="Picture 7" descr="未命名 -2拷貝"/>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409279" y="5665419"/>
            <a:ext cx="1476375" cy="84669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6248" y="1041119"/>
            <a:ext cx="2135659" cy="652720"/>
          </a:xfrm>
        </p:spPr>
        <p:txBody>
          <a:bodyPr rtlCol="0">
            <a:normAutofit/>
          </a:bodyPr>
          <a:lstStyle/>
          <a:p>
            <a:pPr rtl="0"/>
            <a:r>
              <a:rPr lang="zh-CN" altLang="en-US" sz="2000" b="1" dirty="0" smtClean="0">
                <a:latin typeface="Microsoft JhengHei UI" pitchFamily="34" charset="-120"/>
                <a:ea typeface="Microsoft JhengHei UI" pitchFamily="34" charset="-120"/>
                <a:sym typeface="Arial" panose="020B0604020202090204" pitchFamily="34" charset="0"/>
              </a:rPr>
              <a:t>編寫說明：</a:t>
            </a:r>
            <a:endParaRPr lang="zh-CN" altLang="en-US" sz="2000" b="1" dirty="0">
              <a:latin typeface="Microsoft JhengHei UI" pitchFamily="34" charset="-120"/>
              <a:ea typeface="Microsoft JhengHei UI" pitchFamily="34" charset="-120"/>
              <a:sym typeface="Arial" panose="020B0604020202090204" pitchFamily="34" charset="0"/>
            </a:endParaRPr>
          </a:p>
        </p:txBody>
      </p:sp>
      <p:graphicFrame>
        <p:nvGraphicFramePr>
          <p:cNvPr id="4" name="表格 3"/>
          <p:cNvGraphicFramePr>
            <a:graphicFrameLocks noGrp="1"/>
          </p:cNvGraphicFramePr>
          <p:nvPr/>
        </p:nvGraphicFramePr>
        <p:xfrm>
          <a:off x="1452948" y="1480742"/>
          <a:ext cx="9308757" cy="1005840"/>
        </p:xfrm>
        <a:graphic>
          <a:graphicData uri="http://schemas.openxmlformats.org/drawingml/2006/table">
            <a:tbl>
              <a:tblPr firstRow="1" bandRow="1">
                <a:tableStyleId>{6E25E649-3F16-4E02-A733-19D2CDBF48F0}</a:tableStyleId>
              </a:tblPr>
              <a:tblGrid>
                <a:gridCol w="1353566"/>
                <a:gridCol w="7955191"/>
              </a:tblGrid>
              <a:tr h="795733">
                <a:tc>
                  <a:txBody>
                    <a:bodyPr/>
                    <a:lstStyle/>
                    <a:p>
                      <a:pPr algn="ctr"/>
                      <a:r>
                        <a:rPr lang="zh-CN" altLang="en-US" sz="1200" dirty="0" smtClean="0">
                          <a:solidFill>
                            <a:schemeClr val="bg1"/>
                          </a:solidFill>
                          <a:latin typeface="Microsoft JhengHei UI" pitchFamily="34" charset="-120"/>
                          <a:ea typeface="Microsoft JhengHei UI" pitchFamily="34" charset="-120"/>
                        </a:rPr>
                        <a:t>要求</a:t>
                      </a:r>
                      <a:endParaRPr lang="zh-TW" altLang="en-US" sz="1200" dirty="0">
                        <a:solidFill>
                          <a:schemeClr val="bg1"/>
                        </a:solidFill>
                        <a:latin typeface="Microsoft JhengHei UI" pitchFamily="34" charset="-120"/>
                        <a:ea typeface="Microsoft JhengHei UI"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1200" dirty="0" smtClean="0">
                          <a:solidFill>
                            <a:schemeClr val="bg1"/>
                          </a:solidFill>
                          <a:latin typeface="Microsoft JhengHei UI" pitchFamily="34" charset="-120"/>
                          <a:ea typeface="Microsoft JhengHei UI" pitchFamily="34" charset="-120"/>
                        </a:rPr>
                        <a:t>依研發工程師能力要求，描述個人每個能力項的執行情況，并通過實際工作舉證個人達標情況，填寫要求：</a:t>
                      </a:r>
                      <a:endParaRPr lang="en-US" altLang="zh-CN" sz="1200" dirty="0" smtClean="0">
                        <a:solidFill>
                          <a:schemeClr val="bg1"/>
                        </a:solidFill>
                        <a:latin typeface="Microsoft JhengHei UI" pitchFamily="34" charset="-120"/>
                        <a:ea typeface="Microsoft JhengHei UI" pitchFamily="34" charset="-12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bg1"/>
                          </a:solidFill>
                          <a:latin typeface="Microsoft JhengHei UI" pitchFamily="34" charset="-120"/>
                          <a:ea typeface="Microsoft JhengHei UI" pitchFamily="34" charset="-120"/>
                          <a:sym typeface="Arial" panose="020B0604020202090204" pitchFamily="34" charset="0"/>
                        </a:rPr>
                        <a:t>1.</a:t>
                      </a:r>
                      <a:r>
                        <a:rPr lang="zh-CN" altLang="en-US" sz="1200" dirty="0" smtClean="0">
                          <a:solidFill>
                            <a:schemeClr val="bg1"/>
                          </a:solidFill>
                          <a:latin typeface="Microsoft JhengHei UI" pitchFamily="34" charset="-120"/>
                          <a:ea typeface="Microsoft JhengHei UI" pitchFamily="34" charset="-120"/>
                          <a:sym typeface="Arial" panose="020B0604020202090204" pitchFamily="34" charset="0"/>
                        </a:rPr>
                        <a:t>報告必須包括每個能力要素，不能有缺失，呈現形式不限</a:t>
                      </a:r>
                      <a:endParaRPr lang="en-US" altLang="zh-CN" sz="1200" dirty="0" smtClean="0">
                        <a:solidFill>
                          <a:schemeClr val="bg1"/>
                        </a:solidFill>
                        <a:latin typeface="Microsoft JhengHei UI" pitchFamily="34" charset="-120"/>
                        <a:ea typeface="Microsoft JhengHei UI" pitchFamily="34" charset="-120"/>
                        <a:sym typeface="Arial" panose="020B060402020209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bg1"/>
                          </a:solidFill>
                          <a:latin typeface="Microsoft JhengHei UI" pitchFamily="34" charset="-120"/>
                          <a:ea typeface="Microsoft JhengHei UI" pitchFamily="34" charset="-120"/>
                          <a:sym typeface="Arial" panose="020B0604020202090204" pitchFamily="34" charset="0"/>
                        </a:rPr>
                        <a:t>2.</a:t>
                      </a:r>
                      <a:r>
                        <a:rPr lang="zh-CN" altLang="en-US" sz="1200" dirty="0" smtClean="0">
                          <a:solidFill>
                            <a:schemeClr val="bg1"/>
                          </a:solidFill>
                          <a:latin typeface="Microsoft JhengHei UI" pitchFamily="34" charset="-120"/>
                          <a:ea typeface="Microsoft JhengHei UI" pitchFamily="34" charset="-120"/>
                          <a:sym typeface="Arial" panose="020B0604020202090204" pitchFamily="34" charset="0"/>
                        </a:rPr>
                        <a:t>語言簡練，避免過多的文字描述</a:t>
                      </a:r>
                      <a:endParaRPr lang="en-US" altLang="zh-CN" sz="1200" dirty="0" smtClean="0">
                        <a:solidFill>
                          <a:schemeClr val="bg1"/>
                        </a:solidFill>
                        <a:latin typeface="Microsoft JhengHei UI" pitchFamily="34" charset="-120"/>
                        <a:ea typeface="Microsoft JhengHei UI" pitchFamily="34" charset="-120"/>
                        <a:sym typeface="Arial" panose="020B060402020209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smtClean="0">
                          <a:solidFill>
                            <a:schemeClr val="bg1"/>
                          </a:solidFill>
                          <a:latin typeface="Microsoft JhengHei UI" pitchFamily="34" charset="-120"/>
                          <a:ea typeface="Microsoft JhengHei UI" pitchFamily="34" charset="-120"/>
                          <a:sym typeface="Arial" panose="020B0604020202090204" pitchFamily="34" charset="0"/>
                        </a:rPr>
                        <a:t>3.</a:t>
                      </a:r>
                      <a:r>
                        <a:rPr lang="zh-CN" altLang="en-US" sz="1200" dirty="0" smtClean="0">
                          <a:solidFill>
                            <a:schemeClr val="bg1"/>
                          </a:solidFill>
                          <a:latin typeface="Microsoft JhengHei UI" pitchFamily="34" charset="-120"/>
                          <a:ea typeface="Microsoft JhengHei UI" pitchFamily="34" charset="-120"/>
                          <a:sym typeface="Arial" panose="020B0604020202090204" pitchFamily="34" charset="0"/>
                        </a:rPr>
                        <a:t>結構清晰，證據確著，以實例、數據等作為舉證材料</a:t>
                      </a:r>
                      <a:endParaRPr lang="en-US" altLang="zh-CN" sz="1200" dirty="0" smtClean="0">
                        <a:solidFill>
                          <a:schemeClr val="bg1"/>
                        </a:solidFill>
                        <a:latin typeface="Microsoft JhengHei UI" pitchFamily="34" charset="-120"/>
                        <a:ea typeface="Microsoft JhengHei UI" pitchFamily="34" charset="-120"/>
                        <a:sym typeface="Arial" panose="020B060402020209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dirty="0" smtClean="0">
                          <a:solidFill>
                            <a:schemeClr val="bg1"/>
                          </a:solidFill>
                          <a:latin typeface="Microsoft JhengHei UI" pitchFamily="34" charset="-120"/>
                          <a:ea typeface="Microsoft JhengHei UI" pitchFamily="34" charset="-120"/>
                          <a:sym typeface="Arial" panose="020B0604020202090204" pitchFamily="34" charset="0"/>
                        </a:rPr>
                        <a:t>4.</a:t>
                      </a:r>
                      <a:r>
                        <a:rPr lang="zh-CN" altLang="en-US" sz="1200" dirty="0" smtClean="0">
                          <a:solidFill>
                            <a:schemeClr val="bg1"/>
                          </a:solidFill>
                          <a:latin typeface="Microsoft JhengHei UI" pitchFamily="34" charset="-120"/>
                          <a:ea typeface="Microsoft JhengHei UI" pitchFamily="34" charset="-120"/>
                          <a:sym typeface="Arial" panose="020B0604020202090204" pitchFamily="34" charset="0"/>
                        </a:rPr>
                        <a:t>舉證材料可另外附件。</a:t>
                      </a:r>
                      <a:endParaRPr lang="zh-TW" altLang="en-US" sz="1200" dirty="0">
                        <a:solidFill>
                          <a:schemeClr val="bg1"/>
                        </a:solidFill>
                        <a:latin typeface="Microsoft JhengHei UI" pitchFamily="34" charset="-120"/>
                        <a:ea typeface="Microsoft JhengHei UI"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5" name="标题 1"/>
          <p:cNvSpPr txBox="1"/>
          <p:nvPr/>
        </p:nvSpPr>
        <p:spPr>
          <a:xfrm>
            <a:off x="1846819" y="527222"/>
            <a:ext cx="7987613" cy="84025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smtClean="0">
                <a:solidFill>
                  <a:schemeClr val="accent5">
                    <a:lumMod val="75000"/>
                  </a:schemeClr>
                </a:solidFill>
                <a:latin typeface="Microsoft JhengHei UI" pitchFamily="34" charset="-120"/>
                <a:ea typeface="Microsoft JhengHei UI" pitchFamily="34" charset="-120"/>
                <a:sym typeface="Arial" panose="020B0604020202090204" pitchFamily="34" charset="0"/>
              </a:rPr>
              <a:t>中原資訊總處技術職認證答辯報告</a:t>
            </a:r>
            <a:endParaRPr lang="zh-CN" altLang="en-US" sz="3200" b="1" dirty="0">
              <a:solidFill>
                <a:schemeClr val="accent5">
                  <a:lumMod val="75000"/>
                </a:schemeClr>
              </a:solidFill>
              <a:latin typeface="Microsoft JhengHei UI" pitchFamily="34" charset="-120"/>
              <a:ea typeface="Microsoft JhengHei UI" pitchFamily="34" charset="-120"/>
              <a:sym typeface="Arial" panose="020B0604020202090204" pitchFamily="34" charset="0"/>
            </a:endParaRPr>
          </a:p>
        </p:txBody>
      </p:sp>
      <p:sp>
        <p:nvSpPr>
          <p:cNvPr id="7" name="标题 1"/>
          <p:cNvSpPr txBox="1"/>
          <p:nvPr/>
        </p:nvSpPr>
        <p:spPr>
          <a:xfrm>
            <a:off x="1195773" y="2546069"/>
            <a:ext cx="1356927" cy="406681"/>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000" b="1" i="0" u="none" strike="noStrike" kern="1200" cap="none" spc="0" normalizeH="0" baseline="0" noProof="0" dirty="0" smtClean="0">
                <a:ln>
                  <a:noFill/>
                </a:ln>
                <a:solidFill>
                  <a:schemeClr val="tx1"/>
                </a:solidFill>
                <a:effectLst/>
                <a:uLnTx/>
                <a:uFillTx/>
                <a:latin typeface="Microsoft JhengHei UI" pitchFamily="34" charset="-120"/>
                <a:ea typeface="Microsoft JhengHei UI" pitchFamily="34" charset="-120"/>
                <a:cs typeface="+mj-cs"/>
                <a:sym typeface="Arial" panose="020B0604020202090204" pitchFamily="34" charset="0"/>
              </a:rPr>
              <a:t>能力要求：</a:t>
            </a:r>
            <a:endParaRPr kumimoji="0" lang="zh-CN" altLang="en-US" sz="2000" b="1" i="0" u="none" strike="noStrike" kern="1200" cap="none" spc="0" normalizeH="0" baseline="0" noProof="0" dirty="0">
              <a:ln>
                <a:noFill/>
              </a:ln>
              <a:solidFill>
                <a:schemeClr val="tx1"/>
              </a:solidFill>
              <a:effectLst/>
              <a:uLnTx/>
              <a:uFillTx/>
              <a:latin typeface="Microsoft JhengHei UI" pitchFamily="34" charset="-120"/>
              <a:ea typeface="Microsoft JhengHei UI" pitchFamily="34" charset="-120"/>
              <a:cs typeface="+mj-cs"/>
              <a:sym typeface="Arial" panose="020B0604020202090204" pitchFamily="34" charset="0"/>
            </a:endParaRPr>
          </a:p>
        </p:txBody>
      </p:sp>
      <p:graphicFrame>
        <p:nvGraphicFramePr>
          <p:cNvPr id="8" name="表格 7"/>
          <p:cNvGraphicFramePr>
            <a:graphicFrameLocks noGrp="1"/>
          </p:cNvGraphicFramePr>
          <p:nvPr/>
        </p:nvGraphicFramePr>
        <p:xfrm>
          <a:off x="2587626" y="2537884"/>
          <a:ext cx="7280274" cy="3475028"/>
        </p:xfrm>
        <a:graphic>
          <a:graphicData uri="http://schemas.openxmlformats.org/drawingml/2006/table">
            <a:tbl>
              <a:tblPr/>
              <a:tblGrid>
                <a:gridCol w="943740"/>
                <a:gridCol w="4841109"/>
                <a:gridCol w="762000"/>
                <a:gridCol w="733425"/>
              </a:tblGrid>
              <a:tr h="297272">
                <a:tc>
                  <a:txBody>
                    <a:bodyPr/>
                    <a:lstStyle/>
                    <a:p>
                      <a:pPr algn="ctr" fontAlgn="ctr"/>
                      <a:r>
                        <a:rPr lang="zh-TW" altLang="en-US" sz="1050" b="0" i="0" u="none" strike="noStrike" dirty="0">
                          <a:solidFill>
                            <a:srgbClr val="000000"/>
                          </a:solidFill>
                          <a:latin typeface="Microsoft JhengHei UI" pitchFamily="34" charset="-120"/>
                          <a:ea typeface="Microsoft JhengHei UI" pitchFamily="34" charset="-120"/>
                        </a:rPr>
                        <a:t>能力項</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50" b="0" i="0" u="none" strike="noStrike" dirty="0">
                          <a:solidFill>
                            <a:srgbClr val="000000"/>
                          </a:solidFill>
                          <a:latin typeface="Microsoft JhengHei UI" pitchFamily="34" charset="-120"/>
                          <a:ea typeface="Microsoft JhengHei UI" pitchFamily="34" charset="-120"/>
                        </a:rPr>
                        <a:t>能力描述</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TW" sz="1000" b="0" i="0" u="none" strike="noStrike" dirty="0" smtClean="0">
                          <a:solidFill>
                            <a:srgbClr val="000000"/>
                          </a:solidFill>
                          <a:latin typeface="Microsoft JhengHei UI" pitchFamily="34" charset="-120"/>
                          <a:ea typeface="Microsoft JhengHei UI" pitchFamily="34" charset="-120"/>
                        </a:rPr>
                        <a:t>2-1</a:t>
                      </a:r>
                      <a:endParaRPr lang="en-US" altLang="zh-TW" sz="1000" b="0" i="0" u="none" strike="noStrike" dirty="0" smtClean="0">
                        <a:solidFill>
                          <a:srgbClr val="000000"/>
                        </a:solidFill>
                        <a:latin typeface="Microsoft JhengHei UI" pitchFamily="34" charset="-120"/>
                        <a:ea typeface="Microsoft JhengHei UI" pitchFamily="34" charset="-120"/>
                      </a:endParaRPr>
                    </a:p>
                    <a:p>
                      <a:pPr algn="ctr" fontAlgn="ctr"/>
                      <a:r>
                        <a:rPr lang="zh-CN" altLang="en-US" sz="1000" b="0" i="0" u="none" strike="noStrike" dirty="0" smtClean="0">
                          <a:solidFill>
                            <a:srgbClr val="000000"/>
                          </a:solidFill>
                          <a:latin typeface="Microsoft JhengHei UI" pitchFamily="34" charset="-120"/>
                          <a:ea typeface="Microsoft JhengHei UI" pitchFamily="34" charset="-120"/>
                        </a:rPr>
                        <a:t>研發工程師</a:t>
                      </a:r>
                      <a:endParaRPr lang="zh-TW" altLang="en-US" sz="100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TW" sz="1000" b="0" i="0" u="none" strike="noStrike" dirty="0" smtClean="0">
                          <a:solidFill>
                            <a:srgbClr val="000000"/>
                          </a:solidFill>
                          <a:latin typeface="Microsoft JhengHei UI" pitchFamily="34" charset="-120"/>
                          <a:ea typeface="Microsoft JhengHei UI" pitchFamily="34" charset="-120"/>
                        </a:rPr>
                        <a:t>2-2</a:t>
                      </a:r>
                      <a:endParaRPr lang="en-US" altLang="zh-TW" sz="1000" b="0" i="0" u="none" strike="noStrike" dirty="0" smtClean="0">
                        <a:solidFill>
                          <a:srgbClr val="000000"/>
                        </a:solidFill>
                        <a:latin typeface="Microsoft JhengHei UI" pitchFamily="34" charset="-120"/>
                        <a:ea typeface="Microsoft JhengHei UI" pitchFamily="34" charset="-120"/>
                      </a:endParaRPr>
                    </a:p>
                    <a:p>
                      <a:pPr algn="ctr" fontAlgn="ctr"/>
                      <a:r>
                        <a:rPr lang="zh-CN" altLang="en-US" sz="1000" b="0" i="0" u="none" strike="noStrike" smtClean="0">
                          <a:solidFill>
                            <a:srgbClr val="000000"/>
                          </a:solidFill>
                          <a:latin typeface="Microsoft JhengHei UI" pitchFamily="34" charset="-120"/>
                          <a:ea typeface="Microsoft JhengHei UI" pitchFamily="34" charset="-120"/>
                        </a:rPr>
                        <a:t>研發工程</a:t>
                      </a:r>
                      <a:r>
                        <a:rPr lang="zh-CN" altLang="en-US" sz="1000" b="0" i="0" u="none" strike="noStrike" dirty="0" smtClean="0">
                          <a:solidFill>
                            <a:srgbClr val="000000"/>
                          </a:solidFill>
                          <a:latin typeface="Microsoft JhengHei UI" pitchFamily="34" charset="-120"/>
                          <a:ea typeface="Microsoft JhengHei UI" pitchFamily="34" charset="-120"/>
                        </a:rPr>
                        <a:t>師</a:t>
                      </a:r>
                      <a:endParaRPr lang="zh-TW" altLang="en-US" sz="100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13587">
                <a:tc>
                  <a:txBody>
                    <a:bodyPr/>
                    <a:lstStyle/>
                    <a:p>
                      <a:pPr algn="ctr" fontAlgn="ctr"/>
                      <a:r>
                        <a:rPr lang="zh-CN" altLang="en-US" sz="1050" b="0" i="0" u="none" strike="noStrike" dirty="0" smtClean="0">
                          <a:solidFill>
                            <a:srgbClr val="000000"/>
                          </a:solidFill>
                          <a:latin typeface="Microsoft JhengHei UI" pitchFamily="34" charset="-120"/>
                          <a:ea typeface="Microsoft JhengHei UI" pitchFamily="34" charset="-120"/>
                        </a:rPr>
                        <a:t>技能水平</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smtClean="0">
                          <a:solidFill>
                            <a:srgbClr val="000000"/>
                          </a:solidFill>
                          <a:latin typeface="Microsoft JhengHei UI" pitchFamily="34" charset="-120"/>
                          <a:ea typeface="Microsoft JhengHei UI" pitchFamily="34" charset="-120"/>
                        </a:rPr>
                        <a:t>①熟悉所使用的主要技術，能够独立分析、快速排查和解決問題</a:t>
                      </a:r>
                      <a:endParaRPr lang="zh-TW" altLang="en-US" sz="1100" b="0" i="0" u="none" strike="noStrike" dirty="0" smtClean="0">
                        <a:solidFill>
                          <a:srgbClr val="000000"/>
                        </a:solidFill>
                        <a:latin typeface="Microsoft JhengHei UI" pitchFamily="34" charset="-120"/>
                        <a:ea typeface="Microsoft JhengHei UI" pitchFamily="34" charset="-120"/>
                      </a:endParaRPr>
                    </a:p>
                    <a:p>
                      <a:pPr algn="l" fontAlgn="ctr"/>
                      <a:r>
                        <a:rPr lang="zh-TW" altLang="en-US" sz="1100" b="0" i="0" u="none" strike="noStrike" dirty="0" smtClean="0">
                          <a:solidFill>
                            <a:srgbClr val="000000"/>
                          </a:solidFill>
                          <a:latin typeface="Microsoft JhengHei UI" pitchFamily="34" charset="-120"/>
                          <a:ea typeface="Microsoft JhengHei UI" pitchFamily="34" charset="-120"/>
                        </a:rPr>
                        <a:t>②某一專業領域比較精通，具有一定權威，具备辅导他人的能力和技能</a:t>
                      </a:r>
                      <a:endParaRPr lang="zh-TW" altLang="en-US" sz="1100" b="0" i="0" u="none" strike="noStrike" dirty="0" smtClean="0">
                        <a:solidFill>
                          <a:srgbClr val="000000"/>
                        </a:solidFill>
                        <a:latin typeface="Microsoft JhengHei UI" pitchFamily="34" charset="-120"/>
                        <a:ea typeface="Microsoft JhengHei UI" pitchFamily="34" charset="-120"/>
                      </a:endParaRPr>
                    </a:p>
                    <a:p>
                      <a:pPr algn="l" fontAlgn="ctr"/>
                      <a:r>
                        <a:rPr lang="zh-TW" altLang="en-US" sz="1100" b="0" i="0" u="none" strike="noStrike" dirty="0" smtClean="0">
                          <a:solidFill>
                            <a:srgbClr val="000000"/>
                          </a:solidFill>
                          <a:latin typeface="Microsoft JhengHei UI" pitchFamily="34" charset="-120"/>
                          <a:ea typeface="Microsoft JhengHei UI" pitchFamily="34" charset="-120"/>
                        </a:rPr>
                        <a:t>③主動學習新技能、新知識，充分了解業界某一領域的新技術動向</a:t>
                      </a:r>
                      <a:endParaRPr lang="zh-TW" altLang="en-US" sz="110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TW" sz="1050" b="0" i="0" u="none" strike="noStrike" dirty="0" smtClean="0">
                          <a:solidFill>
                            <a:srgbClr val="000000"/>
                          </a:solidFill>
                          <a:latin typeface="Microsoft JhengHei UI" pitchFamily="34" charset="-120"/>
                          <a:ea typeface="Microsoft JhengHei UI" pitchFamily="34" charset="-120"/>
                        </a:rPr>
                        <a:t>A</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50" b="0" i="0" u="none" strike="noStrike" dirty="0" smtClean="0">
                          <a:solidFill>
                            <a:srgbClr val="000000"/>
                          </a:solidFill>
                          <a:latin typeface="Microsoft JhengHei UI" pitchFamily="34" charset="-120"/>
                          <a:ea typeface="Microsoft JhengHei UI" pitchFamily="34" charset="-120"/>
                        </a:rPr>
                        <a:t>A</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54372">
                <a:tc>
                  <a:txBody>
                    <a:bodyPr/>
                    <a:lstStyle/>
                    <a:p>
                      <a:pPr algn="ctr" fontAlgn="ctr"/>
                      <a:r>
                        <a:rPr lang="zh-TW" altLang="en-US" sz="1050" b="0" i="0" u="none" strike="noStrike" dirty="0" smtClean="0">
                          <a:solidFill>
                            <a:srgbClr val="000000"/>
                          </a:solidFill>
                          <a:latin typeface="Microsoft JhengHei UI" pitchFamily="34" charset="-120"/>
                          <a:ea typeface="Microsoft JhengHei UI" pitchFamily="34" charset="-120"/>
                        </a:rPr>
                        <a:t>新技術應用</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smtClean="0">
                          <a:solidFill>
                            <a:srgbClr val="000000"/>
                          </a:solidFill>
                          <a:latin typeface="Microsoft JhengHei UI" pitchFamily="34" charset="-120"/>
                          <a:ea typeface="Microsoft JhengHei UI" pitchFamily="34" charset="-120"/>
                        </a:rPr>
                        <a:t>①深入瞭解行業趨勢，掌握前沿知識和方法，業界成功經驗和最佳實踐案例</a:t>
                      </a:r>
                      <a:endParaRPr lang="zh-TW" altLang="en-US" sz="1100" b="0" i="0" u="none" strike="noStrike" dirty="0" smtClean="0">
                        <a:solidFill>
                          <a:srgbClr val="000000"/>
                        </a:solidFill>
                        <a:latin typeface="Microsoft JhengHei UI" pitchFamily="34" charset="-120"/>
                        <a:ea typeface="Microsoft JhengHei UI" pitchFamily="34" charset="-120"/>
                      </a:endParaRPr>
                    </a:p>
                    <a:p>
                      <a:pPr algn="l" fontAlgn="ctr"/>
                      <a:r>
                        <a:rPr lang="zh-TW" altLang="en-US" sz="1100" b="0" i="0" u="none" strike="noStrike" dirty="0" smtClean="0">
                          <a:solidFill>
                            <a:srgbClr val="000000"/>
                          </a:solidFill>
                          <a:latin typeface="Microsoft JhengHei UI" pitchFamily="34" charset="-120"/>
                          <a:ea typeface="Microsoft JhengHei UI" pitchFamily="34" charset="-120"/>
                        </a:rPr>
                        <a:t>②結合業務實際成功導入有價值的技術，并在組織內部推廣適用</a:t>
                      </a:r>
                      <a:endParaRPr lang="zh-TW" altLang="en-US" sz="1100" b="0" i="0" u="none" strike="noStrike" dirty="0" smtClean="0">
                        <a:solidFill>
                          <a:srgbClr val="000000"/>
                        </a:solidFill>
                        <a:latin typeface="Microsoft JhengHei UI" pitchFamily="34" charset="-120"/>
                        <a:ea typeface="Microsoft JhengHei UI" pitchFamily="34" charset="-120"/>
                      </a:endParaRPr>
                    </a:p>
                    <a:p>
                      <a:pPr algn="l" fontAlgn="ctr"/>
                      <a:r>
                        <a:rPr lang="zh-TW" altLang="en-US" sz="1100" b="0" i="0" u="none" strike="noStrike" dirty="0" smtClean="0">
                          <a:solidFill>
                            <a:srgbClr val="000000"/>
                          </a:solidFill>
                          <a:latin typeface="Microsoft JhengHei UI" pitchFamily="34" charset="-120"/>
                          <a:ea typeface="Microsoft JhengHei UI" pitchFamily="34" charset="-120"/>
                        </a:rPr>
                        <a:t>③導入新方法和新技術，能產生實際效益，並進行優化升級，形成系統體系</a:t>
                      </a:r>
                      <a:endParaRPr lang="zh-TW" altLang="en-US" sz="110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TW" sz="1050" b="0" i="0" u="none" strike="noStrike" dirty="0" smtClean="0">
                          <a:solidFill>
                            <a:srgbClr val="000000"/>
                          </a:solidFill>
                          <a:latin typeface="Microsoft JhengHei UI" pitchFamily="34" charset="-120"/>
                          <a:ea typeface="Microsoft JhengHei UI" pitchFamily="34" charset="-120"/>
                        </a:rPr>
                        <a:t>B</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50" b="0" i="0" u="none" strike="noStrike" dirty="0" smtClean="0">
                          <a:solidFill>
                            <a:srgbClr val="000000"/>
                          </a:solidFill>
                          <a:latin typeface="Microsoft JhengHei UI" pitchFamily="34" charset="-120"/>
                          <a:ea typeface="Microsoft JhengHei UI" pitchFamily="34" charset="-120"/>
                        </a:rPr>
                        <a:t>B</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731130">
                <a:tc>
                  <a:txBody>
                    <a:bodyPr/>
                    <a:lstStyle/>
                    <a:p>
                      <a:pPr algn="ctr" fontAlgn="ctr"/>
                      <a:r>
                        <a:rPr lang="zh-TW" altLang="en-US" sz="1050" b="0" i="0" u="none" strike="noStrike" dirty="0" smtClean="0">
                          <a:solidFill>
                            <a:srgbClr val="000000"/>
                          </a:solidFill>
                          <a:latin typeface="Microsoft JhengHei UI" pitchFamily="34" charset="-120"/>
                          <a:ea typeface="Microsoft JhengHei UI" pitchFamily="34" charset="-120"/>
                        </a:rPr>
                        <a:t>專案管理</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smtClean="0">
                          <a:solidFill>
                            <a:srgbClr val="000000"/>
                          </a:solidFill>
                          <a:latin typeface="Microsoft JhengHei UI" pitchFamily="34" charset="-120"/>
                          <a:ea typeface="Microsoft JhengHei UI" pitchFamily="34" charset="-120"/>
                        </a:rPr>
                        <a:t>①專案资源配置與運用：有效控制專案成本，利用最少的成本實現最大效益</a:t>
                      </a:r>
                      <a:endParaRPr lang="zh-TW" altLang="en-US" sz="1100" b="0" i="0" u="none" strike="noStrike" dirty="0" smtClean="0">
                        <a:solidFill>
                          <a:srgbClr val="000000"/>
                        </a:solidFill>
                        <a:latin typeface="Microsoft JhengHei UI" pitchFamily="34" charset="-120"/>
                        <a:ea typeface="Microsoft JhengHei UI" pitchFamily="34" charset="-120"/>
                      </a:endParaRPr>
                    </a:p>
                    <a:p>
                      <a:pPr algn="l" fontAlgn="ctr"/>
                      <a:r>
                        <a:rPr lang="zh-TW" altLang="en-US" sz="1100" b="0" i="0" u="none" strike="noStrike" dirty="0" smtClean="0">
                          <a:solidFill>
                            <a:srgbClr val="000000"/>
                          </a:solidFill>
                          <a:latin typeface="Microsoft JhengHei UI" pitchFamily="34" charset="-120"/>
                          <a:ea typeface="Microsoft JhengHei UI" pitchFamily="34" charset="-120"/>
                        </a:rPr>
                        <a:t>②專案時程掌控：進行有效合理分解及優先級排序，確保專案按期交付</a:t>
                      </a:r>
                      <a:endParaRPr lang="zh-TW" altLang="en-US" sz="1100" b="0" i="0" u="none" strike="noStrike" dirty="0" smtClean="0">
                        <a:solidFill>
                          <a:srgbClr val="000000"/>
                        </a:solidFill>
                        <a:latin typeface="Microsoft JhengHei UI" pitchFamily="34" charset="-120"/>
                        <a:ea typeface="Microsoft JhengHei UI" pitchFamily="34" charset="-120"/>
                      </a:endParaRPr>
                    </a:p>
                    <a:p>
                      <a:pPr algn="l" fontAlgn="ctr"/>
                      <a:r>
                        <a:rPr lang="zh-TW" altLang="en-US" sz="1100" b="0" i="0" u="none" strike="noStrike" dirty="0" smtClean="0">
                          <a:solidFill>
                            <a:srgbClr val="000000"/>
                          </a:solidFill>
                          <a:latin typeface="Microsoft JhengHei UI" pitchFamily="34" charset="-120"/>
                          <a:ea typeface="Microsoft JhengHei UI" pitchFamily="34" charset="-120"/>
                        </a:rPr>
                        <a:t>③專案風險評估：能有針對性的制定風險應對措施，有效控制風險</a:t>
                      </a:r>
                      <a:endParaRPr lang="zh-TW" altLang="en-US" sz="1100" b="0" i="0" u="none" strike="noStrike" dirty="0" smtClean="0">
                        <a:solidFill>
                          <a:srgbClr val="000000"/>
                        </a:solidFill>
                        <a:latin typeface="Microsoft JhengHei UI" pitchFamily="34" charset="-120"/>
                        <a:ea typeface="Microsoft JhengHei UI" pitchFamily="34" charset="-120"/>
                      </a:endParaRPr>
                    </a:p>
                    <a:p>
                      <a:pPr algn="l" fontAlgn="ctr"/>
                      <a:r>
                        <a:rPr lang="zh-TW" altLang="en-US" sz="1100" b="0" i="0" u="none" strike="noStrike" dirty="0" smtClean="0">
                          <a:solidFill>
                            <a:srgbClr val="000000"/>
                          </a:solidFill>
                          <a:latin typeface="Microsoft JhengHei UI" pitchFamily="34" charset="-120"/>
                          <a:ea typeface="Microsoft JhengHei UI" pitchFamily="34" charset="-120"/>
                        </a:rPr>
                        <a:t>④專案質量管控：确保專案成果達到用戶所期望的質量要求</a:t>
                      </a:r>
                      <a:endParaRPr lang="zh-TW" altLang="en-US" sz="110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50" b="0" i="0" u="none" strike="noStrike" dirty="0" smtClean="0">
                          <a:solidFill>
                            <a:srgbClr val="000000"/>
                          </a:solidFill>
                          <a:latin typeface="Microsoft JhengHei UI" pitchFamily="34" charset="-120"/>
                          <a:ea typeface="Microsoft JhengHei UI" pitchFamily="34" charset="-120"/>
                        </a:rPr>
                        <a:t>C</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50" b="0" i="0" u="none" strike="noStrike" dirty="0" smtClean="0">
                          <a:solidFill>
                            <a:srgbClr val="000000"/>
                          </a:solidFill>
                          <a:latin typeface="Microsoft JhengHei UI" pitchFamily="34" charset="-120"/>
                          <a:ea typeface="Microsoft JhengHei UI" pitchFamily="34" charset="-120"/>
                        </a:rPr>
                        <a:t>B</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54373">
                <a:tc>
                  <a:txBody>
                    <a:bodyPr/>
                    <a:lstStyle/>
                    <a:p>
                      <a:pPr algn="ctr" fontAlgn="ctr"/>
                      <a:r>
                        <a:rPr lang="zh-TW" altLang="en-US" sz="1050" b="0" i="0" u="none" strike="noStrike" dirty="0" smtClean="0">
                          <a:solidFill>
                            <a:srgbClr val="000000"/>
                          </a:solidFill>
                          <a:latin typeface="Microsoft JhengHei UI" pitchFamily="34" charset="-120"/>
                          <a:ea typeface="Microsoft JhengHei UI" pitchFamily="34" charset="-120"/>
                        </a:rPr>
                        <a:t>人才培育</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smtClean="0">
                          <a:solidFill>
                            <a:srgbClr val="000000"/>
                          </a:solidFill>
                          <a:latin typeface="Microsoft JhengHei UI" pitchFamily="34" charset="-120"/>
                          <a:ea typeface="Microsoft JhengHei UI" pitchFamily="34" charset="-120"/>
                        </a:rPr>
                        <a:t>①能結合員工績效、技術能力特點，制定針對性的培養計劃幷指導實施</a:t>
                      </a:r>
                      <a:endParaRPr lang="zh-TW" altLang="en-US" sz="1100" b="0" i="0" u="none" strike="noStrike" dirty="0" smtClean="0">
                        <a:solidFill>
                          <a:srgbClr val="000000"/>
                        </a:solidFill>
                        <a:latin typeface="Microsoft JhengHei UI" pitchFamily="34" charset="-120"/>
                        <a:ea typeface="Microsoft JhengHei UI" pitchFamily="34" charset="-120"/>
                      </a:endParaRPr>
                    </a:p>
                    <a:p>
                      <a:pPr algn="l" fontAlgn="ctr"/>
                      <a:r>
                        <a:rPr lang="zh-TW" altLang="en-US" sz="1100" b="0" i="0" u="none" strike="noStrike" dirty="0" smtClean="0">
                          <a:solidFill>
                            <a:srgbClr val="000000"/>
                          </a:solidFill>
                          <a:latin typeface="Microsoft JhengHei UI" pitchFamily="34" charset="-120"/>
                          <a:ea typeface="Microsoft JhengHei UI" pitchFamily="34" charset="-120"/>
                        </a:rPr>
                        <a:t>②履行導師職責，做好團隊教練，及時輔導，合理授權</a:t>
                      </a:r>
                      <a:endParaRPr lang="zh-TW" altLang="en-US" sz="1100" b="0" i="0" u="none" strike="noStrike" dirty="0" smtClean="0">
                        <a:solidFill>
                          <a:srgbClr val="000000"/>
                        </a:solidFill>
                        <a:latin typeface="Microsoft JhengHei UI" pitchFamily="34" charset="-120"/>
                        <a:ea typeface="Microsoft JhengHei UI" pitchFamily="34" charset="-120"/>
                      </a:endParaRPr>
                    </a:p>
                    <a:p>
                      <a:pPr algn="l" fontAlgn="ctr"/>
                      <a:r>
                        <a:rPr lang="zh-TW" altLang="en-US" sz="1100" b="0" i="0" u="none" strike="noStrike" dirty="0" smtClean="0">
                          <a:solidFill>
                            <a:srgbClr val="000000"/>
                          </a:solidFill>
                          <a:latin typeface="Microsoft JhengHei UI" pitchFamily="34" charset="-120"/>
                          <a:ea typeface="Microsoft JhengHei UI" pitchFamily="34" charset="-120"/>
                        </a:rPr>
                        <a:t>③人才培育養成輸出，爲組織做出貢獻</a:t>
                      </a:r>
                      <a:endParaRPr lang="zh-TW" altLang="en-US" sz="110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TW" sz="1050" b="0" i="0" u="none" strike="noStrike" dirty="0" smtClean="0">
                          <a:solidFill>
                            <a:srgbClr val="000000"/>
                          </a:solidFill>
                          <a:latin typeface="Microsoft JhengHei UI" pitchFamily="34" charset="-120"/>
                          <a:ea typeface="Microsoft JhengHei UI" pitchFamily="34" charset="-120"/>
                        </a:rPr>
                        <a:t>/</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050" b="0" i="0" u="none" strike="noStrike" dirty="0" smtClean="0">
                          <a:solidFill>
                            <a:srgbClr val="000000"/>
                          </a:solidFill>
                          <a:latin typeface="Microsoft JhengHei UI" pitchFamily="34" charset="-120"/>
                          <a:ea typeface="Microsoft JhengHei UI" pitchFamily="34" charset="-120"/>
                        </a:rPr>
                        <a:t>C</a:t>
                      </a:r>
                      <a:endParaRPr lang="zh-TW" altLang="en-US" sz="1050" b="0" i="0" u="none" strike="noStrike" dirty="0" smtClean="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816766">
                <a:tc gridSpan="4">
                  <a:txBody>
                    <a:bodyPr/>
                    <a:lstStyle/>
                    <a:p>
                      <a:pPr algn="l" fontAlgn="ctr"/>
                      <a:r>
                        <a:rPr lang="zh-CN" altLang="en-US" sz="1050" b="0" i="0" u="none" strike="noStrike" dirty="0" smtClean="0">
                          <a:solidFill>
                            <a:srgbClr val="000000"/>
                          </a:solidFill>
                          <a:latin typeface="Microsoft JhengHei UI" pitchFamily="34" charset="-120"/>
                          <a:ea typeface="Microsoft JhengHei UI" pitchFamily="34" charset="-120"/>
                        </a:rPr>
                        <a:t>程度說明</a:t>
                      </a:r>
                      <a:r>
                        <a:rPr lang="zh-TW" altLang="en-US" sz="1050" b="0" i="0" u="none" strike="noStrike" dirty="0" smtClean="0">
                          <a:solidFill>
                            <a:srgbClr val="000000"/>
                          </a:solidFill>
                          <a:latin typeface="Microsoft JhengHei UI" pitchFamily="34" charset="-120"/>
                          <a:ea typeface="Microsoft JhengHei UI" pitchFamily="34" charset="-120"/>
                        </a:rPr>
                        <a:t>：</a:t>
                      </a:r>
                      <a:br>
                        <a:rPr lang="zh-TW" altLang="en-US" sz="1050" b="0" i="0" u="none" strike="noStrike" dirty="0">
                          <a:solidFill>
                            <a:srgbClr val="000000"/>
                          </a:solidFill>
                          <a:latin typeface="Microsoft JhengHei UI" pitchFamily="34" charset="-120"/>
                          <a:ea typeface="Microsoft JhengHei UI" pitchFamily="34" charset="-120"/>
                        </a:rPr>
                      </a:br>
                      <a:r>
                        <a:rPr lang="en-US" altLang="zh-TW" sz="1050" b="0" i="0" u="none" strike="noStrike" dirty="0" smtClean="0">
                          <a:solidFill>
                            <a:srgbClr val="000000"/>
                          </a:solidFill>
                          <a:latin typeface="Microsoft JhengHei UI" pitchFamily="34" charset="-120"/>
                          <a:ea typeface="Microsoft JhengHei UI" pitchFamily="34" charset="-120"/>
                        </a:rPr>
                        <a:t>【A】</a:t>
                      </a:r>
                      <a:r>
                        <a:rPr lang="zh-TW" altLang="en-US" sz="1050" b="0" i="0" u="none" strike="noStrike" dirty="0" smtClean="0">
                          <a:solidFill>
                            <a:srgbClr val="000000"/>
                          </a:solidFill>
                          <a:latin typeface="Microsoft JhengHei UI" pitchFamily="34" charset="-120"/>
                          <a:ea typeface="Microsoft JhengHei UI" pitchFamily="34" charset="-120"/>
                        </a:rPr>
                        <a:t>水平高，完全可以成爲他人學習的楷模 </a:t>
                      </a:r>
                      <a:endParaRPr lang="zh-TW" altLang="en-US" sz="1050" b="0" i="0" u="none" strike="noStrike" dirty="0" smtClean="0">
                        <a:solidFill>
                          <a:srgbClr val="000000"/>
                        </a:solidFill>
                        <a:latin typeface="Microsoft JhengHei UI" pitchFamily="34" charset="-120"/>
                        <a:ea typeface="Microsoft JhengHei UI" pitchFamily="34" charset="-120"/>
                      </a:endParaRPr>
                    </a:p>
                    <a:p>
                      <a:pPr algn="l" fontAlgn="ctr"/>
                      <a:r>
                        <a:rPr lang="en-US" altLang="zh-TW" sz="1050" b="0" i="0" u="none" strike="noStrike" dirty="0" smtClean="0">
                          <a:solidFill>
                            <a:srgbClr val="000000"/>
                          </a:solidFill>
                          <a:latin typeface="Microsoft JhengHei UI" pitchFamily="34" charset="-120"/>
                          <a:ea typeface="Microsoft JhengHei UI" pitchFamily="34" charset="-120"/>
                        </a:rPr>
                        <a:t>【B】</a:t>
                      </a:r>
                      <a:r>
                        <a:rPr lang="zh-TW" altLang="en-US" sz="1050" b="0" i="0" u="none" strike="noStrike" dirty="0" smtClean="0">
                          <a:solidFill>
                            <a:srgbClr val="000000"/>
                          </a:solidFill>
                          <a:latin typeface="Microsoft JhengHei UI" pitchFamily="34" charset="-120"/>
                          <a:ea typeface="Microsoft JhengHei UI" pitchFamily="34" charset="-120"/>
                        </a:rPr>
                        <a:t>能夠熟練和持續的展現狀態，已具備成功經驗和方法</a:t>
                      </a:r>
                      <a:endParaRPr lang="en-US" altLang="zh-TW" sz="1050" b="0" i="0" u="none" strike="noStrike" dirty="0" smtClean="0">
                        <a:solidFill>
                          <a:srgbClr val="000000"/>
                        </a:solidFill>
                        <a:latin typeface="Microsoft JhengHei UI" pitchFamily="34" charset="-120"/>
                        <a:ea typeface="Microsoft JhengHei UI" pitchFamily="34" charset="-120"/>
                      </a:endParaRPr>
                    </a:p>
                    <a:p>
                      <a:pPr algn="l" fontAlgn="ctr"/>
                      <a:r>
                        <a:rPr lang="en-US" altLang="zh-TW" sz="1050" b="0" i="0" u="none" strike="noStrike" dirty="0" smtClean="0">
                          <a:solidFill>
                            <a:srgbClr val="000000"/>
                          </a:solidFill>
                          <a:latin typeface="Microsoft JhengHei UI" pitchFamily="34" charset="-120"/>
                          <a:ea typeface="Microsoft JhengHei UI" pitchFamily="34" charset="-120"/>
                        </a:rPr>
                        <a:t>【C】</a:t>
                      </a:r>
                      <a:r>
                        <a:rPr lang="zh-TW" altLang="en-US" sz="1050" b="0" i="0" u="none" strike="noStrike" dirty="0" smtClean="0">
                          <a:solidFill>
                            <a:srgbClr val="000000"/>
                          </a:solidFill>
                          <a:latin typeface="Microsoft JhengHei UI" pitchFamily="34" charset="-120"/>
                          <a:ea typeface="Microsoft JhengHei UI" pitchFamily="34" charset="-120"/>
                        </a:rPr>
                        <a:t>能展現出基本的狀態和意識，掌握一定的基本方法</a:t>
                      </a:r>
                      <a:endParaRPr lang="zh-TW" altLang="en-US" sz="1050" b="0" i="0" u="none" strike="noStrike" dirty="0">
                        <a:solidFill>
                          <a:srgbClr val="000000"/>
                        </a:solidFill>
                        <a:latin typeface="Microsoft JhengHei UI" pitchFamily="34" charset="-120"/>
                        <a:ea typeface="Microsoft JhengHei UI"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c hMerge="1">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1031363" y="1463314"/>
          <a:ext cx="10129275" cy="4233780"/>
        </p:xfrm>
        <a:graphic>
          <a:graphicData uri="http://schemas.openxmlformats.org/drawingml/2006/table">
            <a:tbl>
              <a:tblPr/>
              <a:tblGrid>
                <a:gridCol w="872841"/>
                <a:gridCol w="937497"/>
                <a:gridCol w="2025574"/>
                <a:gridCol w="786917"/>
                <a:gridCol w="883617"/>
                <a:gridCol w="224941"/>
                <a:gridCol w="1650053"/>
                <a:gridCol w="872841"/>
                <a:gridCol w="1874994"/>
              </a:tblGrid>
              <a:tr h="423378">
                <a:tc gridSpan="9">
                  <a:txBody>
                    <a:bodyPr/>
                    <a:lstStyle/>
                    <a:p>
                      <a:pPr algn="l" fontAlgn="ctr"/>
                      <a:r>
                        <a:rPr lang="zh-CN" altLang="en-US" sz="1200" b="1" i="0" u="none" strike="noStrike" dirty="0">
                          <a:solidFill>
                            <a:srgbClr val="000000"/>
                          </a:solidFill>
                          <a:latin typeface="微软雅黑" panose="020B0503020204020204" pitchFamily="34" charset="-122"/>
                          <a:ea typeface="微软雅黑" panose="020B0503020204020204" pitchFamily="34" charset="-122"/>
                        </a:rPr>
                        <a:t>基本信息</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cPr/>
                </a:tc>
                <a:tc hMerge="1">
                  <a:tcPr/>
                </a:tc>
                <a:tc hMerge="1">
                  <a:tcPr/>
                </a:tc>
                <a:tc hMerge="1">
                  <a:tcPr/>
                </a:tc>
                <a:tc hMerge="1">
                  <a:tcPr/>
                </a:tc>
                <a:tc hMerge="1">
                  <a:tcPr/>
                </a:tc>
                <a:tc hMerge="1">
                  <a:tcPr/>
                </a:tc>
                <a:tc hMerge="1">
                  <a:tcPr/>
                </a:tc>
              </a:tr>
              <a:tr h="423378">
                <a:tc>
                  <a:txBody>
                    <a:bodyPr/>
                    <a:lstStyle/>
                    <a:p>
                      <a:pPr algn="ctr" fontAlgn="ctr"/>
                      <a:r>
                        <a:rPr lang="zh-CN" altLang="en-US" sz="1200" b="1" i="0" u="none" strike="noStrike" dirty="0">
                          <a:solidFill>
                            <a:srgbClr val="000000"/>
                          </a:solidFill>
                          <a:latin typeface="微软雅黑" panose="020B0503020204020204" pitchFamily="34" charset="-122"/>
                          <a:ea typeface="微软雅黑" panose="020B0503020204020204" pitchFamily="34" charset="-122"/>
                        </a:rPr>
                        <a:t>姓名</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zh-CN" altLang="en-US" sz="1200" b="0" i="0" u="none" strike="noStrike" dirty="0" smtClean="0">
                          <a:solidFill>
                            <a:srgbClr val="000000"/>
                          </a:solidFill>
                          <a:latin typeface="微软雅黑" panose="020B0503020204020204" pitchFamily="34" charset="-122"/>
                          <a:ea typeface="微软雅黑" panose="020B0503020204020204" pitchFamily="34" charset="-122"/>
                        </a:rPr>
                        <a:t>王磊</a:t>
                      </a:r>
                      <a:r>
                        <a:rPr lang="zh-CN" altLang="en-US" sz="1200" b="0" i="0" u="none" strike="noStrike" dirty="0">
                          <a:solidFill>
                            <a:srgbClr val="000000"/>
                          </a:solidFill>
                          <a:latin typeface="微软雅黑" panose="020B0503020204020204" pitchFamily="34" charset="-122"/>
                          <a:ea typeface="微软雅黑" panose="020B0503020204020204" pitchFamily="34" charset="-122"/>
                        </a:rPr>
                        <a:t>　</a:t>
                      </a:r>
                      <a:endParaRPr lang="zh-CN" altLang="en-US" sz="12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c>
                  <a:txBody>
                    <a:bodyPr/>
                    <a:lstStyle/>
                    <a:p>
                      <a:pPr algn="ctr" fontAlgn="ct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年齡</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altLang="zh-CN" sz="1200" b="0" i="0" u="none" strike="noStrike" dirty="0" smtClean="0">
                          <a:solidFill>
                            <a:srgbClr val="000000"/>
                          </a:solidFill>
                          <a:latin typeface="微软雅黑" panose="020B0503020204020204" pitchFamily="34" charset="-122"/>
                          <a:ea typeface="微软雅黑" panose="020B0503020204020204" pitchFamily="34" charset="-122"/>
                        </a:rPr>
                        <a:t>36</a:t>
                      </a:r>
                      <a:endParaRPr lang="zh-CN" altLang="en-US" sz="12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資位</a:t>
                      </a:r>
                      <a:endParaRPr lang="zh-CN" altLang="en-US" sz="1200" b="1" i="0" u="none" strike="noStrike" dirty="0" smtClean="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smtClean="0">
                          <a:solidFill>
                            <a:srgbClr val="000000"/>
                          </a:solidFill>
                          <a:latin typeface="微软雅黑" panose="020B0503020204020204" pitchFamily="34" charset="-122"/>
                          <a:ea typeface="微软雅黑" panose="020B0503020204020204" pitchFamily="34" charset="-122"/>
                        </a:rPr>
                        <a:t>師</a:t>
                      </a:r>
                      <a:r>
                        <a:rPr lang="en-US" altLang="zh-CN" sz="1200" b="0" i="0" u="none" strike="noStrike" dirty="0" smtClean="0">
                          <a:solidFill>
                            <a:srgbClr val="000000"/>
                          </a:solidFill>
                          <a:latin typeface="微软雅黑" panose="020B0503020204020204" pitchFamily="34" charset="-122"/>
                          <a:ea typeface="微软雅黑" panose="020B0503020204020204" pitchFamily="34" charset="-122"/>
                        </a:rPr>
                        <a:t>4</a:t>
                      </a:r>
                      <a:endParaRPr lang="zh-CN" altLang="en-US" sz="12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23378">
                <a:tc>
                  <a:txBody>
                    <a:bodyPr/>
                    <a:lstStyle/>
                    <a:p>
                      <a:pPr algn="ctr" fontAlgn="ct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學歷</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zh-CN" altLang="en-US" sz="1200" b="0" i="0" u="none" strike="noStrike" dirty="0" smtClean="0">
                          <a:solidFill>
                            <a:srgbClr val="000000"/>
                          </a:solidFill>
                          <a:latin typeface="微软雅黑" panose="020B0503020204020204" pitchFamily="34" charset="-122"/>
                          <a:ea typeface="微软雅黑" panose="020B0503020204020204" pitchFamily="34" charset="-122"/>
                        </a:rPr>
                        <a:t>本科</a:t>
                      </a:r>
                      <a:endParaRPr lang="zh-CN" altLang="en-US" sz="12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c>
                  <a:txBody>
                    <a:bodyPr/>
                    <a:lstStyle/>
                    <a:p>
                      <a:pPr algn="ctr" fontAlgn="ct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畢業學校</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1200" b="0" i="0" u="none" strike="noStrike" dirty="0" smtClean="0">
                          <a:solidFill>
                            <a:srgbClr val="000000"/>
                          </a:solidFill>
                          <a:latin typeface="微软雅黑" panose="020B0503020204020204" pitchFamily="34" charset="-122"/>
                          <a:ea typeface="微软雅黑" panose="020B0503020204020204" pitchFamily="34" charset="-122"/>
                        </a:rPr>
                        <a:t>北京交通大學</a:t>
                      </a:r>
                      <a:endParaRPr lang="zh-CN" altLang="en-US" sz="12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a:txBody>
                    <a:bodyPr/>
                    <a:lstStyle/>
                    <a:p>
                      <a:pPr algn="ctr" fontAlgn="ct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專業</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smtClean="0">
                          <a:solidFill>
                            <a:srgbClr val="000000"/>
                          </a:solidFill>
                          <a:latin typeface="微软雅黑" panose="020B0503020204020204" pitchFamily="34" charset="-122"/>
                          <a:ea typeface="微软雅黑" panose="020B0503020204020204" pitchFamily="34" charset="-122"/>
                        </a:rPr>
                        <a:t>計算機科學與技術</a:t>
                      </a:r>
                      <a:endParaRPr lang="zh-CN" altLang="en-US" sz="12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23378">
                <a:tc>
                  <a:txBody>
                    <a:bodyPr/>
                    <a:lstStyle/>
                    <a:p>
                      <a:pPr algn="ctr" fontAlgn="ct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現部門</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200" b="0" i="0" u="none" strike="noStrike" dirty="0" smtClean="0">
                          <a:solidFill>
                            <a:srgbClr val="000000"/>
                          </a:solidFill>
                          <a:latin typeface="微软雅黑" panose="020B0503020204020204" pitchFamily="34" charset="-122"/>
                          <a:ea typeface="微软雅黑" panose="020B0503020204020204" pitchFamily="34" charset="-122"/>
                        </a:rPr>
                        <a:t>精益系統管理開發中心</a:t>
                      </a:r>
                      <a:r>
                        <a:rPr lang="en-US" altLang="zh-CN" sz="1200" b="0" i="0" u="none" strike="noStrike" dirty="0" smtClean="0">
                          <a:solidFill>
                            <a:srgbClr val="000000"/>
                          </a:solidFill>
                          <a:latin typeface="微软雅黑" panose="020B0503020204020204" pitchFamily="34" charset="-122"/>
                          <a:ea typeface="微软雅黑" panose="020B0503020204020204" pitchFamily="34" charset="-122"/>
                        </a:rPr>
                        <a:t>/</a:t>
                      </a:r>
                      <a:r>
                        <a:rPr lang="en-US" altLang="zh-CN" sz="1200" b="0" i="0" u="none" strike="noStrike" dirty="0" err="1" smtClean="0">
                          <a:solidFill>
                            <a:srgbClr val="000000"/>
                          </a:solidFill>
                          <a:latin typeface="微软雅黑" panose="020B0503020204020204" pitchFamily="34" charset="-122"/>
                          <a:ea typeface="微软雅黑" panose="020B0503020204020204" pitchFamily="34" charset="-122"/>
                        </a:rPr>
                        <a:t>園區管理系統開發部</a:t>
                      </a:r>
                      <a:r>
                        <a:rPr lang="zh-CN" altLang="en-US" sz="1200" b="0" i="0" u="none" strike="noStrike" dirty="0">
                          <a:solidFill>
                            <a:srgbClr val="000000"/>
                          </a:solidFill>
                          <a:latin typeface="微软雅黑" panose="020B0503020204020204" pitchFamily="34" charset="-122"/>
                          <a:ea typeface="微软雅黑" panose="020B0503020204020204" pitchFamily="34" charset="-122"/>
                        </a:rPr>
                        <a:t>　</a:t>
                      </a:r>
                      <a:endParaRPr lang="zh-CN" altLang="en-US" sz="12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c>
                  <a:txBody>
                    <a:bodyPr/>
                    <a:lstStyle/>
                    <a:p>
                      <a:pPr algn="ctr" fontAlgn="ct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申報職級</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0" i="0" u="none" strike="noStrike" dirty="0" smtClean="0">
                          <a:solidFill>
                            <a:srgbClr val="000000"/>
                          </a:solidFill>
                          <a:latin typeface="微软雅黑" panose="020B0503020204020204" pitchFamily="34" charset="-122"/>
                          <a:ea typeface="微软雅黑" panose="020B0503020204020204" pitchFamily="34" charset="-122"/>
                        </a:rPr>
                        <a:t>2-2</a:t>
                      </a:r>
                      <a:r>
                        <a:rPr lang="zh-CN" altLang="en-US" sz="1200" b="0" i="0" u="none" strike="noStrike" dirty="0" smtClean="0">
                          <a:solidFill>
                            <a:srgbClr val="000000"/>
                          </a:solidFill>
                          <a:latin typeface="微软雅黑" panose="020B0503020204020204" pitchFamily="34" charset="-122"/>
                          <a:ea typeface="微软雅黑" panose="020B0503020204020204" pitchFamily="34" charset="-122"/>
                        </a:rPr>
                        <a:t>研發工程師</a:t>
                      </a:r>
                      <a:endParaRPr lang="zh-CN" altLang="en-US" sz="1200" b="0" i="0" u="none" strike="noStrike" dirty="0" smtClean="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集團年資</a:t>
                      </a:r>
                      <a:endParaRPr lang="zh-CN" altLang="en-US" sz="1200" b="1" i="0" u="none" strike="noStrike" dirty="0" smtClean="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smtClean="0">
                          <a:solidFill>
                            <a:srgbClr val="000000"/>
                          </a:solidFill>
                          <a:latin typeface="微软雅黑" panose="020B0503020204020204" pitchFamily="34" charset="-122"/>
                          <a:ea typeface="微软雅黑" panose="020B0503020204020204" pitchFamily="34" charset="-122"/>
                        </a:rPr>
                        <a:t>14.4</a:t>
                      </a:r>
                      <a:endParaRPr lang="zh-CN" altLang="en-US" sz="12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23378">
                <a:tc gridSpan="9">
                  <a:txBody>
                    <a:bodyPr/>
                    <a:lstStyle/>
                    <a:p>
                      <a:pPr algn="l" fontAlgn="ct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工作履歷（從集團外經歷起，倒序填寫）</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cPr/>
                </a:tc>
                <a:tc hMerge="1">
                  <a:tcPr/>
                </a:tc>
                <a:tc hMerge="1">
                  <a:tcPr/>
                </a:tc>
                <a:tc hMerge="1">
                  <a:tcPr/>
                </a:tc>
                <a:tc hMerge="1">
                  <a:tcPr/>
                </a:tc>
                <a:tc hMerge="1">
                  <a:tcPr/>
                </a:tc>
                <a:tc hMerge="1">
                  <a:tcPr/>
                </a:tc>
                <a:tc hMerge="1">
                  <a:tcPr/>
                </a:tc>
              </a:tr>
              <a:tr h="423378">
                <a:tc gridSpan="2">
                  <a:txBody>
                    <a:bodyPr/>
                    <a:lstStyle/>
                    <a:p>
                      <a:pPr algn="ctr" fontAlgn="ct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起止時間</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a:txBody>
                    <a:bodyPr/>
                    <a:lstStyle/>
                    <a:p>
                      <a:pPr algn="ctr" fontAlgn="ct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任職單位</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崗位</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c gridSpan="3">
                  <a:txBody>
                    <a:bodyPr/>
                    <a:lstStyle/>
                    <a:p>
                      <a:pPr algn="ctr" fontAlgn="ctr"/>
                      <a:r>
                        <a:rPr lang="zh-CN" altLang="en-US" sz="1200" b="1" i="0" u="none" strike="noStrike" dirty="0" smtClean="0">
                          <a:solidFill>
                            <a:srgbClr val="000000"/>
                          </a:solidFill>
                          <a:latin typeface="微软雅黑" panose="020B0503020204020204" pitchFamily="34" charset="-122"/>
                          <a:ea typeface="微软雅黑" panose="020B0503020204020204" pitchFamily="34" charset="-122"/>
                        </a:rPr>
                        <a:t>工作執掌</a:t>
                      </a:r>
                      <a:endParaRPr lang="zh-CN" altLang="en-US" sz="1200" b="1"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r>
              <a:tr h="423378">
                <a:tc gridSpan="2">
                  <a:txBody>
                    <a:bodyPr/>
                    <a:lstStyle/>
                    <a:p>
                      <a:pPr algn="ctr" fontAlgn="ctr"/>
                      <a:r>
                        <a:rPr lang="en-US" altLang="zh-CN" sz="1300" b="0" i="0" u="none" strike="noStrike" dirty="0" smtClean="0">
                          <a:solidFill>
                            <a:srgbClr val="000000"/>
                          </a:solidFill>
                          <a:latin typeface="微软雅黑" panose="020B0503020204020204" pitchFamily="34" charset="-122"/>
                          <a:ea typeface="微软雅黑" panose="020B0503020204020204" pitchFamily="34" charset="-122"/>
                        </a:rPr>
                        <a:t>2017.04-</a:t>
                      </a:r>
                      <a:r>
                        <a:rPr lang="zh-CN" altLang="en-US" sz="1300" b="0" i="0" u="none" strike="noStrike" dirty="0">
                          <a:solidFill>
                            <a:srgbClr val="000000"/>
                          </a:solidFill>
                          <a:latin typeface="微软雅黑" panose="020B0503020204020204" pitchFamily="34" charset="-122"/>
                          <a:ea typeface="微软雅黑" panose="020B0503020204020204" pitchFamily="34" charset="-122"/>
                        </a:rPr>
                        <a:t>至今</a:t>
                      </a:r>
                      <a:endParaRPr lang="zh-CN" altLang="en-US" sz="13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a:txBody>
                    <a:bodyPr/>
                    <a:lstStyle/>
                    <a:p>
                      <a:pPr algn="ctr" fontAlgn="ctr"/>
                      <a:r>
                        <a:rPr lang="zh-CN" altLang="en-US" sz="1300" b="0" i="0" u="none" strike="noStrike" dirty="0">
                          <a:solidFill>
                            <a:srgbClr val="000000"/>
                          </a:solidFill>
                          <a:latin typeface="微软雅黑" panose="020B0503020204020204" pitchFamily="34" charset="-122"/>
                          <a:ea typeface="微软雅黑" panose="020B0503020204020204" pitchFamily="34" charset="-122"/>
                        </a:rPr>
                        <a:t>中原資訊總處</a:t>
                      </a:r>
                      <a:endParaRPr lang="zh-CN" altLang="en-US" sz="13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en-US" altLang="zh-CN" sz="1300" b="0" i="0" u="none" strike="noStrike" dirty="0">
                          <a:solidFill>
                            <a:srgbClr val="000000"/>
                          </a:solidFill>
                          <a:latin typeface="微软雅黑" panose="020B0503020204020204" pitchFamily="34" charset="-122"/>
                          <a:ea typeface="微软雅黑" panose="020B0503020204020204" pitchFamily="34" charset="-122"/>
                        </a:rPr>
                        <a:t>java</a:t>
                      </a:r>
                      <a:r>
                        <a:rPr lang="zh-CN" altLang="en-US" sz="1300" b="0" i="0" u="none" strike="noStrike" dirty="0">
                          <a:solidFill>
                            <a:srgbClr val="000000"/>
                          </a:solidFill>
                          <a:latin typeface="微软雅黑" panose="020B0503020204020204" pitchFamily="34" charset="-122"/>
                          <a:ea typeface="微软雅黑" panose="020B0503020204020204" pitchFamily="34" charset="-122"/>
                        </a:rPr>
                        <a:t>開發工程師</a:t>
                      </a:r>
                      <a:endParaRPr lang="zh-CN" altLang="en-US" sz="13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c gridSpan="3">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300" kern="1200" dirty="0" smtClean="0">
                          <a:solidFill>
                            <a:srgbClr val="000000"/>
                          </a:solidFill>
                          <a:latin typeface="微软雅黑" panose="020B0503020204020204" pitchFamily="34" charset="-122"/>
                          <a:ea typeface="微软雅黑" panose="020B0503020204020204" pitchFamily="34" charset="-122"/>
                          <a:cs typeface="+mn-cs"/>
                        </a:rPr>
                        <a:t>負責</a:t>
                      </a:r>
                      <a:r>
                        <a:rPr lang="zh-TW" altLang="en-US" sz="1300" kern="1200" dirty="0" smtClean="0">
                          <a:solidFill>
                            <a:srgbClr val="000000"/>
                          </a:solidFill>
                          <a:latin typeface="微软雅黑" panose="020B0503020204020204" pitchFamily="34" charset="-122"/>
                          <a:ea typeface="微软雅黑" panose="020B0503020204020204" pitchFamily="34" charset="-122"/>
                          <a:cs typeface="+mn-cs"/>
                        </a:rPr>
                        <a:t>總務類需求承接、方案提供及系統</a:t>
                      </a:r>
                      <a:r>
                        <a:rPr lang="zh-CN" altLang="en-US" sz="1300" kern="1200" dirty="0" smtClean="0">
                          <a:solidFill>
                            <a:srgbClr val="000000"/>
                          </a:solidFill>
                          <a:latin typeface="微软雅黑" panose="020B0503020204020204" pitchFamily="34" charset="-122"/>
                          <a:ea typeface="微软雅黑" panose="020B0503020204020204" pitchFamily="34" charset="-122"/>
                          <a:cs typeface="+mn-cs"/>
                        </a:rPr>
                        <a:t>設計</a:t>
                      </a:r>
                      <a:r>
                        <a:rPr lang="zh-TW" altLang="en-US" sz="1300" kern="1200" dirty="0" smtClean="0">
                          <a:solidFill>
                            <a:srgbClr val="000000"/>
                          </a:solidFill>
                          <a:latin typeface="微软雅黑" panose="020B0503020204020204" pitchFamily="34" charset="-122"/>
                          <a:ea typeface="微软雅黑" panose="020B0503020204020204" pitchFamily="34" charset="-122"/>
                          <a:cs typeface="+mn-cs"/>
                        </a:rPr>
                        <a:t>開發與運維</a:t>
                      </a:r>
                      <a:endParaRPr lang="en-US" altLang="zh-CN" sz="1300" kern="1200" dirty="0">
                        <a:solidFill>
                          <a:srgbClr val="000000"/>
                        </a:solidFill>
                        <a:latin typeface="微软雅黑" panose="020B0503020204020204" pitchFamily="34" charset="-122"/>
                        <a:ea typeface="微软雅黑" panose="020B0503020204020204" pitchFamily="34" charset="-122"/>
                        <a:cs typeface="+mn-cs"/>
                        <a:sym typeface="+mn-ea"/>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r>
              <a:tr h="423378">
                <a:tc gridSpan="2">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300" b="0" i="0" u="none" strike="noStrike" dirty="0" smtClean="0">
                          <a:solidFill>
                            <a:srgbClr val="000000"/>
                          </a:solidFill>
                          <a:latin typeface="微软雅黑" panose="020B0503020204020204" pitchFamily="34" charset="-122"/>
                          <a:ea typeface="微软雅黑" panose="020B0503020204020204" pitchFamily="34" charset="-122"/>
                        </a:rPr>
                        <a:t>2010.01-2017.04</a:t>
                      </a:r>
                      <a:endParaRPr lang="zh-CN" altLang="en-US" sz="1300" b="0" i="0" u="none" strike="noStrike" dirty="0" smtClean="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a:txBody>
                    <a:bodyPr/>
                    <a:lstStyle/>
                    <a:p>
                      <a:pPr algn="ctr" fontAlgn="ctr"/>
                      <a:r>
                        <a:rPr lang="zh-CN" altLang="en-US" sz="1300" b="0" i="0" u="none" strike="noStrike" dirty="0" smtClean="0">
                          <a:solidFill>
                            <a:srgbClr val="000000"/>
                          </a:solidFill>
                          <a:latin typeface="微软雅黑" panose="020B0503020204020204" pitchFamily="34" charset="-122"/>
                          <a:ea typeface="微软雅黑" panose="020B0503020204020204" pitchFamily="34" charset="-122"/>
                        </a:rPr>
                        <a:t>太原資訊科技部</a:t>
                      </a:r>
                      <a:endParaRPr lang="zh-CN" altLang="en-US" sz="13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300" b="0" i="0" u="none" strike="noStrike" kern="1200" dirty="0" smtClean="0">
                          <a:solidFill>
                            <a:srgbClr val="000000"/>
                          </a:solidFill>
                          <a:latin typeface="微软雅黑" panose="020B0503020204020204" pitchFamily="34" charset="-122"/>
                          <a:ea typeface="微软雅黑" panose="020B0503020204020204" pitchFamily="34" charset="-122"/>
                          <a:cs typeface="+mn-cs"/>
                        </a:rPr>
                        <a:t>java</a:t>
                      </a:r>
                      <a:r>
                        <a:rPr lang="zh-CN" altLang="en-US" sz="1300" b="0" i="0" u="none" strike="noStrike" kern="1200" dirty="0" smtClean="0">
                          <a:solidFill>
                            <a:srgbClr val="000000"/>
                          </a:solidFill>
                          <a:latin typeface="微软雅黑" panose="020B0503020204020204" pitchFamily="34" charset="-122"/>
                          <a:ea typeface="微软雅黑" panose="020B0503020204020204" pitchFamily="34" charset="-122"/>
                          <a:cs typeface="+mn-cs"/>
                        </a:rPr>
                        <a:t>開發工程師</a:t>
                      </a:r>
                      <a:endParaRPr lang="zh-CN" altLang="en-US" sz="1300" b="0" i="0" u="none" strike="noStrike" kern="1200" dirty="0" smtClean="0">
                        <a:solidFill>
                          <a:srgbClr val="000000"/>
                        </a:solidFill>
                        <a:latin typeface="微软雅黑" panose="020B0503020204020204" pitchFamily="34" charset="-122"/>
                        <a:ea typeface="微软雅黑" panose="020B0503020204020204" pitchFamily="34" charset="-122"/>
                        <a:cs typeface="+mn-cs"/>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c gridSpan="3">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300" kern="1200" dirty="0" err="1" smtClean="0">
                          <a:solidFill>
                            <a:srgbClr val="000000"/>
                          </a:solidFill>
                          <a:latin typeface="微软雅黑" panose="020B0503020204020204" pitchFamily="34" charset="-122"/>
                          <a:ea typeface="微软雅黑" panose="020B0503020204020204" pitchFamily="34" charset="-122"/>
                          <a:cs typeface="+mn-cs"/>
                          <a:sym typeface="+mn-ea"/>
                        </a:rPr>
                        <a:t>項目架構搭建，功能開發，日常運維</a:t>
                      </a:r>
                      <a:endParaRPr lang="en-US" altLang="zh-CN" sz="1300" kern="1200" dirty="0" smtClean="0">
                        <a:solidFill>
                          <a:srgbClr val="000000"/>
                        </a:solidFill>
                        <a:latin typeface="微软雅黑" panose="020B0503020204020204" pitchFamily="34" charset="-122"/>
                        <a:ea typeface="微软雅黑" panose="020B0503020204020204" pitchFamily="34" charset="-122"/>
                        <a:cs typeface="+mn-cs"/>
                        <a:sym typeface="+mn-ea"/>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r>
              <a:tr h="423378">
                <a:tc gridSpan="2">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300" b="0" i="0" u="none" strike="noStrike" dirty="0" smtClean="0">
                          <a:solidFill>
                            <a:srgbClr val="000000"/>
                          </a:solidFill>
                          <a:latin typeface="微软雅黑" panose="020B0503020204020204" pitchFamily="34" charset="-122"/>
                          <a:ea typeface="微软雅黑" panose="020B0503020204020204" pitchFamily="34" charset="-122"/>
                        </a:rPr>
                        <a:t>2007.03-2010.01</a:t>
                      </a:r>
                      <a:endParaRPr lang="zh-CN" altLang="en-US" sz="1300" b="0" i="0" u="none" strike="noStrike" dirty="0" smtClean="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a:txBody>
                    <a:bodyPr/>
                    <a:lstStyle/>
                    <a:p>
                      <a:pPr algn="ctr" fontAlgn="ctr"/>
                      <a:r>
                        <a:rPr lang="zh-CN" altLang="en-US" sz="1300" b="0" i="0" u="none" strike="noStrike" dirty="0" smtClean="0">
                          <a:solidFill>
                            <a:srgbClr val="000000"/>
                          </a:solidFill>
                          <a:latin typeface="微软雅黑" panose="020B0503020204020204" pitchFamily="34" charset="-122"/>
                          <a:ea typeface="微软雅黑" panose="020B0503020204020204" pitchFamily="34" charset="-122"/>
                        </a:rPr>
                        <a:t>太原資訊科技部</a:t>
                      </a:r>
                      <a:endParaRPr lang="zh-CN" altLang="en-US" sz="13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zh-CN" altLang="en-US" sz="1300" b="0" i="0" u="none" strike="noStrike" dirty="0" smtClean="0">
                          <a:solidFill>
                            <a:srgbClr val="000000"/>
                          </a:solidFill>
                          <a:latin typeface="微软雅黑" panose="020B0503020204020204" pitchFamily="34" charset="-122"/>
                          <a:ea typeface="微软雅黑" panose="020B0503020204020204" pitchFamily="34" charset="-122"/>
                        </a:rPr>
                        <a:t>一卡通工程師</a:t>
                      </a:r>
                      <a:endParaRPr lang="zh-CN" altLang="en-US" sz="13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c gridSpan="3">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300" kern="1200" dirty="0" smtClean="0">
                          <a:solidFill>
                            <a:srgbClr val="000000"/>
                          </a:solidFill>
                          <a:latin typeface="微软雅黑" panose="020B0503020204020204" pitchFamily="34" charset="-122"/>
                          <a:ea typeface="微软雅黑" panose="020B0503020204020204" pitchFamily="34" charset="-122"/>
                          <a:cs typeface="+mn-cs"/>
                        </a:rPr>
                        <a:t>園區一卡通項目管理</a:t>
                      </a:r>
                      <a:endParaRPr lang="zh-TW" altLang="en-US" sz="1300" kern="1200" dirty="0">
                        <a:solidFill>
                          <a:srgbClr val="000000"/>
                        </a:solidFill>
                        <a:latin typeface="微软雅黑" panose="020B0503020204020204" pitchFamily="34" charset="-122"/>
                        <a:ea typeface="微软雅黑" panose="020B0503020204020204" pitchFamily="34" charset="-122"/>
                        <a:cs typeface="+mn-cs"/>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r>
              <a:tr h="423378">
                <a:tc gridSpan="2">
                  <a:txBody>
                    <a:bodyPr/>
                    <a:lstStyle/>
                    <a:p>
                      <a:pPr algn="ctr" fontAlgn="ctr"/>
                      <a:endParaRPr lang="en-US" altLang="zh-CN" sz="13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a:txBody>
                    <a:bodyPr/>
                    <a:lstStyle/>
                    <a:p>
                      <a:pPr algn="ctr" fontAlgn="ctr"/>
                      <a:endParaRPr lang="zh-CN" altLang="en-US" sz="13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endParaRPr lang="zh-CN" altLang="en-US" sz="1300" b="0" i="0" u="none" strike="noStrike" dirty="0">
                        <a:solidFill>
                          <a:srgbClr val="000000"/>
                        </a:solidFill>
                        <a:latin typeface="微软雅黑" panose="020B0503020204020204" pitchFamily="34" charset="-122"/>
                        <a:ea typeface="微软雅黑" panose="020B0503020204020204" pitchFamily="34" charset="-122"/>
                      </a:endParaRPr>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c gridSpan="3">
                  <a:txBody>
                    <a:bodyPr/>
                    <a:lstStyle/>
                    <a:p>
                      <a:endParaRPr lang="zh-TW" altLang="en-US" dirty="0"/>
                    </a:p>
                  </a:txBody>
                  <a:tcPr marL="10079" marR="10079" marT="100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r>
            </a:tbl>
          </a:graphicData>
        </a:graphic>
      </p:graphicFrame>
      <p:sp>
        <p:nvSpPr>
          <p:cNvPr id="3" name="TextBox 2"/>
          <p:cNvSpPr txBox="1"/>
          <p:nvPr/>
        </p:nvSpPr>
        <p:spPr>
          <a:xfrm>
            <a:off x="686173" y="685569"/>
            <a:ext cx="1981063" cy="374706"/>
          </a:xfrm>
          <a:prstGeom prst="rect">
            <a:avLst/>
          </a:prstGeom>
          <a:noFill/>
        </p:spPr>
        <p:txBody>
          <a:bodyPr wrap="square" lIns="96762" tIns="48381" rIns="96762" bIns="48381" rtlCol="0">
            <a:spAutoFit/>
          </a:bodyPr>
          <a:lstStyle/>
          <a:p>
            <a:r>
              <a:rPr lang="zh-CN" altLang="en-US" dirty="0" smtClean="0">
                <a:latin typeface="微软雅黑" panose="020B0503020204020204" pitchFamily="34" charset="-122"/>
                <a:ea typeface="微软雅黑" panose="020B0503020204020204" pitchFamily="34" charset="-122"/>
              </a:rPr>
              <a:t>基础信息</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28509" y="733384"/>
            <a:ext cx="2590621" cy="559372"/>
          </a:xfrm>
          <a:prstGeom prst="rect">
            <a:avLst/>
          </a:prstGeom>
        </p:spPr>
        <p:style>
          <a:lnRef idx="1">
            <a:schemeClr val="accent3"/>
          </a:lnRef>
          <a:fillRef idx="3">
            <a:schemeClr val="accent3"/>
          </a:fillRef>
          <a:effectRef idx="2">
            <a:schemeClr val="accent3"/>
          </a:effectRef>
          <a:fontRef idx="minor">
            <a:schemeClr val="lt1"/>
          </a:fontRef>
        </p:style>
        <p:txBody>
          <a:bodyPr wrap="square" lIns="96762" tIns="48381" rIns="96762" bIns="48381" rtlCol="0">
            <a:spAutoFit/>
          </a:bodyPr>
          <a:lstStyle/>
          <a:p>
            <a:pPr algn="ctr"/>
            <a:r>
              <a:rPr lang="zh-CN" altLang="en-US" sz="3000" dirty="0" smtClean="0">
                <a:latin typeface="微软雅黑" panose="020B0503020204020204" pitchFamily="34" charset="-122"/>
                <a:ea typeface="微软雅黑" panose="020B0503020204020204" pitchFamily="34" charset="-122"/>
              </a:rPr>
              <a:t>技能水平</a:t>
            </a:r>
            <a:endParaRPr lang="zh-CN" altLang="en-US" sz="3000" dirty="0">
              <a:latin typeface="微软雅黑" panose="020B0503020204020204" pitchFamily="34" charset="-122"/>
              <a:ea typeface="微软雅黑" panose="020B0503020204020204" pitchFamily="34" charset="-122"/>
            </a:endParaRPr>
          </a:p>
        </p:txBody>
      </p:sp>
      <p:sp>
        <p:nvSpPr>
          <p:cNvPr id="6" name="文本框 1"/>
          <p:cNvSpPr txBox="1"/>
          <p:nvPr/>
        </p:nvSpPr>
        <p:spPr>
          <a:xfrm>
            <a:off x="873124" y="1876253"/>
            <a:ext cx="10313859" cy="3785652"/>
          </a:xfrm>
          <a:prstGeom prst="rect">
            <a:avLst/>
          </a:prstGeom>
          <a:noFill/>
          <a:ln>
            <a:noFill/>
          </a:ln>
        </p:spPr>
        <p:txBody>
          <a:bodyPr wrap="square" rtlCol="0">
            <a:spAutoFit/>
          </a:bodyPr>
          <a:lstStyle/>
          <a:p>
            <a:pPr indent="360680">
              <a:lnSpc>
                <a:spcPct val="150000"/>
              </a:lnSpc>
              <a:buClr>
                <a:srgbClr val="4472C4"/>
              </a:buClr>
              <a:defRPr/>
            </a:pPr>
            <a:r>
              <a:rPr lang="en-US" altLang="zh-CN"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    </a:t>
            </a:r>
            <a:r>
              <a:rPr lang="zh-CN"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熟練</a:t>
            </a:r>
            <a:r>
              <a:rPr lang="zh-CN" altLang="zh-TW"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掌握</a:t>
            </a:r>
            <a:r>
              <a:rPr lang="en-US" altLang="zh-TW"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Web </a:t>
            </a:r>
            <a:r>
              <a:rPr lang="zh-TW" altLang="en-US"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開發，及主流 </a:t>
            </a:r>
            <a:r>
              <a:rPr lang="en-US" altLang="zh-TW"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J</a:t>
            </a:r>
            <a:r>
              <a:rPr lang="en-US" altLang="zh-TW"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ava </a:t>
            </a:r>
            <a:r>
              <a:rPr lang="zh-TW" altLang="en-US"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技術框架</a:t>
            </a:r>
            <a:r>
              <a:rPr lang="en-US" altLang="zh-TW"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SSM</a:t>
            </a:r>
            <a:r>
              <a:rPr lang="zh-CN" altLang="en-US"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，掌握微服務技術框架</a:t>
            </a:r>
            <a:r>
              <a:rPr lang="en-US" altLang="zh-CN"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SpringCloud</a:t>
            </a:r>
            <a:r>
              <a:rPr lang="zh-CN" altLang="en-US"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en-US" altLang="zh-CN"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SpringBoot</a:t>
            </a:r>
            <a:r>
              <a:rPr lang="zh-CN" altLang="en-US"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等</a:t>
            </a:r>
            <a:r>
              <a:rPr lang="zh-TW" altLang="en-US"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，熟悉</a:t>
            </a:r>
            <a:r>
              <a:rPr lang="zh-CN" altLang="zh-TW"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高並發，多線程及</a:t>
            </a:r>
            <a:r>
              <a:rPr lang="zh-TW" altLang="en-US"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 </a:t>
            </a:r>
            <a:r>
              <a:rPr lang="en-US" altLang="zh-CN" sz="2000" dirty="0" err="1"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vue</a:t>
            </a:r>
            <a:r>
              <a:rPr lang="zh-CN"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項目的</a:t>
            </a:r>
            <a:r>
              <a:rPr lang="zh-TW"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前</a:t>
            </a:r>
            <a:r>
              <a:rPr lang="zh-TW" altLang="en-US"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端開</a:t>
            </a:r>
            <a:r>
              <a:rPr lang="zh-TW"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發</a:t>
            </a:r>
            <a:r>
              <a:rPr lang="zh-CN" altLang="zh-TW"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a:t>
            </a:r>
            <a:endParaRPr lang="en-US" altLang="zh-CN"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endParaRPr>
          </a:p>
          <a:p>
            <a:pPr indent="360680">
              <a:lnSpc>
                <a:spcPct val="150000"/>
              </a:lnSpc>
              <a:buClr>
                <a:srgbClr val="4472C4"/>
              </a:buClr>
              <a:defRPr/>
            </a:pPr>
            <a:endParaRPr lang="en-US" altLang="zh-CN"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endParaRPr>
          </a:p>
          <a:p>
            <a:pPr indent="360680">
              <a:lnSpc>
                <a:spcPct val="150000"/>
              </a:lnSpc>
              <a:buClr>
                <a:srgbClr val="4472C4"/>
              </a:buClr>
              <a:defRPr/>
            </a:pPr>
            <a:r>
              <a:rPr lang="zh-TW"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    </a:t>
            </a:r>
            <a:r>
              <a:rPr lang="zh-CN" altLang="zh-TW"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熟練使用</a:t>
            </a:r>
            <a:r>
              <a:rPr lang="zh-TW" altLang="en-US" sz="2000" dirty="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主流數據庫產</a:t>
            </a:r>
            <a:r>
              <a:rPr lang="zh-TW"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品</a:t>
            </a:r>
            <a:r>
              <a:rPr lang="zh-CN"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，掌握信息系統項目開發流程。</a:t>
            </a:r>
            <a:endParaRPr lang="en-US" altLang="zh-CN"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endParaRPr>
          </a:p>
          <a:p>
            <a:pPr indent="360680">
              <a:lnSpc>
                <a:spcPct val="150000"/>
              </a:lnSpc>
              <a:buClr>
                <a:srgbClr val="4472C4"/>
              </a:buClr>
              <a:defRPr/>
            </a:pPr>
            <a:endParaRPr lang="zh-CN"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endParaRPr>
          </a:p>
          <a:p>
            <a:pPr indent="360680">
              <a:lnSpc>
                <a:spcPct val="150000"/>
              </a:lnSpc>
              <a:buClr>
                <a:srgbClr val="4472C4"/>
              </a:buClr>
              <a:defRPr/>
            </a:pPr>
            <a:r>
              <a:rPr lang="en-US" altLang="zh-CN"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    </a:t>
            </a:r>
            <a:r>
              <a:rPr lang="zh-CN"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熟悉</a:t>
            </a:r>
            <a:r>
              <a:rPr lang="zh-CN" altLang="zh-TW"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大數據相關技術</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sym typeface="+mn-ea"/>
              </a:rPr>
              <a:t>H</a:t>
            </a:r>
            <a:r>
              <a:rPr lang="en-US" altLang="zh-CN" sz="2000" dirty="0" err="1"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adoop</a:t>
            </a:r>
            <a:r>
              <a:rPr lang="zh-CN"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H</a:t>
            </a:r>
            <a:r>
              <a:rPr lang="en-US" altLang="zh-CN"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ive</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en-US" altLang="zh-CN" sz="2000" dirty="0" err="1" smtClean="0">
                <a:solidFill>
                  <a:schemeClr val="tx1">
                    <a:lumMod val="85000"/>
                    <a:lumOff val="15000"/>
                  </a:schemeClr>
                </a:solidFill>
                <a:latin typeface="微软雅黑" panose="020B0503020204020204" pitchFamily="34" charset="-122"/>
                <a:ea typeface="微软雅黑" panose="020B0503020204020204" pitchFamily="34" charset="-122"/>
                <a:sym typeface="+mn-ea"/>
              </a:rPr>
              <a:t>HBase</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Spark</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en-US" altLang="zh-TW" sz="2000" dirty="0">
                <a:solidFill>
                  <a:schemeClr val="tx1">
                    <a:lumMod val="85000"/>
                    <a:lumOff val="15000"/>
                  </a:schemeClr>
                </a:solidFill>
                <a:latin typeface="微软雅黑" panose="020B0503020204020204" pitchFamily="34" charset="-122"/>
                <a:ea typeface="微软雅黑" panose="020B0503020204020204" pitchFamily="34" charset="-122"/>
              </a:rPr>
              <a:t>Storm</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en-US" altLang="zh-TW" sz="2000" dirty="0">
                <a:solidFill>
                  <a:schemeClr val="tx1">
                    <a:lumMod val="85000"/>
                    <a:lumOff val="15000"/>
                  </a:schemeClr>
                </a:solidFill>
                <a:latin typeface="微软雅黑" panose="020B0503020204020204" pitchFamily="34" charset="-122"/>
                <a:ea typeface="微软雅黑" panose="020B0503020204020204" pitchFamily="34" charset="-122"/>
              </a:rPr>
              <a:t>Kafka</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rPr>
              <a:t>S</a:t>
            </a:r>
            <a:r>
              <a:rPr lang="en-US" altLang="zh-TW" sz="2000" dirty="0" err="1">
                <a:solidFill>
                  <a:schemeClr val="tx1">
                    <a:lumMod val="85000"/>
                    <a:lumOff val="15000"/>
                  </a:schemeClr>
                </a:solidFill>
                <a:latin typeface="微软雅黑" panose="020B0503020204020204" pitchFamily="34" charset="-122"/>
                <a:ea typeface="微软雅黑" panose="020B0503020204020204" pitchFamily="34" charset="-122"/>
              </a:rPr>
              <a:t>qoop</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rPr>
              <a:t>等</a:t>
            </a:r>
            <a:r>
              <a:rPr lang="zh-CN" altLang="zh-TW"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a:t>
            </a:r>
            <a:endParaRPr lang="en-US" altLang="zh-CN"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endParaRPr>
          </a:p>
          <a:p>
            <a:pPr indent="360680">
              <a:lnSpc>
                <a:spcPct val="150000"/>
              </a:lnSpc>
              <a:buClr>
                <a:srgbClr val="4472C4"/>
              </a:buClr>
              <a:defRPr/>
            </a:pP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 </a:t>
            </a:r>
            <a:r>
              <a:rPr lang="en-US" altLang="zh-CN"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   </a:t>
            </a:r>
            <a:endParaRPr lang="en-US" altLang="zh-CN"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endParaRPr>
          </a:p>
          <a:p>
            <a:pPr indent="360680">
              <a:lnSpc>
                <a:spcPct val="150000"/>
              </a:lnSpc>
              <a:buClr>
                <a:srgbClr val="4472C4"/>
              </a:buClr>
              <a:defRPr/>
            </a:pP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    了解機器學習常用算法，可以使用</a:t>
            </a:r>
            <a:r>
              <a:rPr lang="en-US" altLang="zh-TW" sz="2000" dirty="0" err="1" smtClean="0">
                <a:solidFill>
                  <a:schemeClr val="tx1">
                    <a:lumMod val="85000"/>
                    <a:lumOff val="15000"/>
                  </a:schemeClr>
                </a:solidFill>
                <a:latin typeface="微软雅黑" panose="020B0503020204020204" pitchFamily="34" charset="-122"/>
                <a:ea typeface="微软雅黑" panose="020B0503020204020204" pitchFamily="34" charset="-122"/>
              </a:rPr>
              <a:t>SparkMLlib</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rPr>
              <a:t>進行開發。</a:t>
            </a:r>
            <a:endParaRPr lang="zh-CN" altLang="zh-TW" sz="20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873125" y="2029923"/>
            <a:ext cx="615315" cy="36258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rPr>
              <a:t>１）</a:t>
            </a:r>
            <a:endPar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endParaRPr>
          </a:p>
        </p:txBody>
      </p:sp>
      <p:sp>
        <p:nvSpPr>
          <p:cNvPr id="8" name="矩形 7"/>
          <p:cNvSpPr/>
          <p:nvPr/>
        </p:nvSpPr>
        <p:spPr>
          <a:xfrm>
            <a:off x="883285" y="3406494"/>
            <a:ext cx="605155" cy="36258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ln>
                  <a:noFill/>
                </a:ln>
                <a:solidFill>
                  <a:schemeClr val="bg1"/>
                </a:solidFill>
                <a:latin typeface="微软雅黑" panose="020B0503020204020204" pitchFamily="34" charset="-122"/>
                <a:ea typeface="微软雅黑" panose="020B0503020204020204" pitchFamily="34" charset="-122"/>
                <a:sym typeface="+mn-ea"/>
              </a:rPr>
              <a:t>2 </a:t>
            </a:r>
            <a:r>
              <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rPr>
              <a:t>）</a:t>
            </a:r>
            <a:endPar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endParaRPr>
          </a:p>
        </p:txBody>
      </p:sp>
      <p:sp>
        <p:nvSpPr>
          <p:cNvPr id="9" name="矩形 8"/>
          <p:cNvSpPr/>
          <p:nvPr/>
        </p:nvSpPr>
        <p:spPr>
          <a:xfrm>
            <a:off x="873125" y="4276504"/>
            <a:ext cx="605155" cy="39052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ln>
                  <a:noFill/>
                </a:ln>
                <a:solidFill>
                  <a:schemeClr val="bg1"/>
                </a:solidFill>
                <a:latin typeface="微软雅黑" panose="020B0503020204020204" pitchFamily="34" charset="-122"/>
                <a:ea typeface="微软雅黑" panose="020B0503020204020204" pitchFamily="34" charset="-122"/>
                <a:sym typeface="+mn-ea"/>
              </a:rPr>
              <a:t>3 </a:t>
            </a:r>
            <a:r>
              <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rPr>
              <a:t>）</a:t>
            </a:r>
            <a:endPar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endParaRPr>
          </a:p>
        </p:txBody>
      </p:sp>
      <p:sp>
        <p:nvSpPr>
          <p:cNvPr id="10" name="矩形 9"/>
          <p:cNvSpPr/>
          <p:nvPr/>
        </p:nvSpPr>
        <p:spPr>
          <a:xfrm>
            <a:off x="873124" y="5165625"/>
            <a:ext cx="605155" cy="39052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ln>
                  <a:noFill/>
                </a:ln>
                <a:solidFill>
                  <a:schemeClr val="bg1"/>
                </a:solidFill>
                <a:latin typeface="微软雅黑" panose="020B0503020204020204" pitchFamily="34" charset="-122"/>
                <a:ea typeface="微软雅黑" panose="020B0503020204020204" pitchFamily="34" charset="-122"/>
                <a:sym typeface="+mn-ea"/>
              </a:rPr>
              <a:t>4 </a:t>
            </a:r>
            <a:r>
              <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rPr>
              <a:t>）</a:t>
            </a:r>
            <a:endPar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28509" y="733384"/>
            <a:ext cx="2590621" cy="559372"/>
          </a:xfrm>
          <a:prstGeom prst="rect">
            <a:avLst/>
          </a:prstGeom>
        </p:spPr>
        <p:style>
          <a:lnRef idx="1">
            <a:schemeClr val="accent3"/>
          </a:lnRef>
          <a:fillRef idx="3">
            <a:schemeClr val="accent3"/>
          </a:fillRef>
          <a:effectRef idx="2">
            <a:schemeClr val="accent3"/>
          </a:effectRef>
          <a:fontRef idx="minor">
            <a:schemeClr val="lt1"/>
          </a:fontRef>
        </p:style>
        <p:txBody>
          <a:bodyPr wrap="square" lIns="96762" tIns="48381" rIns="96762" bIns="48381" rtlCol="0">
            <a:spAutoFit/>
          </a:bodyPr>
          <a:lstStyle/>
          <a:p>
            <a:pPr algn="ctr"/>
            <a:r>
              <a:rPr lang="zh-CN" altLang="en-US" sz="3000" dirty="0" smtClean="0">
                <a:latin typeface="微软雅黑" panose="020B0503020204020204" pitchFamily="34" charset="-122"/>
                <a:ea typeface="微软雅黑" panose="020B0503020204020204" pitchFamily="34" charset="-122"/>
              </a:rPr>
              <a:t>新技術應用</a:t>
            </a:r>
            <a:endParaRPr lang="zh-CN" altLang="en-US" sz="3000" dirty="0">
              <a:latin typeface="微软雅黑" panose="020B0503020204020204" pitchFamily="34" charset="-122"/>
              <a:ea typeface="微软雅黑" panose="020B0503020204020204" pitchFamily="34" charset="-122"/>
            </a:endParaRPr>
          </a:p>
        </p:txBody>
      </p:sp>
      <p:sp>
        <p:nvSpPr>
          <p:cNvPr id="11" name="矩形 10"/>
          <p:cNvSpPr/>
          <p:nvPr/>
        </p:nvSpPr>
        <p:spPr>
          <a:xfrm>
            <a:off x="4893945" y="1370965"/>
            <a:ext cx="864235" cy="425386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3"/>
          <p:cNvSpPr txBox="1"/>
          <p:nvPr/>
        </p:nvSpPr>
        <p:spPr>
          <a:xfrm>
            <a:off x="5001434" y="2084368"/>
            <a:ext cx="609462" cy="646331"/>
          </a:xfrm>
          <a:prstGeom prst="rect">
            <a:avLst/>
          </a:prstGeom>
          <a:noFill/>
        </p:spPr>
        <p:txBody>
          <a:bodyPr wrap="none" rtlCol="0">
            <a:spAutoFit/>
          </a:bodyPr>
          <a:lstStyle/>
          <a:p>
            <a:r>
              <a:rPr lang="en-US" altLang="zh-CN" sz="3600" b="1" dirty="0" smtClean="0">
                <a:solidFill>
                  <a:schemeClr val="bg1"/>
                </a:solidFill>
                <a:latin typeface="MS PMincho" pitchFamily="18" charset="-128"/>
                <a:ea typeface="MS PMincho" pitchFamily="18" charset="-128"/>
              </a:rPr>
              <a:t>01</a:t>
            </a:r>
            <a:endParaRPr lang="zh-CN" altLang="en-US" sz="3600" b="1" dirty="0">
              <a:solidFill>
                <a:schemeClr val="bg1"/>
              </a:solidFill>
              <a:latin typeface="MS PMincho" pitchFamily="18" charset="-128"/>
              <a:ea typeface="MS PMincho" pitchFamily="18" charset="-128"/>
            </a:endParaRPr>
          </a:p>
        </p:txBody>
      </p:sp>
      <p:cxnSp>
        <p:nvCxnSpPr>
          <p:cNvPr id="13" name="直接连接符 15"/>
          <p:cNvCxnSpPr/>
          <p:nvPr/>
        </p:nvCxnSpPr>
        <p:spPr>
          <a:xfrm flipH="1">
            <a:off x="5718496" y="2406040"/>
            <a:ext cx="864096"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4" name="椭圆 16"/>
          <p:cNvSpPr/>
          <p:nvPr/>
        </p:nvSpPr>
        <p:spPr>
          <a:xfrm flipH="1">
            <a:off x="5643938" y="2353132"/>
            <a:ext cx="108012" cy="108012"/>
          </a:xfrm>
          <a:prstGeom prst="ellipse">
            <a:avLst/>
          </a:prstGeom>
          <a:solidFill>
            <a:schemeClr val="accent5">
              <a:lumMod val="75000"/>
            </a:schemeClr>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flipH="1">
            <a:off x="6380202" y="2220486"/>
            <a:ext cx="2029858" cy="36266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ym typeface="+mn-ea"/>
              </a:rPr>
              <a:t>微服務平台</a:t>
            </a:r>
            <a:endParaRPr lang="zh-CN" altLang="en-US" sz="1600">
              <a:sym typeface="+mn-ea"/>
            </a:endParaRPr>
          </a:p>
        </p:txBody>
      </p:sp>
      <p:sp>
        <p:nvSpPr>
          <p:cNvPr id="16" name="TextBox 18"/>
          <p:cNvSpPr txBox="1"/>
          <p:nvPr/>
        </p:nvSpPr>
        <p:spPr>
          <a:xfrm>
            <a:off x="6684009" y="2708910"/>
            <a:ext cx="4338217" cy="2653034"/>
          </a:xfrm>
          <a:prstGeom prst="rect">
            <a:avLst/>
          </a:prstGeom>
          <a:noFill/>
        </p:spPr>
        <p:txBody>
          <a:bodyPr wrap="square" rtlCol="0">
            <a:spAutoFit/>
          </a:bodyPr>
          <a:lstStyle/>
          <a:p>
            <a:pPr>
              <a:lnSpc>
                <a:spcPct val="130000"/>
              </a:lnSpc>
            </a:pPr>
            <a:r>
              <a:rPr lang="en-US" altLang="zh-CN" sz="1600" dirty="0">
                <a:sym typeface="+mn-ea"/>
              </a:rPr>
              <a:t>1.</a:t>
            </a:r>
            <a:r>
              <a:rPr lang="zh-CN" altLang="en-US" sz="1600" dirty="0">
                <a:sym typeface="+mn-ea"/>
              </a:rPr>
              <a:t>本系統功能分模塊化，前後端分離。</a:t>
            </a:r>
            <a:endParaRPr lang="zh-CN" altLang="en-US" sz="1600" dirty="0">
              <a:sym typeface="+mn-ea"/>
            </a:endParaRPr>
          </a:p>
          <a:p>
            <a:pPr>
              <a:lnSpc>
                <a:spcPct val="130000"/>
              </a:lnSpc>
            </a:pPr>
            <a:r>
              <a:rPr lang="en-US" altLang="zh-CN" sz="1600" dirty="0">
                <a:sym typeface="+mn-ea"/>
              </a:rPr>
              <a:t>2.</a:t>
            </a:r>
            <a:r>
              <a:rPr lang="zh-CN" altLang="en-US" sz="1600" dirty="0">
                <a:sym typeface="+mn-ea"/>
              </a:rPr>
              <a:t>平台採用Spring Boot 2.X 、Spring Security、Oauth2、Mybatis Plus等核心技术，前端vue、</a:t>
            </a:r>
            <a:r>
              <a:rPr lang="en-US" altLang="zh-CN" sz="1600" dirty="0">
                <a:sym typeface="+mn-ea"/>
              </a:rPr>
              <a:t>bootstrap</a:t>
            </a:r>
            <a:r>
              <a:rPr lang="zh-CN" altLang="en-US" sz="1600" dirty="0">
                <a:sym typeface="+mn-ea"/>
              </a:rPr>
              <a:t>框架，使用</a:t>
            </a:r>
            <a:r>
              <a:rPr lang="en-US" altLang="zh-CN" sz="1600" dirty="0" err="1">
                <a:sym typeface="+mn-ea"/>
              </a:rPr>
              <a:t>nacos</a:t>
            </a:r>
            <a:r>
              <a:rPr lang="zh-CN" altLang="en-US" sz="1600" dirty="0">
                <a:sym typeface="+mn-ea"/>
              </a:rPr>
              <a:t>作為配置及註冊中心，</a:t>
            </a:r>
            <a:r>
              <a:rPr lang="en-US" altLang="zh-CN" sz="1600" dirty="0">
                <a:sym typeface="+mn-ea"/>
              </a:rPr>
              <a:t>maven</a:t>
            </a:r>
            <a:r>
              <a:rPr lang="zh-CN" altLang="en-US" sz="1600" dirty="0">
                <a:sym typeface="+mn-ea"/>
              </a:rPr>
              <a:t>管理項目依賴</a:t>
            </a:r>
            <a:r>
              <a:rPr lang="en-US" altLang="zh-CN" sz="1600" dirty="0">
                <a:sym typeface="+mn-ea"/>
              </a:rPr>
              <a:t>jar</a:t>
            </a:r>
            <a:r>
              <a:rPr lang="zh-CN" altLang="en-US" sz="1600" dirty="0" smtClean="0">
                <a:sym typeface="+mn-ea"/>
              </a:rPr>
              <a:t>包，</a:t>
            </a:r>
            <a:r>
              <a:rPr lang="en-US" altLang="zh-CN" sz="1600" dirty="0" err="1">
                <a:sym typeface="+mn-ea"/>
              </a:rPr>
              <a:t>Redis</a:t>
            </a:r>
            <a:r>
              <a:rPr lang="zh-CN" altLang="en-US" sz="1600" dirty="0">
                <a:sym typeface="+mn-ea"/>
              </a:rPr>
              <a:t>作為二級</a:t>
            </a:r>
            <a:r>
              <a:rPr lang="en-US" altLang="zh-CN" sz="1600" dirty="0" err="1" smtClean="0">
                <a:sym typeface="+mn-ea"/>
              </a:rPr>
              <a:t>缓存</a:t>
            </a:r>
            <a:r>
              <a:rPr lang="zh-CN" altLang="en-US" sz="1600" dirty="0">
                <a:sym typeface="+mn-ea"/>
              </a:rPr>
              <a:t> ， 使用</a:t>
            </a:r>
            <a:r>
              <a:rPr lang="en-US" altLang="zh-CN" sz="1600" dirty="0" smtClean="0">
                <a:sym typeface="+mn-ea"/>
              </a:rPr>
              <a:t>Jenkins</a:t>
            </a:r>
            <a:r>
              <a:rPr lang="zh-CN" altLang="en-US" sz="1600" dirty="0">
                <a:sym typeface="+mn-ea"/>
              </a:rPr>
              <a:t>持續</a:t>
            </a:r>
            <a:r>
              <a:rPr lang="zh-CN" altLang="en-US" sz="1600" dirty="0" smtClean="0">
                <a:sym typeface="+mn-ea"/>
              </a:rPr>
              <a:t>集成，自動進行</a:t>
            </a:r>
            <a:r>
              <a:rPr lang="en-US" altLang="zh-CN" sz="1600" dirty="0" err="1" smtClean="0">
                <a:sym typeface="+mn-ea"/>
              </a:rPr>
              <a:t>docker</a:t>
            </a:r>
            <a:r>
              <a:rPr lang="zh-CN" altLang="en-US" sz="1600" dirty="0">
                <a:sym typeface="+mn-ea"/>
              </a:rPr>
              <a:t>打包</a:t>
            </a:r>
            <a:r>
              <a:rPr lang="zh-CN" altLang="en-US" sz="1600" dirty="0" smtClean="0">
                <a:sym typeface="+mn-ea"/>
              </a:rPr>
              <a:t>工程，</a:t>
            </a:r>
            <a:r>
              <a:rPr lang="zh-CN" altLang="en-US" sz="1600" dirty="0">
                <a:sym typeface="+mn-ea"/>
              </a:rPr>
              <a:t>自動化部署項</a:t>
            </a:r>
            <a:r>
              <a:rPr lang="zh-CN" altLang="en-US" sz="1600" dirty="0" smtClean="0">
                <a:sym typeface="+mn-ea"/>
              </a:rPr>
              <a:t>目到</a:t>
            </a:r>
            <a:r>
              <a:rPr lang="en-US" altLang="zh-CN" sz="1600" dirty="0" err="1" smtClean="0">
                <a:sym typeface="+mn-ea"/>
              </a:rPr>
              <a:t>kubernetes</a:t>
            </a:r>
            <a:r>
              <a:rPr lang="zh-CN" altLang="en-US" sz="1600" dirty="0" smtClean="0">
                <a:sym typeface="+mn-ea"/>
              </a:rPr>
              <a:t>集群。</a:t>
            </a:r>
            <a:endParaRPr lang="zh-CN" altLang="en-US" sz="1600" dirty="0"/>
          </a:p>
          <a:p>
            <a:pPr>
              <a:lnSpc>
                <a:spcPct val="130000"/>
              </a:lnSpc>
            </a:pPr>
            <a:endParaRPr lang="zh-TW" altLang="en-US" sz="1600" dirty="0">
              <a:latin typeface="微软雅黑" panose="020B0503020204020204" pitchFamily="34" charset="-122"/>
              <a:ea typeface="微软雅黑" panose="020B0503020204020204" pitchFamily="34" charset="-122"/>
            </a:endParaRPr>
          </a:p>
        </p:txBody>
      </p:sp>
      <p:sp>
        <p:nvSpPr>
          <p:cNvPr id="17" name="TextBox 19"/>
          <p:cNvSpPr txBox="1"/>
          <p:nvPr/>
        </p:nvSpPr>
        <p:spPr>
          <a:xfrm>
            <a:off x="4953262" y="3652545"/>
            <a:ext cx="681597" cy="646331"/>
          </a:xfrm>
          <a:prstGeom prst="rect">
            <a:avLst/>
          </a:prstGeom>
          <a:noFill/>
        </p:spPr>
        <p:txBody>
          <a:bodyPr wrap="none" rtlCol="0">
            <a:spAutoFit/>
          </a:bodyPr>
          <a:lstStyle/>
          <a:p>
            <a:r>
              <a:rPr lang="en-US" altLang="zh-CN" sz="3600" b="1" dirty="0" smtClean="0">
                <a:solidFill>
                  <a:schemeClr val="bg1"/>
                </a:solidFill>
                <a:latin typeface="MS PMincho" pitchFamily="18" charset="-128"/>
                <a:ea typeface="MS PMincho" pitchFamily="18" charset="-128"/>
              </a:rPr>
              <a:t>02</a:t>
            </a:r>
            <a:endParaRPr lang="zh-CN" altLang="en-US" sz="3600" b="1" dirty="0">
              <a:solidFill>
                <a:schemeClr val="bg1"/>
              </a:solidFill>
              <a:latin typeface="MS PMincho" pitchFamily="18" charset="-128"/>
              <a:ea typeface="MS PMincho" pitchFamily="18" charset="-128"/>
            </a:endParaRPr>
          </a:p>
        </p:txBody>
      </p:sp>
      <p:cxnSp>
        <p:nvCxnSpPr>
          <p:cNvPr id="18" name="直接连接符 21"/>
          <p:cNvCxnSpPr/>
          <p:nvPr/>
        </p:nvCxnSpPr>
        <p:spPr>
          <a:xfrm>
            <a:off x="4029436" y="4021532"/>
            <a:ext cx="864096"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9" name="椭圆 22"/>
          <p:cNvSpPr/>
          <p:nvPr/>
        </p:nvSpPr>
        <p:spPr>
          <a:xfrm>
            <a:off x="4860078" y="3964688"/>
            <a:ext cx="108012" cy="108012"/>
          </a:xfrm>
          <a:prstGeom prst="ellipse">
            <a:avLst/>
          </a:prstGeom>
          <a:solidFill>
            <a:schemeClr val="accent5">
              <a:lumMod val="75000"/>
            </a:schemeClr>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201968" y="3835978"/>
            <a:ext cx="2029858" cy="36266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數據同步工具</a:t>
            </a:r>
            <a:endParaRPr lang="zh-CN" altLang="en-US" sz="1600" dirty="0">
              <a:latin typeface="微软雅黑" panose="020B0503020204020204" pitchFamily="34" charset="-122"/>
              <a:ea typeface="微软雅黑" panose="020B0503020204020204" pitchFamily="34" charset="-122"/>
            </a:endParaRPr>
          </a:p>
        </p:txBody>
      </p:sp>
      <p:sp>
        <p:nvSpPr>
          <p:cNvPr id="21" name="TextBox 24"/>
          <p:cNvSpPr txBox="1"/>
          <p:nvPr/>
        </p:nvSpPr>
        <p:spPr>
          <a:xfrm>
            <a:off x="1400175" y="4198620"/>
            <a:ext cx="3380105" cy="1372683"/>
          </a:xfrm>
          <a:prstGeom prst="rect">
            <a:avLst/>
          </a:prstGeom>
          <a:noFill/>
        </p:spPr>
        <p:txBody>
          <a:bodyPr wrap="square" rtlCol="0">
            <a:spAutoFit/>
          </a:bodyPr>
          <a:lstStyle/>
          <a:p>
            <a:pPr>
              <a:lnSpc>
                <a:spcPct val="130000"/>
              </a:lnSpc>
            </a:pPr>
            <a:r>
              <a:rPr lang="zh-CN" altLang="en-US" sz="1600" dirty="0" smtClean="0">
                <a:sym typeface="+mn-ea"/>
              </a:rPr>
              <a:t>使用</a:t>
            </a:r>
            <a:r>
              <a:rPr lang="en-US" altLang="zh-CN" sz="1600" dirty="0" err="1" smtClean="0">
                <a:sym typeface="+mn-ea"/>
              </a:rPr>
              <a:t>datax</a:t>
            </a:r>
            <a:r>
              <a:rPr lang="zh-CN" altLang="en-US" sz="1600" dirty="0">
                <a:sym typeface="+mn-ea"/>
              </a:rPr>
              <a:t>同步數</a:t>
            </a:r>
            <a:r>
              <a:rPr lang="zh-CN" altLang="en-US" sz="1600" dirty="0" smtClean="0">
                <a:sym typeface="+mn-ea"/>
              </a:rPr>
              <a:t>據，開發數據加密的</a:t>
            </a:r>
            <a:r>
              <a:rPr lang="en-US" altLang="zh-CN" sz="1600" dirty="0" smtClean="0">
                <a:sym typeface="+mn-ea"/>
              </a:rPr>
              <a:t>Transformer</a:t>
            </a:r>
            <a:r>
              <a:rPr lang="zh-CN" altLang="en-US" sz="1600" dirty="0" smtClean="0">
                <a:sym typeface="+mn-ea"/>
              </a:rPr>
              <a:t>插件，在太原公寓系統轉</a:t>
            </a:r>
            <a:r>
              <a:rPr lang="en-US" altLang="zh-CN" sz="1600" dirty="0" err="1" smtClean="0">
                <a:sym typeface="+mn-ea"/>
              </a:rPr>
              <a:t>PostgreSql</a:t>
            </a:r>
            <a:r>
              <a:rPr lang="zh-CN" altLang="en-US" sz="1600" dirty="0" smtClean="0">
                <a:sym typeface="+mn-ea"/>
              </a:rPr>
              <a:t>是</a:t>
            </a:r>
            <a:r>
              <a:rPr lang="en-US" altLang="zh-CN" sz="1600" dirty="0" smtClean="0">
                <a:sym typeface="+mn-ea"/>
              </a:rPr>
              <a:t>,</a:t>
            </a:r>
            <a:r>
              <a:rPr lang="zh-CN" altLang="en-US" sz="1600" dirty="0" smtClean="0">
                <a:sym typeface="+mn-ea"/>
              </a:rPr>
              <a:t>抄寫數據時加密敏感字段。</a:t>
            </a:r>
            <a:endParaRPr lang="zh-CN" altLang="en-US" sz="1600" dirty="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6"/>
          <p:cNvSpPr/>
          <p:nvPr/>
        </p:nvSpPr>
        <p:spPr bwMode="auto">
          <a:xfrm>
            <a:off x="2028792" y="1626734"/>
            <a:ext cx="3529011" cy="4210409"/>
          </a:xfrm>
          <a:custGeom>
            <a:avLst/>
            <a:gdLst>
              <a:gd name="T0" fmla="*/ 2932 w 5863"/>
              <a:gd name="T1" fmla="*/ 0 h 6999"/>
              <a:gd name="T2" fmla="*/ 5863 w 5863"/>
              <a:gd name="T3" fmla="*/ 2932 h 6999"/>
              <a:gd name="T4" fmla="*/ 5450 w 5863"/>
              <a:gd name="T5" fmla="*/ 4434 h 6999"/>
              <a:gd name="T6" fmla="*/ 2932 w 5863"/>
              <a:gd name="T7" fmla="*/ 6999 h 6999"/>
              <a:gd name="T8" fmla="*/ 414 w 5863"/>
              <a:gd name="T9" fmla="*/ 4434 h 6999"/>
              <a:gd name="T10" fmla="*/ 0 w 5863"/>
              <a:gd name="T11" fmla="*/ 2932 h 6999"/>
              <a:gd name="T12" fmla="*/ 2932 w 5863"/>
              <a:gd name="T13" fmla="*/ 0 h 6999"/>
            </a:gdLst>
            <a:ahLst/>
            <a:cxnLst>
              <a:cxn ang="0">
                <a:pos x="T0" y="T1"/>
              </a:cxn>
              <a:cxn ang="0">
                <a:pos x="T2" y="T3"/>
              </a:cxn>
              <a:cxn ang="0">
                <a:pos x="T4" y="T5"/>
              </a:cxn>
              <a:cxn ang="0">
                <a:pos x="T6" y="T7"/>
              </a:cxn>
              <a:cxn ang="0">
                <a:pos x="T8" y="T9"/>
              </a:cxn>
              <a:cxn ang="0">
                <a:pos x="T10" y="T11"/>
              </a:cxn>
              <a:cxn ang="0">
                <a:pos x="T12" y="T13"/>
              </a:cxn>
            </a:cxnLst>
            <a:rect l="0" t="0" r="r" b="b"/>
            <a:pathLst>
              <a:path w="5863" h="6999">
                <a:moveTo>
                  <a:pt x="2932" y="0"/>
                </a:moveTo>
                <a:cubicBezTo>
                  <a:pt x="4550" y="0"/>
                  <a:pt x="5863" y="1313"/>
                  <a:pt x="5863" y="2932"/>
                </a:cubicBezTo>
                <a:cubicBezTo>
                  <a:pt x="5863" y="3480"/>
                  <a:pt x="5712" y="3994"/>
                  <a:pt x="5450" y="4434"/>
                </a:cubicBezTo>
                <a:cubicBezTo>
                  <a:pt x="5201" y="4840"/>
                  <a:pt x="3807" y="6359"/>
                  <a:pt x="2932" y="6999"/>
                </a:cubicBezTo>
                <a:cubicBezTo>
                  <a:pt x="2056" y="6359"/>
                  <a:pt x="663" y="4840"/>
                  <a:pt x="414" y="4434"/>
                </a:cubicBezTo>
                <a:cubicBezTo>
                  <a:pt x="151" y="3994"/>
                  <a:pt x="0" y="3480"/>
                  <a:pt x="0" y="2932"/>
                </a:cubicBezTo>
                <a:cubicBezTo>
                  <a:pt x="0" y="1313"/>
                  <a:pt x="1313" y="0"/>
                  <a:pt x="2932" y="0"/>
                </a:cubicBezTo>
                <a:close/>
              </a:path>
            </a:pathLst>
          </a:custGeom>
          <a:solidFill>
            <a:schemeClr val="accent5">
              <a:lumMod val="50000"/>
            </a:schemeClr>
          </a:solidFill>
          <a:ln>
            <a:noFill/>
          </a:ln>
        </p:spPr>
        <p:txBody>
          <a:bodyPr vert="horz" wrap="square" lIns="91434" tIns="45717" rIns="91434" bIns="45717" numCol="1" anchor="t" anchorCtr="0" compatLnSpc="1"/>
          <a:lstStyle/>
          <a:p>
            <a:endParaRPr lang="zh-CN" altLang="en-US"/>
          </a:p>
        </p:txBody>
      </p:sp>
      <p:sp>
        <p:nvSpPr>
          <p:cNvPr id="6" name="Freeform 6"/>
          <p:cNvSpPr/>
          <p:nvPr/>
        </p:nvSpPr>
        <p:spPr bwMode="auto">
          <a:xfrm>
            <a:off x="6135725" y="2824028"/>
            <a:ext cx="2336248" cy="2787341"/>
          </a:xfrm>
          <a:custGeom>
            <a:avLst/>
            <a:gdLst>
              <a:gd name="T0" fmla="*/ 2932 w 5863"/>
              <a:gd name="T1" fmla="*/ 0 h 6999"/>
              <a:gd name="T2" fmla="*/ 5863 w 5863"/>
              <a:gd name="T3" fmla="*/ 2932 h 6999"/>
              <a:gd name="T4" fmla="*/ 5450 w 5863"/>
              <a:gd name="T5" fmla="*/ 4434 h 6999"/>
              <a:gd name="T6" fmla="*/ 2932 w 5863"/>
              <a:gd name="T7" fmla="*/ 6999 h 6999"/>
              <a:gd name="T8" fmla="*/ 414 w 5863"/>
              <a:gd name="T9" fmla="*/ 4434 h 6999"/>
              <a:gd name="T10" fmla="*/ 0 w 5863"/>
              <a:gd name="T11" fmla="*/ 2932 h 6999"/>
              <a:gd name="T12" fmla="*/ 2932 w 5863"/>
              <a:gd name="T13" fmla="*/ 0 h 6999"/>
            </a:gdLst>
            <a:ahLst/>
            <a:cxnLst>
              <a:cxn ang="0">
                <a:pos x="T0" y="T1"/>
              </a:cxn>
              <a:cxn ang="0">
                <a:pos x="T2" y="T3"/>
              </a:cxn>
              <a:cxn ang="0">
                <a:pos x="T4" y="T5"/>
              </a:cxn>
              <a:cxn ang="0">
                <a:pos x="T6" y="T7"/>
              </a:cxn>
              <a:cxn ang="0">
                <a:pos x="T8" y="T9"/>
              </a:cxn>
              <a:cxn ang="0">
                <a:pos x="T10" y="T11"/>
              </a:cxn>
              <a:cxn ang="0">
                <a:pos x="T12" y="T13"/>
              </a:cxn>
            </a:cxnLst>
            <a:rect l="0" t="0" r="r" b="b"/>
            <a:pathLst>
              <a:path w="5863" h="6999">
                <a:moveTo>
                  <a:pt x="2932" y="0"/>
                </a:moveTo>
                <a:cubicBezTo>
                  <a:pt x="4550" y="0"/>
                  <a:pt x="5863" y="1313"/>
                  <a:pt x="5863" y="2932"/>
                </a:cubicBezTo>
                <a:cubicBezTo>
                  <a:pt x="5863" y="3480"/>
                  <a:pt x="5712" y="3994"/>
                  <a:pt x="5450" y="4434"/>
                </a:cubicBezTo>
                <a:cubicBezTo>
                  <a:pt x="5201" y="4840"/>
                  <a:pt x="3807" y="6359"/>
                  <a:pt x="2932" y="6999"/>
                </a:cubicBezTo>
                <a:cubicBezTo>
                  <a:pt x="2056" y="6359"/>
                  <a:pt x="663" y="4840"/>
                  <a:pt x="414" y="4434"/>
                </a:cubicBezTo>
                <a:cubicBezTo>
                  <a:pt x="151" y="3994"/>
                  <a:pt x="0" y="3480"/>
                  <a:pt x="0" y="2932"/>
                </a:cubicBezTo>
                <a:cubicBezTo>
                  <a:pt x="0" y="1313"/>
                  <a:pt x="1313" y="0"/>
                  <a:pt x="2932" y="0"/>
                </a:cubicBezTo>
                <a:close/>
              </a:path>
            </a:pathLst>
          </a:custGeom>
          <a:solidFill>
            <a:schemeClr val="accent2">
              <a:lumMod val="75000"/>
            </a:schemeClr>
          </a:solidFill>
          <a:ln>
            <a:noFill/>
          </a:ln>
        </p:spPr>
        <p:txBody>
          <a:bodyPr vert="horz" wrap="square" lIns="91434" tIns="45717" rIns="91434" bIns="45717" numCol="1" anchor="t" anchorCtr="0" compatLnSpc="1"/>
          <a:lstStyle/>
          <a:p>
            <a:endParaRPr lang="zh-CN" altLang="en-US"/>
          </a:p>
        </p:txBody>
      </p:sp>
      <p:sp>
        <p:nvSpPr>
          <p:cNvPr id="7" name="椭圆 5"/>
          <p:cNvSpPr/>
          <p:nvPr/>
        </p:nvSpPr>
        <p:spPr bwMode="auto">
          <a:xfrm>
            <a:off x="4604478" y="1639771"/>
            <a:ext cx="936104" cy="936104"/>
          </a:xfrm>
          <a:prstGeom prst="ellipse">
            <a:avLst/>
          </a:prstGeom>
          <a:solidFill>
            <a:schemeClr val="accent6"/>
          </a:solidFill>
          <a:ln w="9525" cap="flat" cmpd="sng" algn="ctr">
            <a:solidFill>
              <a:srgbClr val="F8F8F8"/>
            </a:solidFill>
            <a:prstDash val="solid"/>
            <a:round/>
            <a:headEnd type="none" w="med" len="med"/>
            <a:tailEnd type="none" w="med" len="med"/>
          </a:ln>
          <a:effectLst/>
        </p:spPr>
        <p:txBody>
          <a:bodyPr vert="horz" wrap="square" lIns="91434" tIns="45717" rIns="91434" bIns="45717" numCol="1" rtlCol="0" anchor="t" anchorCtr="0" compatLnSpc="1"/>
          <a:lstStyle/>
          <a:p>
            <a:pPr defTabSz="913765"/>
            <a:endParaRPr lang="zh-CN" altLang="en-US" sz="1700"/>
          </a:p>
        </p:txBody>
      </p:sp>
      <p:sp>
        <p:nvSpPr>
          <p:cNvPr id="8" name="椭圆 6"/>
          <p:cNvSpPr/>
          <p:nvPr/>
        </p:nvSpPr>
        <p:spPr bwMode="auto">
          <a:xfrm>
            <a:off x="7828408" y="2891317"/>
            <a:ext cx="911864" cy="911864"/>
          </a:xfrm>
          <a:prstGeom prst="ellipse">
            <a:avLst/>
          </a:prstGeom>
          <a:solidFill>
            <a:schemeClr val="accent6"/>
          </a:solidFill>
          <a:ln w="9525" cap="flat" cmpd="sng" algn="ctr">
            <a:solidFill>
              <a:srgbClr val="F8F8F8"/>
            </a:solidFill>
            <a:prstDash val="solid"/>
            <a:round/>
            <a:headEnd type="none" w="med" len="med"/>
            <a:tailEnd type="none" w="med" len="med"/>
          </a:ln>
          <a:effectLst/>
        </p:spPr>
        <p:txBody>
          <a:bodyPr vert="horz" wrap="square" lIns="91434" tIns="45717" rIns="91434" bIns="45717" numCol="1" rtlCol="0" anchor="t" anchorCtr="0" compatLnSpc="1"/>
          <a:lstStyle/>
          <a:p>
            <a:pPr defTabSz="913765"/>
            <a:endParaRPr lang="zh-CN" altLang="en-US" sz="1700"/>
          </a:p>
        </p:txBody>
      </p:sp>
      <p:sp>
        <p:nvSpPr>
          <p:cNvPr id="9" name="TextBox 7"/>
          <p:cNvSpPr txBox="1"/>
          <p:nvPr/>
        </p:nvSpPr>
        <p:spPr>
          <a:xfrm>
            <a:off x="4583031" y="1742141"/>
            <a:ext cx="935285" cy="646325"/>
          </a:xfrm>
          <a:prstGeom prst="rect">
            <a:avLst/>
          </a:prstGeom>
          <a:noFill/>
        </p:spPr>
        <p:txBody>
          <a:bodyPr wrap="square" lIns="91434" tIns="45717" rIns="91434" bIns="45717" rtlCol="0">
            <a:spAutoFit/>
          </a:bodyPr>
          <a:lstStyle/>
          <a:p>
            <a:pPr algn="ctr"/>
            <a:r>
              <a:rPr lang="en-US" altLang="zh-CN" dirty="0" smtClean="0">
                <a:solidFill>
                  <a:srgbClr val="F8F8F8"/>
                </a:solidFill>
                <a:latin typeface="Microsoft YaHei" pitchFamily="34" charset="-122"/>
                <a:ea typeface="Microsoft YaHei" pitchFamily="34" charset="-122"/>
              </a:rPr>
              <a:t>CAA</a:t>
            </a:r>
            <a:r>
              <a:rPr lang="zh-CN" altLang="en-US" dirty="0" smtClean="0">
                <a:solidFill>
                  <a:srgbClr val="F8F8F8"/>
                </a:solidFill>
                <a:latin typeface="Microsoft YaHei" pitchFamily="34" charset="-122"/>
                <a:ea typeface="Microsoft YaHei" pitchFamily="34" charset="-122"/>
              </a:rPr>
              <a:t>移動報修</a:t>
            </a:r>
            <a:endParaRPr lang="zh-CN" altLang="en-US" dirty="0" smtClean="0">
              <a:solidFill>
                <a:srgbClr val="F8F8F8"/>
              </a:solidFill>
              <a:latin typeface="Microsoft YaHei" pitchFamily="34" charset="-122"/>
              <a:ea typeface="Microsoft YaHei" pitchFamily="34" charset="-122"/>
            </a:endParaRPr>
          </a:p>
        </p:txBody>
      </p:sp>
      <p:sp>
        <p:nvSpPr>
          <p:cNvPr id="10" name="TextBox 8"/>
          <p:cNvSpPr txBox="1"/>
          <p:nvPr/>
        </p:nvSpPr>
        <p:spPr>
          <a:xfrm>
            <a:off x="7823809" y="2993728"/>
            <a:ext cx="921062" cy="646325"/>
          </a:xfrm>
          <a:prstGeom prst="rect">
            <a:avLst/>
          </a:prstGeom>
          <a:noFill/>
        </p:spPr>
        <p:txBody>
          <a:bodyPr wrap="square" lIns="91434" tIns="45717" rIns="91434" bIns="45717" rtlCol="0">
            <a:spAutoFit/>
          </a:bodyPr>
          <a:lstStyle/>
          <a:p>
            <a:pPr algn="ctr"/>
            <a:r>
              <a:rPr lang="en-US" altLang="zh-CN" dirty="0" smtClean="0">
                <a:solidFill>
                  <a:srgbClr val="F8F8F8"/>
                </a:solidFill>
                <a:latin typeface="Microsoft YaHei" pitchFamily="34" charset="-122"/>
                <a:ea typeface="Microsoft YaHei" pitchFamily="34" charset="-122"/>
              </a:rPr>
              <a:t>CAA</a:t>
            </a:r>
            <a:r>
              <a:rPr lang="zh-CN" altLang="en-US" dirty="0" smtClean="0">
                <a:solidFill>
                  <a:srgbClr val="F8F8F8"/>
                </a:solidFill>
                <a:latin typeface="Microsoft YaHei" pitchFamily="34" charset="-122"/>
                <a:ea typeface="Microsoft YaHei" pitchFamily="34" charset="-122"/>
              </a:rPr>
              <a:t>移動報修</a:t>
            </a:r>
            <a:endParaRPr lang="zh-CN" altLang="en-US" dirty="0">
              <a:solidFill>
                <a:srgbClr val="F8F8F8"/>
              </a:solidFill>
              <a:latin typeface="Microsoft YaHei" pitchFamily="34" charset="-122"/>
              <a:ea typeface="Microsoft YaHei" pitchFamily="34" charset="-122"/>
            </a:endParaRPr>
          </a:p>
        </p:txBody>
      </p:sp>
      <p:sp>
        <p:nvSpPr>
          <p:cNvPr id="12" name="TextBox 10"/>
          <p:cNvSpPr txBox="1"/>
          <p:nvPr/>
        </p:nvSpPr>
        <p:spPr>
          <a:xfrm>
            <a:off x="2439064" y="2751696"/>
            <a:ext cx="2611611" cy="1200323"/>
          </a:xfrm>
          <a:prstGeom prst="rect">
            <a:avLst/>
          </a:prstGeom>
          <a:noFill/>
        </p:spPr>
        <p:txBody>
          <a:bodyPr wrap="square" lIns="91434" tIns="45717" rIns="91434" bIns="45717" rtlCol="0">
            <a:spAutoFit/>
          </a:bodyPr>
          <a:lstStyle/>
          <a:p>
            <a:r>
              <a:rPr lang="zh-CN" altLang="en-US" dirty="0" smtClean="0">
                <a:solidFill>
                  <a:srgbClr val="F8F8F8"/>
                </a:solidFill>
                <a:latin typeface="Microsoft YaHei" pitchFamily="34" charset="-122"/>
                <a:ea typeface="Microsoft YaHei" pitchFamily="34" charset="-122"/>
              </a:rPr>
              <a:t>合理安排工作順序</a:t>
            </a:r>
            <a:r>
              <a:rPr lang="zh-CN" altLang="en-US" dirty="0">
                <a:solidFill>
                  <a:srgbClr val="F8F8F8"/>
                </a:solidFill>
                <a:latin typeface="Microsoft YaHei" pitchFamily="34" charset="-122"/>
                <a:ea typeface="Microsoft YaHei" pitchFamily="34" charset="-122"/>
              </a:rPr>
              <a:t>，</a:t>
            </a:r>
            <a:r>
              <a:rPr lang="zh-CN" altLang="en-US" dirty="0" smtClean="0">
                <a:solidFill>
                  <a:srgbClr val="F8F8F8"/>
                </a:solidFill>
                <a:latin typeface="Microsoft YaHei" pitchFamily="34" charset="-122"/>
                <a:ea typeface="Microsoft YaHei" pitchFamily="34" charset="-122"/>
              </a:rPr>
              <a:t>提升小組成員配合效率，保證系統按期交付用戶使用。</a:t>
            </a:r>
            <a:endParaRPr lang="zh-CN" altLang="en-US" dirty="0">
              <a:solidFill>
                <a:srgbClr val="F8F8F8"/>
              </a:solidFill>
              <a:latin typeface="Microsoft YaHei" pitchFamily="34" charset="-122"/>
              <a:ea typeface="Microsoft YaHei" pitchFamily="34" charset="-122"/>
            </a:endParaRPr>
          </a:p>
        </p:txBody>
      </p:sp>
      <p:sp>
        <p:nvSpPr>
          <p:cNvPr id="14" name="TextBox 12"/>
          <p:cNvSpPr txBox="1"/>
          <p:nvPr/>
        </p:nvSpPr>
        <p:spPr>
          <a:xfrm>
            <a:off x="6319982" y="3659660"/>
            <a:ext cx="1982582" cy="1200323"/>
          </a:xfrm>
          <a:prstGeom prst="rect">
            <a:avLst/>
          </a:prstGeom>
          <a:noFill/>
        </p:spPr>
        <p:txBody>
          <a:bodyPr wrap="square" lIns="91434" tIns="45717" rIns="91434" bIns="45717" rtlCol="0">
            <a:spAutoFit/>
          </a:bodyPr>
          <a:lstStyle/>
          <a:p>
            <a:pPr algn="ctr"/>
            <a:r>
              <a:rPr lang="zh-CN" altLang="en-US" dirty="0">
                <a:solidFill>
                  <a:srgbClr val="F8F8F8"/>
                </a:solidFill>
                <a:latin typeface="Microsoft YaHei" pitchFamily="34" charset="-122"/>
                <a:ea typeface="Microsoft YaHei" pitchFamily="34" charset="-122"/>
              </a:rPr>
              <a:t>移動端使用</a:t>
            </a:r>
            <a:r>
              <a:rPr lang="en-US" altLang="zh-CN" dirty="0" err="1">
                <a:solidFill>
                  <a:srgbClr val="F8F8F8"/>
                </a:solidFill>
                <a:latin typeface="Microsoft YaHei" pitchFamily="34" charset="-122"/>
                <a:ea typeface="Microsoft YaHei" pitchFamily="34" charset="-122"/>
              </a:rPr>
              <a:t>Vue</a:t>
            </a:r>
            <a:r>
              <a:rPr lang="zh-CN" altLang="en-US" dirty="0">
                <a:solidFill>
                  <a:srgbClr val="F8F8F8"/>
                </a:solidFill>
                <a:latin typeface="Microsoft YaHei" pitchFamily="34" charset="-122"/>
                <a:ea typeface="Microsoft YaHei" pitchFamily="34" charset="-122"/>
              </a:rPr>
              <a:t>開發</a:t>
            </a:r>
            <a:r>
              <a:rPr lang="en-US" altLang="zh-CN" dirty="0">
                <a:solidFill>
                  <a:srgbClr val="F8F8F8"/>
                </a:solidFill>
                <a:latin typeface="Microsoft YaHei" pitchFamily="34" charset="-122"/>
                <a:ea typeface="Microsoft YaHei" pitchFamily="34" charset="-122"/>
              </a:rPr>
              <a:t>,</a:t>
            </a:r>
            <a:r>
              <a:rPr lang="zh-CN" altLang="en-US" dirty="0">
                <a:solidFill>
                  <a:srgbClr val="F8F8F8"/>
                </a:solidFill>
                <a:latin typeface="Microsoft YaHei" pitchFamily="34" charset="-122"/>
                <a:ea typeface="Microsoft YaHei" pitchFamily="34" charset="-122"/>
              </a:rPr>
              <a:t>滿足多平台嵌入，有效控制專案風險</a:t>
            </a:r>
            <a:endParaRPr lang="zh-CN" altLang="en-US" dirty="0">
              <a:solidFill>
                <a:srgbClr val="F8F8F8"/>
              </a:solidFill>
              <a:latin typeface="Microsoft YaHei" pitchFamily="34" charset="-122"/>
              <a:ea typeface="Microsoft YaHei" pitchFamily="34" charset="-122"/>
            </a:endParaRPr>
          </a:p>
        </p:txBody>
      </p:sp>
      <p:sp>
        <p:nvSpPr>
          <p:cNvPr id="19" name="矩形 18"/>
          <p:cNvSpPr/>
          <p:nvPr/>
        </p:nvSpPr>
        <p:spPr>
          <a:xfrm>
            <a:off x="877482" y="565489"/>
            <a:ext cx="9772015" cy="9308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84480" tIns="162560" rIns="284480" bIns="162560" numCol="1" spcCol="1270" anchor="ctr" anchorCtr="0">
            <a:noAutofit/>
          </a:bodyPr>
          <a:lstStyle/>
          <a:p>
            <a:pPr lvl="0" algn="ctr" defTabSz="1778000">
              <a:lnSpc>
                <a:spcPct val="100000"/>
              </a:lnSpc>
              <a:spcBef>
                <a:spcPct val="0"/>
              </a:spcBef>
              <a:spcAft>
                <a:spcPct val="35000"/>
              </a:spcAft>
            </a:pPr>
            <a:r>
              <a:rPr lang="en-US" altLang="zh-CN" sz="4000" kern="1200" dirty="0" smtClean="0">
                <a:latin typeface="微软雅黑" panose="020B0503020204020204" pitchFamily="34" charset="-122"/>
                <a:ea typeface="微软雅黑" panose="020B0503020204020204" pitchFamily="34" charset="-122"/>
              </a:rPr>
              <a:t>CAA</a:t>
            </a:r>
            <a:r>
              <a:rPr lang="zh-CN" altLang="en-US" sz="4000" kern="1200" dirty="0" smtClean="0">
                <a:latin typeface="微软雅黑" panose="020B0503020204020204" pitchFamily="34" charset="-122"/>
                <a:ea typeface="微软雅黑" panose="020B0503020204020204" pitchFamily="34" charset="-122"/>
              </a:rPr>
              <a:t>移動報修</a:t>
            </a:r>
            <a:endParaRPr lang="zh-CN" altLang="en-US" sz="4000" kern="1200" dirty="0" smtClean="0">
              <a:latin typeface="微软雅黑" panose="020B0503020204020204" pitchFamily="34" charset="-122"/>
              <a:ea typeface="微软雅黑" panose="020B0503020204020204" pitchFamily="34" charset="-122"/>
            </a:endParaRPr>
          </a:p>
        </p:txBody>
      </p:sp>
      <p:sp>
        <p:nvSpPr>
          <p:cNvPr id="13" name="TextBox 3"/>
          <p:cNvSpPr txBox="1"/>
          <p:nvPr/>
        </p:nvSpPr>
        <p:spPr>
          <a:xfrm>
            <a:off x="628509" y="733384"/>
            <a:ext cx="2590621" cy="559372"/>
          </a:xfrm>
          <a:prstGeom prst="rect">
            <a:avLst/>
          </a:prstGeom>
        </p:spPr>
        <p:style>
          <a:lnRef idx="1">
            <a:schemeClr val="accent3"/>
          </a:lnRef>
          <a:fillRef idx="3">
            <a:schemeClr val="accent3"/>
          </a:fillRef>
          <a:effectRef idx="2">
            <a:schemeClr val="accent3"/>
          </a:effectRef>
          <a:fontRef idx="minor">
            <a:schemeClr val="lt1"/>
          </a:fontRef>
        </p:style>
        <p:txBody>
          <a:bodyPr wrap="square" lIns="96762" tIns="48381" rIns="96762" bIns="48381" rtlCol="0">
            <a:spAutoFit/>
          </a:bodyPr>
          <a:lstStyle/>
          <a:p>
            <a:pPr algn="ctr"/>
            <a:r>
              <a:rPr lang="zh-CN" altLang="en-US" sz="3000" dirty="0" smtClean="0">
                <a:latin typeface="微软雅黑" panose="020B0503020204020204" pitchFamily="34" charset="-122"/>
                <a:ea typeface="微软雅黑" panose="020B0503020204020204" pitchFamily="34" charset="-122"/>
              </a:rPr>
              <a:t>專案管理</a:t>
            </a:r>
            <a:endParaRPr lang="zh-CN" altLang="en-US" sz="3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435">
                                          <p:stCondLst>
                                            <p:cond delay="0"/>
                                          </p:stCondLst>
                                        </p:cTn>
                                        <p:tgtEl>
                                          <p:spTgt spid="5"/>
                                        </p:tgtEl>
                                      </p:cBhvr>
                                    </p:animEffect>
                                    <p:anim calcmode="lin" valueType="num">
                                      <p:cBhvr>
                                        <p:cTn id="8" dur="1367"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498"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498" tmFilter="0, 0; 0.125,0.2665; 0.25,0.4; 0.375,0.465; 0.5,0.5;  0.625,0.535; 0.75,0.6; 0.875,0.7335; 1,1">
                                          <p:stCondLst>
                                            <p:cond delay="498"/>
                                          </p:stCondLst>
                                        </p:cTn>
                                        <p:tgtEl>
                                          <p:spTgt spid="5"/>
                                        </p:tgtEl>
                                        <p:attrNameLst>
                                          <p:attrName>ppt_y</p:attrName>
                                        </p:attrNameLst>
                                      </p:cBhvr>
                                      <p:tavLst>
                                        <p:tav tm="0" fmla="#ppt_y-sin(pi*$)/9">
                                          <p:val>
                                            <p:fltVal val="0"/>
                                          </p:val>
                                        </p:tav>
                                        <p:tav tm="100000">
                                          <p:val>
                                            <p:fltVal val="1"/>
                                          </p:val>
                                        </p:tav>
                                      </p:tavLst>
                                    </p:anim>
                                    <p:anim calcmode="lin" valueType="num">
                                      <p:cBhvr>
                                        <p:cTn id="11" dur="249" tmFilter="0, 0; 0.125,0.2665; 0.25,0.4; 0.375,0.465; 0.5,0.5;  0.625,0.535; 0.75,0.6; 0.875,0.7335; 1,1">
                                          <p:stCondLst>
                                            <p:cond delay="993"/>
                                          </p:stCondLst>
                                        </p:cTn>
                                        <p:tgtEl>
                                          <p:spTgt spid="5"/>
                                        </p:tgtEl>
                                        <p:attrNameLst>
                                          <p:attrName>ppt_y</p:attrName>
                                        </p:attrNameLst>
                                      </p:cBhvr>
                                      <p:tavLst>
                                        <p:tav tm="0" fmla="#ppt_y-sin(pi*$)/27">
                                          <p:val>
                                            <p:fltVal val="0"/>
                                          </p:val>
                                        </p:tav>
                                        <p:tav tm="100000">
                                          <p:val>
                                            <p:fltVal val="1"/>
                                          </p:val>
                                        </p:tav>
                                      </p:tavLst>
                                    </p:anim>
                                    <p:anim calcmode="lin" valueType="num">
                                      <p:cBhvr>
                                        <p:cTn id="12" dur="123" tmFilter="0, 0; 0.125,0.2665; 0.25,0.4; 0.375,0.465; 0.5,0.5;  0.625,0.535; 0.75,0.6; 0.875,0.7335; 1,1">
                                          <p:stCondLst>
                                            <p:cond delay="1242"/>
                                          </p:stCondLst>
                                        </p:cTn>
                                        <p:tgtEl>
                                          <p:spTgt spid="5"/>
                                        </p:tgtEl>
                                        <p:attrNameLst>
                                          <p:attrName>ppt_y</p:attrName>
                                        </p:attrNameLst>
                                      </p:cBhvr>
                                      <p:tavLst>
                                        <p:tav tm="0" fmla="#ppt_y-sin(pi*$)/81">
                                          <p:val>
                                            <p:fltVal val="0"/>
                                          </p:val>
                                        </p:tav>
                                        <p:tav tm="100000">
                                          <p:val>
                                            <p:fltVal val="1"/>
                                          </p:val>
                                        </p:tav>
                                      </p:tavLst>
                                    </p:anim>
                                    <p:animScale>
                                      <p:cBhvr>
                                        <p:cTn id="13" dur="20">
                                          <p:stCondLst>
                                            <p:cond delay="487"/>
                                          </p:stCondLst>
                                        </p:cTn>
                                        <p:tgtEl>
                                          <p:spTgt spid="5"/>
                                        </p:tgtEl>
                                      </p:cBhvr>
                                      <p:to x="100000" y="60000"/>
                                    </p:animScale>
                                    <p:animScale>
                                      <p:cBhvr>
                                        <p:cTn id="14" dur="124" decel="50000">
                                          <p:stCondLst>
                                            <p:cond delay="507"/>
                                          </p:stCondLst>
                                        </p:cTn>
                                        <p:tgtEl>
                                          <p:spTgt spid="5"/>
                                        </p:tgtEl>
                                      </p:cBhvr>
                                      <p:to x="100000" y="100000"/>
                                    </p:animScale>
                                    <p:animScale>
                                      <p:cBhvr>
                                        <p:cTn id="15" dur="20">
                                          <p:stCondLst>
                                            <p:cond delay="984"/>
                                          </p:stCondLst>
                                        </p:cTn>
                                        <p:tgtEl>
                                          <p:spTgt spid="5"/>
                                        </p:tgtEl>
                                      </p:cBhvr>
                                      <p:to x="100000" y="80000"/>
                                    </p:animScale>
                                    <p:animScale>
                                      <p:cBhvr>
                                        <p:cTn id="16" dur="124" decel="50000">
                                          <p:stCondLst>
                                            <p:cond delay="1004"/>
                                          </p:stCondLst>
                                        </p:cTn>
                                        <p:tgtEl>
                                          <p:spTgt spid="5"/>
                                        </p:tgtEl>
                                      </p:cBhvr>
                                      <p:to x="100000" y="100000"/>
                                    </p:animScale>
                                    <p:animScale>
                                      <p:cBhvr>
                                        <p:cTn id="17" dur="20">
                                          <p:stCondLst>
                                            <p:cond delay="1231"/>
                                          </p:stCondLst>
                                        </p:cTn>
                                        <p:tgtEl>
                                          <p:spTgt spid="5"/>
                                        </p:tgtEl>
                                      </p:cBhvr>
                                      <p:to x="100000" y="90000"/>
                                    </p:animScale>
                                    <p:animScale>
                                      <p:cBhvr>
                                        <p:cTn id="18" dur="124" decel="50000">
                                          <p:stCondLst>
                                            <p:cond delay="1251"/>
                                          </p:stCondLst>
                                        </p:cTn>
                                        <p:tgtEl>
                                          <p:spTgt spid="5"/>
                                        </p:tgtEl>
                                      </p:cBhvr>
                                      <p:to x="100000" y="100000"/>
                                    </p:animScale>
                                    <p:animScale>
                                      <p:cBhvr>
                                        <p:cTn id="19" dur="20">
                                          <p:stCondLst>
                                            <p:cond delay="1356"/>
                                          </p:stCondLst>
                                        </p:cTn>
                                        <p:tgtEl>
                                          <p:spTgt spid="5"/>
                                        </p:tgtEl>
                                      </p:cBhvr>
                                      <p:to x="100000" y="95000"/>
                                    </p:animScale>
                                    <p:animScale>
                                      <p:cBhvr>
                                        <p:cTn id="20" dur="124" decel="50000">
                                          <p:stCondLst>
                                            <p:cond delay="1376"/>
                                          </p:stCondLst>
                                        </p:cTn>
                                        <p:tgtEl>
                                          <p:spTgt spid="5"/>
                                        </p:tgtEl>
                                      </p:cBhvr>
                                      <p:to x="100000" y="100000"/>
                                    </p:animScale>
                                  </p:childTnLst>
                                </p:cTn>
                              </p:par>
                              <p:par>
                                <p:cTn id="21" presetID="26" presetClass="entr" presetSubtype="0" fill="hold" grpId="0" nodeType="withEffect">
                                  <p:stCondLst>
                                    <p:cond delay="50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435">
                                          <p:stCondLst>
                                            <p:cond delay="0"/>
                                          </p:stCondLst>
                                        </p:cTn>
                                        <p:tgtEl>
                                          <p:spTgt spid="6"/>
                                        </p:tgtEl>
                                      </p:cBhvr>
                                    </p:animEffect>
                                    <p:anim calcmode="lin" valueType="num">
                                      <p:cBhvr>
                                        <p:cTn id="24" dur="1367"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5" dur="498"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6" dur="498" tmFilter="0, 0; 0.125,0.2665; 0.25,0.4; 0.375,0.465; 0.5,0.5;  0.625,0.535; 0.75,0.6; 0.875,0.7335; 1,1">
                                          <p:stCondLst>
                                            <p:cond delay="498"/>
                                          </p:stCondLst>
                                        </p:cTn>
                                        <p:tgtEl>
                                          <p:spTgt spid="6"/>
                                        </p:tgtEl>
                                        <p:attrNameLst>
                                          <p:attrName>ppt_y</p:attrName>
                                        </p:attrNameLst>
                                      </p:cBhvr>
                                      <p:tavLst>
                                        <p:tav tm="0" fmla="#ppt_y-sin(pi*$)/9">
                                          <p:val>
                                            <p:fltVal val="0"/>
                                          </p:val>
                                        </p:tav>
                                        <p:tav tm="100000">
                                          <p:val>
                                            <p:fltVal val="1"/>
                                          </p:val>
                                        </p:tav>
                                      </p:tavLst>
                                    </p:anim>
                                    <p:anim calcmode="lin" valueType="num">
                                      <p:cBhvr>
                                        <p:cTn id="27" dur="249" tmFilter="0, 0; 0.125,0.2665; 0.25,0.4; 0.375,0.465; 0.5,0.5;  0.625,0.535; 0.75,0.6; 0.875,0.7335; 1,1">
                                          <p:stCondLst>
                                            <p:cond delay="993"/>
                                          </p:stCondLst>
                                        </p:cTn>
                                        <p:tgtEl>
                                          <p:spTgt spid="6"/>
                                        </p:tgtEl>
                                        <p:attrNameLst>
                                          <p:attrName>ppt_y</p:attrName>
                                        </p:attrNameLst>
                                      </p:cBhvr>
                                      <p:tavLst>
                                        <p:tav tm="0" fmla="#ppt_y-sin(pi*$)/27">
                                          <p:val>
                                            <p:fltVal val="0"/>
                                          </p:val>
                                        </p:tav>
                                        <p:tav tm="100000">
                                          <p:val>
                                            <p:fltVal val="1"/>
                                          </p:val>
                                        </p:tav>
                                      </p:tavLst>
                                    </p:anim>
                                    <p:anim calcmode="lin" valueType="num">
                                      <p:cBhvr>
                                        <p:cTn id="28" dur="123" tmFilter="0, 0; 0.125,0.2665; 0.25,0.4; 0.375,0.465; 0.5,0.5;  0.625,0.535; 0.75,0.6; 0.875,0.7335; 1,1">
                                          <p:stCondLst>
                                            <p:cond delay="1242"/>
                                          </p:stCondLst>
                                        </p:cTn>
                                        <p:tgtEl>
                                          <p:spTgt spid="6"/>
                                        </p:tgtEl>
                                        <p:attrNameLst>
                                          <p:attrName>ppt_y</p:attrName>
                                        </p:attrNameLst>
                                      </p:cBhvr>
                                      <p:tavLst>
                                        <p:tav tm="0" fmla="#ppt_y-sin(pi*$)/81">
                                          <p:val>
                                            <p:fltVal val="0"/>
                                          </p:val>
                                        </p:tav>
                                        <p:tav tm="100000">
                                          <p:val>
                                            <p:fltVal val="1"/>
                                          </p:val>
                                        </p:tav>
                                      </p:tavLst>
                                    </p:anim>
                                    <p:animScale>
                                      <p:cBhvr>
                                        <p:cTn id="29" dur="20">
                                          <p:stCondLst>
                                            <p:cond delay="487"/>
                                          </p:stCondLst>
                                        </p:cTn>
                                        <p:tgtEl>
                                          <p:spTgt spid="6"/>
                                        </p:tgtEl>
                                      </p:cBhvr>
                                      <p:to x="100000" y="60000"/>
                                    </p:animScale>
                                    <p:animScale>
                                      <p:cBhvr>
                                        <p:cTn id="30" dur="124" decel="50000">
                                          <p:stCondLst>
                                            <p:cond delay="507"/>
                                          </p:stCondLst>
                                        </p:cTn>
                                        <p:tgtEl>
                                          <p:spTgt spid="6"/>
                                        </p:tgtEl>
                                      </p:cBhvr>
                                      <p:to x="100000" y="100000"/>
                                    </p:animScale>
                                    <p:animScale>
                                      <p:cBhvr>
                                        <p:cTn id="31" dur="20">
                                          <p:stCondLst>
                                            <p:cond delay="984"/>
                                          </p:stCondLst>
                                        </p:cTn>
                                        <p:tgtEl>
                                          <p:spTgt spid="6"/>
                                        </p:tgtEl>
                                      </p:cBhvr>
                                      <p:to x="100000" y="80000"/>
                                    </p:animScale>
                                    <p:animScale>
                                      <p:cBhvr>
                                        <p:cTn id="32" dur="124" decel="50000">
                                          <p:stCondLst>
                                            <p:cond delay="1004"/>
                                          </p:stCondLst>
                                        </p:cTn>
                                        <p:tgtEl>
                                          <p:spTgt spid="6"/>
                                        </p:tgtEl>
                                      </p:cBhvr>
                                      <p:to x="100000" y="100000"/>
                                    </p:animScale>
                                    <p:animScale>
                                      <p:cBhvr>
                                        <p:cTn id="33" dur="20">
                                          <p:stCondLst>
                                            <p:cond delay="1231"/>
                                          </p:stCondLst>
                                        </p:cTn>
                                        <p:tgtEl>
                                          <p:spTgt spid="6"/>
                                        </p:tgtEl>
                                      </p:cBhvr>
                                      <p:to x="100000" y="90000"/>
                                    </p:animScale>
                                    <p:animScale>
                                      <p:cBhvr>
                                        <p:cTn id="34" dur="124" decel="50000">
                                          <p:stCondLst>
                                            <p:cond delay="1251"/>
                                          </p:stCondLst>
                                        </p:cTn>
                                        <p:tgtEl>
                                          <p:spTgt spid="6"/>
                                        </p:tgtEl>
                                      </p:cBhvr>
                                      <p:to x="100000" y="100000"/>
                                    </p:animScale>
                                    <p:animScale>
                                      <p:cBhvr>
                                        <p:cTn id="35" dur="20">
                                          <p:stCondLst>
                                            <p:cond delay="1356"/>
                                          </p:stCondLst>
                                        </p:cTn>
                                        <p:tgtEl>
                                          <p:spTgt spid="6"/>
                                        </p:tgtEl>
                                      </p:cBhvr>
                                      <p:to x="100000" y="95000"/>
                                    </p:animScale>
                                    <p:animScale>
                                      <p:cBhvr>
                                        <p:cTn id="36" dur="124" decel="50000">
                                          <p:stCondLst>
                                            <p:cond delay="1376"/>
                                          </p:stCondLst>
                                        </p:cTn>
                                        <p:tgtEl>
                                          <p:spTgt spid="6"/>
                                        </p:tgtEl>
                                      </p:cBhvr>
                                      <p:to x="100000" y="100000"/>
                                    </p:animScale>
                                  </p:childTnLst>
                                </p:cTn>
                              </p:par>
                              <p:par>
                                <p:cTn id="37" presetID="3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ppt_w</p:attrName>
                                        </p:attrNameLst>
                                      </p:cBhvr>
                                      <p:tavLst>
                                        <p:tav tm="0">
                                          <p:val>
                                            <p:fltVal val="0"/>
                                          </p:val>
                                        </p:tav>
                                        <p:tav tm="100000">
                                          <p:val>
                                            <p:strVal val="#ppt_w"/>
                                          </p:val>
                                        </p:tav>
                                      </p:tavLst>
                                    </p:anim>
                                    <p:anim calcmode="lin" valueType="num">
                                      <p:cBhvr>
                                        <p:cTn id="40" dur="500" fill="hold"/>
                                        <p:tgtEl>
                                          <p:spTgt spid="12"/>
                                        </p:tgtEl>
                                        <p:attrNameLst>
                                          <p:attrName>ppt_h</p:attrName>
                                        </p:attrNameLst>
                                      </p:cBhvr>
                                      <p:tavLst>
                                        <p:tav tm="0">
                                          <p:val>
                                            <p:fltVal val="0"/>
                                          </p:val>
                                        </p:tav>
                                        <p:tav tm="100000">
                                          <p:val>
                                            <p:strVal val="#ppt_h"/>
                                          </p:val>
                                        </p:tav>
                                      </p:tavLst>
                                    </p:anim>
                                    <p:anim calcmode="lin" valueType="num">
                                      <p:cBhvr>
                                        <p:cTn id="41" dur="500" fill="hold"/>
                                        <p:tgtEl>
                                          <p:spTgt spid="12"/>
                                        </p:tgtEl>
                                        <p:attrNameLst>
                                          <p:attrName>style.rotation</p:attrName>
                                        </p:attrNameLst>
                                      </p:cBhvr>
                                      <p:tavLst>
                                        <p:tav tm="0">
                                          <p:val>
                                            <p:fltVal val="90"/>
                                          </p:val>
                                        </p:tav>
                                        <p:tav tm="100000">
                                          <p:val>
                                            <p:fltVal val="0"/>
                                          </p:val>
                                        </p:tav>
                                      </p:tavLst>
                                    </p:anim>
                                    <p:animEffect transition="in" filter="fade">
                                      <p:cBhvr>
                                        <p:cTn id="42" dur="500"/>
                                        <p:tgtEl>
                                          <p:spTgt spid="12"/>
                                        </p:tgtEl>
                                      </p:cBhvr>
                                    </p:animEffect>
                                  </p:childTnLst>
                                </p:cTn>
                              </p:par>
                            </p:childTnLst>
                          </p:cTn>
                        </p:par>
                        <p:par>
                          <p:cTn id="43" fill="hold">
                            <p:stCondLst>
                              <p:cond delay="1500"/>
                            </p:stCondLst>
                            <p:childTnLst>
                              <p:par>
                                <p:cTn id="44" presetID="52" presetClass="entr" presetSubtype="0" fill="hold" grpId="0" nodeType="afterEffect">
                                  <p:stCondLst>
                                    <p:cond delay="0"/>
                                  </p:stCondLst>
                                  <p:childTnLst>
                                    <p:set>
                                      <p:cBhvr>
                                        <p:cTn id="45" dur="1" fill="hold">
                                          <p:stCondLst>
                                            <p:cond delay="0"/>
                                          </p:stCondLst>
                                        </p:cTn>
                                        <p:tgtEl>
                                          <p:spTgt spid="7"/>
                                        </p:tgtEl>
                                        <p:attrNameLst>
                                          <p:attrName>style.visibility</p:attrName>
                                        </p:attrNameLst>
                                      </p:cBhvr>
                                      <p:to>
                                        <p:strVal val="visible"/>
                                      </p:to>
                                    </p:set>
                                    <p:animScale>
                                      <p:cBhvr>
                                        <p:cTn id="46"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7" dur="1000" decel="50000" fill="hold">
                                          <p:stCondLst>
                                            <p:cond delay="0"/>
                                          </p:stCondLst>
                                        </p:cTn>
                                        <p:tgtEl>
                                          <p:spTgt spid="7"/>
                                        </p:tgtEl>
                                        <p:attrNameLst>
                                          <p:attrName>ppt_x</p:attrName>
                                          <p:attrName>ppt_y</p:attrName>
                                        </p:attrNameLst>
                                      </p:cBhvr>
                                    </p:animMotion>
                                    <p:animEffect transition="in" filter="fade">
                                      <p:cBhvr>
                                        <p:cTn id="48" dur="1000"/>
                                        <p:tgtEl>
                                          <p:spTgt spid="7"/>
                                        </p:tgtEl>
                                      </p:cBhvr>
                                    </p:animEffect>
                                  </p:childTnLst>
                                </p:cTn>
                              </p:par>
                              <p:par>
                                <p:cTn id="49" presetID="52"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Scale>
                                      <p:cBhvr>
                                        <p:cTn id="51" dur="1000" decel="50000" fill="hold">
                                          <p:stCondLst>
                                            <p:cond delay="0"/>
                                          </p:stCondLst>
                                        </p:cTn>
                                        <p:tgtEl>
                                          <p:spTgt spid="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2" dur="1000" decel="50000" fill="hold">
                                          <p:stCondLst>
                                            <p:cond delay="0"/>
                                          </p:stCondLst>
                                        </p:cTn>
                                        <p:tgtEl>
                                          <p:spTgt spid="9"/>
                                        </p:tgtEl>
                                        <p:attrNameLst>
                                          <p:attrName>ppt_x</p:attrName>
                                          <p:attrName>ppt_y</p:attrName>
                                        </p:attrNameLst>
                                      </p:cBhvr>
                                    </p:animMotion>
                                    <p:animEffect transition="in" filter="fade">
                                      <p:cBhvr>
                                        <p:cTn id="53" dur="1000"/>
                                        <p:tgtEl>
                                          <p:spTgt spid="9"/>
                                        </p:tgtEl>
                                      </p:cBhvr>
                                    </p:animEffect>
                                  </p:childTnLst>
                                </p:cTn>
                              </p:par>
                              <p:par>
                                <p:cTn id="54" presetID="31"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p:cTn id="56" dur="500" fill="hold"/>
                                        <p:tgtEl>
                                          <p:spTgt spid="14"/>
                                        </p:tgtEl>
                                        <p:attrNameLst>
                                          <p:attrName>ppt_w</p:attrName>
                                        </p:attrNameLst>
                                      </p:cBhvr>
                                      <p:tavLst>
                                        <p:tav tm="0">
                                          <p:val>
                                            <p:fltVal val="0"/>
                                          </p:val>
                                        </p:tav>
                                        <p:tav tm="100000">
                                          <p:val>
                                            <p:strVal val="#ppt_w"/>
                                          </p:val>
                                        </p:tav>
                                      </p:tavLst>
                                    </p:anim>
                                    <p:anim calcmode="lin" valueType="num">
                                      <p:cBhvr>
                                        <p:cTn id="57" dur="500" fill="hold"/>
                                        <p:tgtEl>
                                          <p:spTgt spid="14"/>
                                        </p:tgtEl>
                                        <p:attrNameLst>
                                          <p:attrName>ppt_h</p:attrName>
                                        </p:attrNameLst>
                                      </p:cBhvr>
                                      <p:tavLst>
                                        <p:tav tm="0">
                                          <p:val>
                                            <p:fltVal val="0"/>
                                          </p:val>
                                        </p:tav>
                                        <p:tav tm="100000">
                                          <p:val>
                                            <p:strVal val="#ppt_h"/>
                                          </p:val>
                                        </p:tav>
                                      </p:tavLst>
                                    </p:anim>
                                    <p:anim calcmode="lin" valueType="num">
                                      <p:cBhvr>
                                        <p:cTn id="58" dur="500" fill="hold"/>
                                        <p:tgtEl>
                                          <p:spTgt spid="14"/>
                                        </p:tgtEl>
                                        <p:attrNameLst>
                                          <p:attrName>style.rotation</p:attrName>
                                        </p:attrNameLst>
                                      </p:cBhvr>
                                      <p:tavLst>
                                        <p:tav tm="0">
                                          <p:val>
                                            <p:fltVal val="90"/>
                                          </p:val>
                                        </p:tav>
                                        <p:tav tm="100000">
                                          <p:val>
                                            <p:fltVal val="0"/>
                                          </p:val>
                                        </p:tav>
                                      </p:tavLst>
                                    </p:anim>
                                    <p:animEffect transition="in" filter="fade">
                                      <p:cBhvr>
                                        <p:cTn id="59" dur="500"/>
                                        <p:tgtEl>
                                          <p:spTgt spid="14"/>
                                        </p:tgtEl>
                                      </p:cBhvr>
                                    </p:animEffect>
                                  </p:childTnLst>
                                </p:cTn>
                              </p:par>
                            </p:childTnLst>
                          </p:cTn>
                        </p:par>
                        <p:par>
                          <p:cTn id="60" fill="hold">
                            <p:stCondLst>
                              <p:cond delay="2500"/>
                            </p:stCondLst>
                            <p:childTnLst>
                              <p:par>
                                <p:cTn id="61" presetID="52" presetClass="entr" presetSubtype="0" fill="hold" grpId="0" nodeType="afterEffect">
                                  <p:stCondLst>
                                    <p:cond delay="0"/>
                                  </p:stCondLst>
                                  <p:childTnLst>
                                    <p:set>
                                      <p:cBhvr>
                                        <p:cTn id="62" dur="1" fill="hold">
                                          <p:stCondLst>
                                            <p:cond delay="0"/>
                                          </p:stCondLst>
                                        </p:cTn>
                                        <p:tgtEl>
                                          <p:spTgt spid="8"/>
                                        </p:tgtEl>
                                        <p:attrNameLst>
                                          <p:attrName>style.visibility</p:attrName>
                                        </p:attrNameLst>
                                      </p:cBhvr>
                                      <p:to>
                                        <p:strVal val="visible"/>
                                      </p:to>
                                    </p:set>
                                    <p:animScale>
                                      <p:cBhvr>
                                        <p:cTn id="63"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4" dur="1000" decel="50000" fill="hold">
                                          <p:stCondLst>
                                            <p:cond delay="0"/>
                                          </p:stCondLst>
                                        </p:cTn>
                                        <p:tgtEl>
                                          <p:spTgt spid="8"/>
                                        </p:tgtEl>
                                        <p:attrNameLst>
                                          <p:attrName>ppt_x</p:attrName>
                                          <p:attrName>ppt_y</p:attrName>
                                        </p:attrNameLst>
                                      </p:cBhvr>
                                    </p:animMotion>
                                    <p:animEffect transition="in" filter="fade">
                                      <p:cBhvr>
                                        <p:cTn id="65" dur="1000"/>
                                        <p:tgtEl>
                                          <p:spTgt spid="8"/>
                                        </p:tgtEl>
                                      </p:cBhvr>
                                    </p:animEffect>
                                  </p:childTnLst>
                                </p:cTn>
                              </p:par>
                              <p:par>
                                <p:cTn id="66" presetID="52" presetClass="entr" presetSubtype="0" fill="hold" grpId="0" nodeType="withEffect">
                                  <p:stCondLst>
                                    <p:cond delay="0"/>
                                  </p:stCondLst>
                                  <p:childTnLst>
                                    <p:set>
                                      <p:cBhvr>
                                        <p:cTn id="67" dur="1" fill="hold">
                                          <p:stCondLst>
                                            <p:cond delay="0"/>
                                          </p:stCondLst>
                                        </p:cTn>
                                        <p:tgtEl>
                                          <p:spTgt spid="10"/>
                                        </p:tgtEl>
                                        <p:attrNameLst>
                                          <p:attrName>style.visibility</p:attrName>
                                        </p:attrNameLst>
                                      </p:cBhvr>
                                      <p:to>
                                        <p:strVal val="visible"/>
                                      </p:to>
                                    </p:set>
                                    <p:animScale>
                                      <p:cBhvr>
                                        <p:cTn id="68" dur="10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9" dur="1000" decel="50000" fill="hold">
                                          <p:stCondLst>
                                            <p:cond delay="0"/>
                                          </p:stCondLst>
                                        </p:cTn>
                                        <p:tgtEl>
                                          <p:spTgt spid="10"/>
                                        </p:tgtEl>
                                        <p:attrNameLst>
                                          <p:attrName>ppt_x</p:attrName>
                                          <p:attrName>ppt_y</p:attrName>
                                        </p:attrNameLst>
                                      </p:cBhvr>
                                    </p:animMotion>
                                    <p:animEffect transition="in" filter="fade">
                                      <p:cBhvr>
                                        <p:cTn id="7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10" grpId="0"/>
      <p:bldP spid="12"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7"/>
          <p:cNvSpPr txBox="1"/>
          <p:nvPr/>
        </p:nvSpPr>
        <p:spPr>
          <a:xfrm>
            <a:off x="4583031" y="1742141"/>
            <a:ext cx="935285" cy="643890"/>
          </a:xfrm>
          <a:prstGeom prst="rect">
            <a:avLst/>
          </a:prstGeom>
          <a:noFill/>
        </p:spPr>
        <p:txBody>
          <a:bodyPr wrap="square" lIns="91434" tIns="45717" rIns="91434" bIns="45717" rtlCol="0">
            <a:spAutoFit/>
          </a:bodyPr>
          <a:lstStyle/>
          <a:p>
            <a:pPr algn="ctr"/>
            <a:r>
              <a:rPr lang="en-US" altLang="zh-CN" dirty="0" smtClean="0">
                <a:solidFill>
                  <a:srgbClr val="F8F8F8"/>
                </a:solidFill>
                <a:latin typeface="Microsoft YaHei" pitchFamily="34" charset="-122"/>
                <a:ea typeface="Microsoft YaHei" pitchFamily="34" charset="-122"/>
              </a:rPr>
              <a:t>CAA</a:t>
            </a:r>
            <a:r>
              <a:rPr lang="zh-CN" altLang="en-US" dirty="0" smtClean="0">
                <a:solidFill>
                  <a:srgbClr val="F8F8F8"/>
                </a:solidFill>
                <a:latin typeface="Microsoft YaHei" pitchFamily="34" charset="-122"/>
                <a:ea typeface="Microsoft YaHei" pitchFamily="34" charset="-122"/>
              </a:rPr>
              <a:t>移動報</a:t>
            </a:r>
            <a:endParaRPr lang="zh-CN" altLang="en-US" dirty="0" smtClean="0">
              <a:solidFill>
                <a:srgbClr val="F8F8F8"/>
              </a:solidFill>
              <a:latin typeface="Microsoft YaHei" pitchFamily="34" charset="-122"/>
              <a:ea typeface="Microsoft YaHei" pitchFamily="34" charset="-122"/>
            </a:endParaRPr>
          </a:p>
        </p:txBody>
      </p:sp>
      <p:sp>
        <p:nvSpPr>
          <p:cNvPr id="10" name="TextBox 8"/>
          <p:cNvSpPr txBox="1"/>
          <p:nvPr/>
        </p:nvSpPr>
        <p:spPr>
          <a:xfrm>
            <a:off x="7823809" y="2993728"/>
            <a:ext cx="921062" cy="646325"/>
          </a:xfrm>
          <a:prstGeom prst="rect">
            <a:avLst/>
          </a:prstGeom>
          <a:noFill/>
        </p:spPr>
        <p:txBody>
          <a:bodyPr wrap="square" lIns="91434" tIns="45717" rIns="91434" bIns="45717" rtlCol="0">
            <a:spAutoFit/>
          </a:bodyPr>
          <a:lstStyle/>
          <a:p>
            <a:pPr algn="ctr"/>
            <a:r>
              <a:rPr lang="en-US" altLang="zh-CN" dirty="0" smtClean="0">
                <a:solidFill>
                  <a:srgbClr val="F8F8F8"/>
                </a:solidFill>
                <a:latin typeface="Microsoft YaHei" pitchFamily="34" charset="-122"/>
                <a:ea typeface="Microsoft YaHei" pitchFamily="34" charset="-122"/>
              </a:rPr>
              <a:t>CAA</a:t>
            </a:r>
            <a:r>
              <a:rPr lang="zh-CN" altLang="en-US" dirty="0" smtClean="0">
                <a:solidFill>
                  <a:srgbClr val="F8F8F8"/>
                </a:solidFill>
                <a:latin typeface="Microsoft YaHei" pitchFamily="34" charset="-122"/>
                <a:ea typeface="Microsoft YaHei" pitchFamily="34" charset="-122"/>
              </a:rPr>
              <a:t>移動報修</a:t>
            </a:r>
            <a:endParaRPr lang="zh-CN" altLang="en-US" dirty="0">
              <a:solidFill>
                <a:srgbClr val="F8F8F8"/>
              </a:solidFill>
              <a:latin typeface="Microsoft YaHei" pitchFamily="34" charset="-122"/>
              <a:ea typeface="Microsoft YaHei" pitchFamily="34" charset="-122"/>
            </a:endParaRPr>
          </a:p>
        </p:txBody>
      </p:sp>
      <p:sp>
        <p:nvSpPr>
          <p:cNvPr id="14" name="TextBox 12"/>
          <p:cNvSpPr txBox="1"/>
          <p:nvPr/>
        </p:nvSpPr>
        <p:spPr>
          <a:xfrm>
            <a:off x="6319982" y="3659660"/>
            <a:ext cx="1982582" cy="1200323"/>
          </a:xfrm>
          <a:prstGeom prst="rect">
            <a:avLst/>
          </a:prstGeom>
          <a:noFill/>
        </p:spPr>
        <p:txBody>
          <a:bodyPr wrap="square" lIns="91434" tIns="45717" rIns="91434" bIns="45717" rtlCol="0">
            <a:spAutoFit/>
          </a:bodyPr>
          <a:lstStyle/>
          <a:p>
            <a:pPr algn="ctr"/>
            <a:r>
              <a:rPr lang="zh-CN" altLang="en-US" dirty="0">
                <a:solidFill>
                  <a:srgbClr val="F8F8F8"/>
                </a:solidFill>
                <a:latin typeface="Microsoft YaHei" pitchFamily="34" charset="-122"/>
                <a:ea typeface="Microsoft YaHei" pitchFamily="34" charset="-122"/>
              </a:rPr>
              <a:t>移動端使用</a:t>
            </a:r>
            <a:r>
              <a:rPr lang="en-US" altLang="zh-CN" dirty="0" err="1">
                <a:solidFill>
                  <a:srgbClr val="F8F8F8"/>
                </a:solidFill>
                <a:latin typeface="Microsoft YaHei" pitchFamily="34" charset="-122"/>
                <a:ea typeface="Microsoft YaHei" pitchFamily="34" charset="-122"/>
              </a:rPr>
              <a:t>Vue</a:t>
            </a:r>
            <a:r>
              <a:rPr lang="zh-CN" altLang="en-US" dirty="0">
                <a:solidFill>
                  <a:srgbClr val="F8F8F8"/>
                </a:solidFill>
                <a:latin typeface="Microsoft YaHei" pitchFamily="34" charset="-122"/>
                <a:ea typeface="Microsoft YaHei" pitchFamily="34" charset="-122"/>
              </a:rPr>
              <a:t>開發</a:t>
            </a:r>
            <a:r>
              <a:rPr lang="en-US" altLang="zh-CN" dirty="0">
                <a:solidFill>
                  <a:srgbClr val="F8F8F8"/>
                </a:solidFill>
                <a:latin typeface="Microsoft YaHei" pitchFamily="34" charset="-122"/>
                <a:ea typeface="Microsoft YaHei" pitchFamily="34" charset="-122"/>
              </a:rPr>
              <a:t>,</a:t>
            </a:r>
            <a:r>
              <a:rPr lang="zh-CN" altLang="en-US" dirty="0">
                <a:solidFill>
                  <a:srgbClr val="F8F8F8"/>
                </a:solidFill>
                <a:latin typeface="Microsoft YaHei" pitchFamily="34" charset="-122"/>
                <a:ea typeface="Microsoft YaHei" pitchFamily="34" charset="-122"/>
              </a:rPr>
              <a:t>滿足多平台嵌入，有效控制專案風險</a:t>
            </a:r>
            <a:endParaRPr lang="zh-CN" altLang="en-US" dirty="0">
              <a:solidFill>
                <a:srgbClr val="F8F8F8"/>
              </a:solidFill>
              <a:latin typeface="Microsoft YaHei" pitchFamily="34" charset="-122"/>
              <a:ea typeface="Microsoft YaHei" pitchFamily="34" charset="-122"/>
            </a:endParaRPr>
          </a:p>
        </p:txBody>
      </p:sp>
      <p:sp>
        <p:nvSpPr>
          <p:cNvPr id="19" name="矩形 18"/>
          <p:cNvSpPr/>
          <p:nvPr/>
        </p:nvSpPr>
        <p:spPr>
          <a:xfrm>
            <a:off x="877482" y="565489"/>
            <a:ext cx="9772015" cy="9308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84480" tIns="162560" rIns="284480" bIns="162560" numCol="1" spcCol="1270" anchor="ctr" anchorCtr="0">
            <a:noAutofit/>
          </a:bodyPr>
          <a:lstStyle/>
          <a:p>
            <a:pPr lvl="0" algn="ctr" defTabSz="1778000">
              <a:lnSpc>
                <a:spcPct val="100000"/>
              </a:lnSpc>
              <a:spcBef>
                <a:spcPct val="0"/>
              </a:spcBef>
              <a:spcAft>
                <a:spcPct val="35000"/>
              </a:spcAft>
            </a:pPr>
            <a:r>
              <a:rPr lang="en-US" altLang="zh-CN" sz="4000" kern="1200" dirty="0" smtClean="0">
                <a:latin typeface="微软雅黑" panose="020B0503020204020204" pitchFamily="34" charset="-122"/>
                <a:ea typeface="微软雅黑" panose="020B0503020204020204" pitchFamily="34" charset="-122"/>
              </a:rPr>
              <a:t>CAA</a:t>
            </a:r>
            <a:r>
              <a:rPr lang="zh-CN" altLang="en-US" sz="4000" kern="1200" dirty="0" smtClean="0">
                <a:latin typeface="微软雅黑" panose="020B0503020204020204" pitchFamily="34" charset="-122"/>
                <a:ea typeface="微软雅黑" panose="020B0503020204020204" pitchFamily="34" charset="-122"/>
              </a:rPr>
              <a:t>移動報修</a:t>
            </a:r>
            <a:endParaRPr lang="zh-CN" altLang="en-US" sz="4000" kern="1200" dirty="0" smtClean="0">
              <a:latin typeface="微软雅黑" panose="020B0503020204020204" pitchFamily="34" charset="-122"/>
              <a:ea typeface="微软雅黑" panose="020B0503020204020204" pitchFamily="34" charset="-122"/>
            </a:endParaRPr>
          </a:p>
        </p:txBody>
      </p:sp>
      <p:sp>
        <p:nvSpPr>
          <p:cNvPr id="13" name="TextBox 3"/>
          <p:cNvSpPr txBox="1"/>
          <p:nvPr/>
        </p:nvSpPr>
        <p:spPr>
          <a:xfrm>
            <a:off x="628509" y="733384"/>
            <a:ext cx="2590621" cy="559372"/>
          </a:xfrm>
          <a:prstGeom prst="rect">
            <a:avLst/>
          </a:prstGeom>
        </p:spPr>
        <p:style>
          <a:lnRef idx="1">
            <a:schemeClr val="accent3"/>
          </a:lnRef>
          <a:fillRef idx="3">
            <a:schemeClr val="accent3"/>
          </a:fillRef>
          <a:effectRef idx="2">
            <a:schemeClr val="accent3"/>
          </a:effectRef>
          <a:fontRef idx="minor">
            <a:schemeClr val="lt1"/>
          </a:fontRef>
        </p:style>
        <p:txBody>
          <a:bodyPr wrap="square" lIns="96762" tIns="48381" rIns="96762" bIns="48381" rtlCol="0">
            <a:spAutoFit/>
          </a:bodyPr>
          <a:lstStyle/>
          <a:p>
            <a:pPr algn="ctr"/>
            <a:r>
              <a:rPr lang="zh-CN" altLang="en-US" sz="3000" dirty="0" smtClean="0">
                <a:latin typeface="微软雅黑" panose="020B0503020204020204" pitchFamily="34" charset="-122"/>
                <a:ea typeface="微软雅黑" panose="020B0503020204020204" pitchFamily="34" charset="-122"/>
              </a:rPr>
              <a:t>專案管理</a:t>
            </a:r>
            <a:endParaRPr lang="zh-CN" altLang="en-US" sz="30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1079500" y="1988185"/>
            <a:ext cx="7523480" cy="922020"/>
          </a:xfrm>
          <a:prstGeom prst="rect">
            <a:avLst/>
          </a:prstGeom>
          <a:noFill/>
        </p:spPr>
        <p:txBody>
          <a:bodyPr wrap="none" rtlCol="0">
            <a:spAutoFit/>
          </a:bodyPr>
          <a:p>
            <a:r>
              <a:rPr lang="en-US" altLang="zh-CN"/>
              <a:t>1. </a:t>
            </a:r>
            <a:r>
              <a:rPr lang="zh-TW" altLang="en-US"/>
              <a:t>盡可能全面地提前預估專案推行過程中的技術難點及可能出現的問題。</a:t>
            </a:r>
            <a:endParaRPr lang="zh-TW" altLang="en-US"/>
          </a:p>
          <a:p>
            <a:endParaRPr lang="en-US" altLang="zh-TW"/>
          </a:p>
          <a:p>
            <a:r>
              <a:rPr lang="en-US" altLang="zh-TW"/>
              <a:t>2. </a:t>
            </a:r>
            <a:r>
              <a:rPr lang="zh-TW" altLang="en-US"/>
              <a:t>關注專案進行中關鍵節點的進度，保證關鍵節點的按時完成。</a:t>
            </a:r>
            <a:endParaRPr lang="zh-TW"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Scale>
                                      <p:cBhvr>
                                        <p:cTn id="7" dur="1000" decel="50000" fill="hold">
                                          <p:stCondLst>
                                            <p:cond delay="0"/>
                                          </p:stCondLst>
                                        </p:cTn>
                                        <p:tgtEl>
                                          <p:spTgt spid="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9"/>
                                        </p:tgtEl>
                                        <p:attrNameLst>
                                          <p:attrName>ppt_x</p:attrName>
                                          <p:attrName>ppt_y</p:attrName>
                                        </p:attrNameLst>
                                      </p:cBhvr>
                                    </p:animMotion>
                                    <p:animEffect transition="in" filter="fade">
                                      <p:cBhvr>
                                        <p:cTn id="9" dur="1000"/>
                                        <p:tgtEl>
                                          <p:spTgt spid="9"/>
                                        </p:tgtEl>
                                      </p:cBhvr>
                                    </p:animEffect>
                                  </p:childTnLst>
                                </p:cTn>
                              </p:par>
                              <p:par>
                                <p:cTn id="10" presetID="31"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fltVal val="0"/>
                                          </p:val>
                                        </p:tav>
                                        <p:tav tm="100000">
                                          <p:val>
                                            <p:strVal val="#ppt_w"/>
                                          </p:val>
                                        </p:tav>
                                      </p:tavLst>
                                    </p:anim>
                                    <p:anim calcmode="lin" valueType="num">
                                      <p:cBhvr>
                                        <p:cTn id="13" dur="500" fill="hold"/>
                                        <p:tgtEl>
                                          <p:spTgt spid="14"/>
                                        </p:tgtEl>
                                        <p:attrNameLst>
                                          <p:attrName>ppt_h</p:attrName>
                                        </p:attrNameLst>
                                      </p:cBhvr>
                                      <p:tavLst>
                                        <p:tav tm="0">
                                          <p:val>
                                            <p:fltVal val="0"/>
                                          </p:val>
                                        </p:tav>
                                        <p:tav tm="100000">
                                          <p:val>
                                            <p:strVal val="#ppt_h"/>
                                          </p:val>
                                        </p:tav>
                                      </p:tavLst>
                                    </p:anim>
                                    <p:anim calcmode="lin" valueType="num">
                                      <p:cBhvr>
                                        <p:cTn id="14" dur="500" fill="hold"/>
                                        <p:tgtEl>
                                          <p:spTgt spid="14"/>
                                        </p:tgtEl>
                                        <p:attrNameLst>
                                          <p:attrName>style.rotation</p:attrName>
                                        </p:attrNameLst>
                                      </p:cBhvr>
                                      <p:tavLst>
                                        <p:tav tm="0">
                                          <p:val>
                                            <p:fltVal val="90"/>
                                          </p:val>
                                        </p:tav>
                                        <p:tav tm="100000">
                                          <p:val>
                                            <p:fltVal val="0"/>
                                          </p:val>
                                        </p:tav>
                                      </p:tavLst>
                                    </p:anim>
                                    <p:animEffect transition="in" filter="fade">
                                      <p:cBhvr>
                                        <p:cTn id="15" dur="500"/>
                                        <p:tgtEl>
                                          <p:spTgt spid="14"/>
                                        </p:tgtEl>
                                      </p:cBhvr>
                                    </p:animEffect>
                                  </p:childTnLst>
                                </p:cTn>
                              </p:par>
                              <p:par>
                                <p:cTn id="16" presetID="52"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Scale>
                                      <p:cBhvr>
                                        <p:cTn id="18" dur="10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9" dur="1000" decel="50000" fill="hold">
                                          <p:stCondLst>
                                            <p:cond delay="0"/>
                                          </p:stCondLst>
                                        </p:cTn>
                                        <p:tgtEl>
                                          <p:spTgt spid="10"/>
                                        </p:tgtEl>
                                        <p:attrNameLst>
                                          <p:attrName>ppt_x</p:attrName>
                                          <p:attrName>ppt_y</p:attrName>
                                        </p:attrNameLst>
                                      </p:cBhvr>
                                    </p:animMotion>
                                    <p:animEffect transition="in" filter="fade">
                                      <p:cBhvr>
                                        <p:cTn id="2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28509" y="733384"/>
            <a:ext cx="2590621" cy="559372"/>
          </a:xfrm>
          <a:prstGeom prst="rect">
            <a:avLst/>
          </a:prstGeom>
        </p:spPr>
        <p:style>
          <a:lnRef idx="1">
            <a:schemeClr val="accent3"/>
          </a:lnRef>
          <a:fillRef idx="3">
            <a:schemeClr val="accent3"/>
          </a:fillRef>
          <a:effectRef idx="2">
            <a:schemeClr val="accent3"/>
          </a:effectRef>
          <a:fontRef idx="minor">
            <a:schemeClr val="lt1"/>
          </a:fontRef>
        </p:style>
        <p:txBody>
          <a:bodyPr wrap="square" lIns="96762" tIns="48381" rIns="96762" bIns="48381" rtlCol="0">
            <a:spAutoFit/>
          </a:bodyPr>
          <a:lstStyle/>
          <a:p>
            <a:pPr algn="ctr"/>
            <a:r>
              <a:rPr lang="zh-CN" altLang="en-US" sz="3000" dirty="0">
                <a:latin typeface="微软雅黑" panose="020B0503020204020204" pitchFamily="34" charset="-122"/>
                <a:ea typeface="微软雅黑" panose="020B0503020204020204" pitchFamily="34" charset="-122"/>
              </a:rPr>
              <a:t>人才培育</a:t>
            </a:r>
            <a:endParaRPr lang="zh-CN" altLang="en-US" sz="3000" dirty="0">
              <a:latin typeface="微软雅黑" panose="020B0503020204020204" pitchFamily="34" charset="-122"/>
              <a:ea typeface="微软雅黑" panose="020B0503020204020204" pitchFamily="34" charset="-122"/>
            </a:endParaRPr>
          </a:p>
        </p:txBody>
      </p:sp>
      <p:sp>
        <p:nvSpPr>
          <p:cNvPr id="6" name="文本框 1"/>
          <p:cNvSpPr txBox="1"/>
          <p:nvPr/>
        </p:nvSpPr>
        <p:spPr>
          <a:xfrm>
            <a:off x="873124" y="1876253"/>
            <a:ext cx="10313859" cy="2400657"/>
          </a:xfrm>
          <a:prstGeom prst="rect">
            <a:avLst/>
          </a:prstGeom>
          <a:noFill/>
          <a:ln>
            <a:noFill/>
          </a:ln>
        </p:spPr>
        <p:txBody>
          <a:bodyPr wrap="square" rtlCol="0">
            <a:spAutoFit/>
          </a:bodyPr>
          <a:lstStyle/>
          <a:p>
            <a:pPr indent="360680">
              <a:lnSpc>
                <a:spcPct val="150000"/>
              </a:lnSpc>
              <a:buClr>
                <a:srgbClr val="4472C4"/>
              </a:buClr>
              <a:defRPr/>
            </a:pPr>
            <a:r>
              <a:rPr lang="en-US" altLang="zh-CN"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    </a:t>
            </a:r>
            <a:r>
              <a:rPr lang="zh-CN"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在平時專案開發工作中</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，對專案成員進行輔導，并及時解決問題</a:t>
            </a:r>
            <a:r>
              <a:rPr lang="zh-CN"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rPr>
              <a:t>。</a:t>
            </a:r>
            <a:endParaRPr lang="en-US" altLang="zh-CN"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endParaRPr>
          </a:p>
          <a:p>
            <a:pPr indent="360680">
              <a:lnSpc>
                <a:spcPct val="150000"/>
              </a:lnSpc>
              <a:buClr>
                <a:srgbClr val="4472C4"/>
              </a:buClr>
              <a:defRPr/>
            </a:pPr>
            <a:endParaRPr lang="zh-CN" altLang="en-US" sz="2000" dirty="0" smtClean="0">
              <a:ln>
                <a:noFill/>
              </a:ln>
              <a:solidFill>
                <a:schemeClr val="tx1">
                  <a:lumMod val="85000"/>
                  <a:lumOff val="15000"/>
                </a:schemeClr>
              </a:solidFill>
              <a:latin typeface="微软雅黑" panose="020B0503020204020204" pitchFamily="34" charset="-122"/>
              <a:ea typeface="微软雅黑" panose="020B0503020204020204" pitchFamily="34" charset="-122"/>
              <a:sym typeface="+mn-ea"/>
            </a:endParaRPr>
          </a:p>
          <a:p>
            <a:pPr indent="360680">
              <a:lnSpc>
                <a:spcPct val="150000"/>
              </a:lnSpc>
              <a:buClr>
                <a:srgbClr val="4472C4"/>
              </a:buClr>
              <a:defRPr/>
            </a:pP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    在</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團隊內進</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行</a:t>
            </a:r>
            <a:r>
              <a:rPr lang="en-US" altLang="zh-CN"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Jenkins CICD</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的技術分享，以及實際案例的講解</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rPr>
              <a:t>。</a:t>
            </a:r>
            <a:endParaRPr lang="en-US" altLang="zh-CN" sz="20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indent="360680">
              <a:lnSpc>
                <a:spcPct val="150000"/>
              </a:lnSpc>
              <a:buClr>
                <a:srgbClr val="4472C4"/>
              </a:buClr>
              <a:defRPr/>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a:p>
            <a:pPr indent="360680">
              <a:lnSpc>
                <a:spcPct val="150000"/>
              </a:lnSpc>
              <a:buClr>
                <a:srgbClr val="4472C4"/>
              </a:buClr>
              <a:defRPr/>
            </a:pP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    在</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團隊內進</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行</a:t>
            </a:r>
            <a:r>
              <a:rPr lang="en-US" altLang="zh-CN" sz="2000" dirty="0" err="1" smtClean="0">
                <a:solidFill>
                  <a:schemeClr val="tx1">
                    <a:lumMod val="85000"/>
                    <a:lumOff val="15000"/>
                  </a:schemeClr>
                </a:solidFill>
                <a:latin typeface="微软雅黑" panose="020B0503020204020204" pitchFamily="34" charset="-122"/>
                <a:ea typeface="微软雅黑" panose="020B0503020204020204" pitchFamily="34" charset="-122"/>
                <a:sym typeface="+mn-ea"/>
              </a:rPr>
              <a:t>Hadoop,Spark</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等大數據相關技</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術</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的介紹分享</a:t>
            </a:r>
            <a:r>
              <a:rPr lang="zh-CN" altLang="zh-TW" sz="200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a:t>
            </a:r>
            <a:endParaRPr lang="zh-CN" altLang="zh-TW" sz="20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873125" y="2029923"/>
            <a:ext cx="615315" cy="36258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rPr>
              <a:t>１）</a:t>
            </a:r>
            <a:endPar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endParaRPr>
          </a:p>
        </p:txBody>
      </p:sp>
      <p:sp>
        <p:nvSpPr>
          <p:cNvPr id="8" name="矩形 7"/>
          <p:cNvSpPr/>
          <p:nvPr/>
        </p:nvSpPr>
        <p:spPr>
          <a:xfrm>
            <a:off x="883285" y="2903986"/>
            <a:ext cx="605155" cy="36258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ln>
                  <a:noFill/>
                </a:ln>
                <a:solidFill>
                  <a:schemeClr val="bg1"/>
                </a:solidFill>
                <a:latin typeface="微软雅黑" panose="020B0503020204020204" pitchFamily="34" charset="-122"/>
                <a:ea typeface="微软雅黑" panose="020B0503020204020204" pitchFamily="34" charset="-122"/>
                <a:sym typeface="+mn-ea"/>
              </a:rPr>
              <a:t>2 </a:t>
            </a:r>
            <a:r>
              <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rPr>
              <a:t>）</a:t>
            </a:r>
            <a:endPar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endParaRPr>
          </a:p>
        </p:txBody>
      </p:sp>
      <p:sp>
        <p:nvSpPr>
          <p:cNvPr id="9" name="矩形 8"/>
          <p:cNvSpPr/>
          <p:nvPr/>
        </p:nvSpPr>
        <p:spPr>
          <a:xfrm>
            <a:off x="873125" y="3773996"/>
            <a:ext cx="605155" cy="39052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ln>
                  <a:noFill/>
                </a:ln>
                <a:solidFill>
                  <a:schemeClr val="bg1"/>
                </a:solidFill>
                <a:latin typeface="微软雅黑" panose="020B0503020204020204" pitchFamily="34" charset="-122"/>
                <a:ea typeface="微软雅黑" panose="020B0503020204020204" pitchFamily="34" charset="-122"/>
                <a:sym typeface="+mn-ea"/>
              </a:rPr>
              <a:t>3 </a:t>
            </a:r>
            <a:r>
              <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rPr>
              <a:t>）</a:t>
            </a:r>
            <a:endParaRPr lang="zh-CN" altLang="en-US" sz="1600" dirty="0" smtClean="0">
              <a:ln>
                <a:noFill/>
              </a:ln>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2414</Words>
  <Application>WPS 演示</Application>
  <PresentationFormat>寬螢幕</PresentationFormat>
  <Paragraphs>319</Paragraphs>
  <Slides>7</Slides>
  <Notes>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7</vt:i4>
      </vt:variant>
    </vt:vector>
  </HeadingPairs>
  <TitlesOfParts>
    <vt:vector size="26" baseType="lpstr">
      <vt:lpstr>Arial</vt:lpstr>
      <vt:lpstr>方正书宋_GBK</vt:lpstr>
      <vt:lpstr>Wingdings</vt:lpstr>
      <vt:lpstr>微软雅黑</vt:lpstr>
      <vt:lpstr>汉仪旗黑</vt:lpstr>
      <vt:lpstr>Microsoft JhengHei UI</vt:lpstr>
      <vt:lpstr>苹方-简</vt:lpstr>
      <vt:lpstr>MS PMincho</vt:lpstr>
      <vt:lpstr>Microsoft YaHei</vt:lpstr>
      <vt:lpstr>宋体</vt:lpstr>
      <vt:lpstr>Arial Unicode MS</vt:lpstr>
      <vt:lpstr>汉仪书宋二KW</vt:lpstr>
      <vt:lpstr>Calibri</vt:lpstr>
      <vt:lpstr>Helvetica Neue</vt:lpstr>
      <vt:lpstr>冬青黑体简体中文</vt:lpstr>
      <vt:lpstr>PMingLiU</vt:lpstr>
      <vt:lpstr>宋体-繁</vt:lpstr>
      <vt:lpstr>PMingLiU</vt:lpstr>
      <vt:lpstr>Office 主题</vt:lpstr>
      <vt:lpstr>編寫說明：</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智能製造系統平台中心</dc:title>
  <dc:creator>Windows 使用者</dc:creator>
  <cp:lastModifiedBy>zhanghao</cp:lastModifiedBy>
  <cp:revision>162</cp:revision>
  <cp:lastPrinted>2021-07-21T13:23:34Z</cp:lastPrinted>
  <dcterms:created xsi:type="dcterms:W3CDTF">2021-07-21T13:23:34Z</dcterms:created>
  <dcterms:modified xsi:type="dcterms:W3CDTF">2021-07-21T13:23:34Z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2052-3.0.0.4824</vt:lpwstr>
  </property>
</Properties>
</file>