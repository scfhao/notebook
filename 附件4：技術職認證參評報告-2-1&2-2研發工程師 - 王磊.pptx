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0" r:id="rId1"/>
  </p:sldMasterIdLst>
  <p:notesMasterIdLst>
    <p:notesMasterId r:id="rId8"/>
  </p:notesMasterIdLst>
  <p:handoutMasterIdLst>
    <p:handoutMasterId r:id="rId9"/>
  </p:handoutMasterIdLst>
  <p:sldIdLst>
    <p:sldId id="282" r:id="rId2"/>
    <p:sldId id="283" r:id="rId3"/>
    <p:sldId id="284" r:id="rId4"/>
    <p:sldId id="288" r:id="rId5"/>
    <p:sldId id="289" r:id="rId6"/>
    <p:sldId id="290" r:id="rId7"/>
  </p:sldIdLst>
  <p:sldSz cx="12192000" cy="6858000"/>
  <p:notesSz cx="6797675" cy="9926638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706" autoAdjust="0"/>
  </p:normalViewPr>
  <p:slideViewPr>
    <p:cSldViewPr snapToGrid="0">
      <p:cViewPr varScale="1">
        <p:scale>
          <a:sx n="116" d="100"/>
          <a:sy n="116" d="100"/>
        </p:scale>
        <p:origin x="384" y="13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282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176C01-2996-41EA-87C6-D94E8BA12DB2}" type="datetime2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rtl="0"/>
              <a:t>2021年7月20日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1604A0D4-B89B-4ADD-AF9E-38636B40EE4E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rtl="0"/>
              <a:t>‹#›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EA50F75F-AD11-4973-BAED-59A0098129E9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35024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82869989-EB00-4EE7-BCB5-25BDC5BB29F8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82869989-EB00-4EE7-BCB5-25BDC5BB29F8}" type="slidenum">
              <a:rPr lang="en-US" altLang="zh-CN" smtClean="0"/>
              <a:pPr rtl="0"/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80303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292E4-C117-4AE5-8BCA-334E149AE116}" type="datetimeFigureOut">
              <a:rPr lang="zh-TW" altLang="en-US" smtClean="0"/>
              <a:pPr/>
              <a:t>2021/7/20</a:t>
            </a:fld>
            <a:endParaRPr lang="zh-TW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  <p:grpSp>
        <p:nvGrpSpPr>
          <p:cNvPr id="7" name="组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直接连接符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​​(S)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​​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​​(S)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​​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​​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直接连接符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​​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​​(S)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组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直接连接符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​​(S)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​​(S)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连接符​​(S)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接连接符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直接连接符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​​(S)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​​(S)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​​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​​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组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直接连接符​​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​​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​​(S)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​​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组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直接连接符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(S)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​​(S)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​​(S)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直接连接符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接连接符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​​(S)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​​(S)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连接符​​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直接连接符​​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6584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86692-0600-494D-A58B-8346A1607219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smtClean="0"/>
              <a:pPr rtl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04651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292E4-C117-4AE5-8BCA-334E149AE116}" type="datetimeFigureOut">
              <a:rPr lang="zh-TW" altLang="en-US" smtClean="0"/>
              <a:pPr/>
              <a:t>2021/7/20</a:t>
            </a:fld>
            <a:endParaRPr lang="zh-TW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44DCD-E941-46B3-ADE3-0AFD533C6B28}" type="slidenum">
              <a:rPr lang="zh-TW" altLang="en-US" smtClean="0"/>
              <a:pPr/>
              <a:t>‹#›</a:t>
            </a:fld>
            <a:endParaRPr lang="zh-TW" altLang="en-US"/>
          </a:p>
        </p:txBody>
      </p:sp>
      <p:grpSp>
        <p:nvGrpSpPr>
          <p:cNvPr id="7" name="组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直接连接符​​(S)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​​(S)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​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​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​​(S)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​​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​​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​​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直接连接符​​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​​(S)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​​(S)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组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直接连接符​​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​​(S)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​​(S)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连接符​​(S)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接连接符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直接连接符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​​(S)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​​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​​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组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直接连接符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​​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​​(S)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​​(S)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​​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组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直接连接符​​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(S)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​​(S)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​​(S)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直接连接符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接连接符​​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​​(S)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​​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连接符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直接连接符​​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040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FDCFB-9841-4E8E-A26A-EE55E04AFFB4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smtClean="0"/>
              <a:pPr rtl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9631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997A-1EEE-4D88-AEC9-C83348780DB3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1762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B8D67-B939-44AB-992D-F02AFF2C2399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noProof="0" smtClean="0"/>
              <a:pPr rtl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196151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78190-531B-41DD-AD7A-47EC2C22B86C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smtClean="0"/>
              <a:pPr rtl="0"/>
              <a:t>‹#›</a:t>
            </a:fld>
            <a:endParaRPr lang="zh-CN" altLang="en-US" dirty="0"/>
          </a:p>
        </p:txBody>
      </p:sp>
      <p:grpSp>
        <p:nvGrpSpPr>
          <p:cNvPr id="5" name="组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直接连接符​​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​​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​​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​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​​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​​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​​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​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​​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​​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​​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​​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​​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​​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​​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​​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组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0" name="直接连接符​​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连接符 4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​​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" name="组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1" name="直接连接符​​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直接连接符​​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直接连接符​​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 5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​​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" name="直接连接符 4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​​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​​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​​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组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4" name="直接连接符​​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接连接符​​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接连接符 2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​​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组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5" name="直接连接符 3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直接连接符​​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直接连接符​​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​​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直接连接符​​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连接符​​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​​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​​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​​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758244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EE274-C014-4170-9D78-BB3EE034439F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0238462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EE274-C014-4170-9D78-BB3EE034439F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4299358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EC09C-6658-4B3F-8DB1-134C6DD59176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noProof="0" smtClean="0"/>
              <a:pPr rtl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95145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EE274-C014-4170-9D78-BB3EE034439F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73093264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EE274-C014-4170-9D78-BB3EE034439F}" type="datetime2">
              <a:rPr lang="zh-CN" altLang="en-US" smtClean="0"/>
              <a:pPr/>
              <a:t>2021年7月20日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  <p:grpSp>
        <p:nvGrpSpPr>
          <p:cNvPr id="7" name="组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8" name="直接连接符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​​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​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​​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​​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​​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​​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直接连接符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组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直接连接符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连接符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接连接符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直接连接符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组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直接连接符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 2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组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直接连接符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直接连接符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接连接符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连接符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直接连接符 57"/>
          <p:cNvCxnSpPr/>
          <p:nvPr userDrawn="1"/>
        </p:nvCxnSpPr>
        <p:spPr>
          <a:xfrm>
            <a:off x="609600" y="6172200"/>
            <a:ext cx="9434117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58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4" y="0"/>
            <a:ext cx="2013167" cy="543847"/>
          </a:xfrm>
          <a:prstGeom prst="rect">
            <a:avLst/>
          </a:prstGeom>
        </p:spPr>
      </p:pic>
      <p:pic>
        <p:nvPicPr>
          <p:cNvPr id="60" name="Picture 7" descr="未命名 -2拷貝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9279" y="5665419"/>
            <a:ext cx="1476375" cy="84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4804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86248" y="1041119"/>
            <a:ext cx="2135659" cy="652720"/>
          </a:xfrm>
        </p:spPr>
        <p:txBody>
          <a:bodyPr rtlCol="0">
            <a:normAutofit/>
          </a:bodyPr>
          <a:lstStyle/>
          <a:p>
            <a:pPr rtl="0"/>
            <a:r>
              <a:rPr lang="zh-CN" altLang="en-US" sz="2000" b="1" dirty="0" smtClean="0">
                <a:latin typeface="Microsoft JhengHei UI" pitchFamily="34" charset="-120"/>
                <a:ea typeface="Microsoft JhengHei UI" pitchFamily="34" charset="-120"/>
                <a:sym typeface="Arial" panose="020B0604020202020204" pitchFamily="34" charset="0"/>
              </a:rPr>
              <a:t>編寫說明：</a:t>
            </a:r>
            <a:endParaRPr lang="zh-CN" altLang="en-US" sz="2000" b="1" dirty="0">
              <a:latin typeface="Microsoft JhengHei UI" pitchFamily="34" charset="-120"/>
              <a:ea typeface="Microsoft JhengHei UI" pitchFamily="34" charset="-120"/>
              <a:sym typeface="Arial" panose="020B0604020202020204" pitchFamily="34" charset="0"/>
            </a:endParaRPr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231472"/>
              </p:ext>
            </p:extLst>
          </p:nvPr>
        </p:nvGraphicFramePr>
        <p:xfrm>
          <a:off x="1452948" y="1480742"/>
          <a:ext cx="9308757" cy="100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353566"/>
                <a:gridCol w="7955191"/>
              </a:tblGrid>
              <a:tr h="7957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要求</a:t>
                      </a:r>
                      <a:endParaRPr lang="zh-TW" altLang="en-US" sz="1200" dirty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依研發工程師能力要求，描述個人每個能力項的執行情況，并通過實際工作舉證個人達標情況，填寫要求：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1.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報告必須包括每個能力要素，不能有缺失，呈現形式不限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  <a:sym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2.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語言簡練，避免過多的文字描述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  <a:sym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3.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結構清晰，證據確著，以實例、數據等作為舉證材料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  <a:sym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4.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20204" pitchFamily="34" charset="0"/>
                        </a:rPr>
                        <a:t>舉證材料可另外附件。</a:t>
                      </a:r>
                      <a:endParaRPr lang="zh-TW" altLang="en-US" sz="1200" dirty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5" name="标题 1"/>
          <p:cNvSpPr txBox="1">
            <a:spLocks/>
          </p:cNvSpPr>
          <p:nvPr/>
        </p:nvSpPr>
        <p:spPr>
          <a:xfrm>
            <a:off x="1846819" y="527222"/>
            <a:ext cx="7987613" cy="8402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3200" b="1" dirty="0" smtClean="0">
                <a:solidFill>
                  <a:schemeClr val="accent5">
                    <a:lumMod val="75000"/>
                  </a:schemeClr>
                </a:solidFill>
                <a:latin typeface="Microsoft JhengHei UI" pitchFamily="34" charset="-120"/>
                <a:ea typeface="Microsoft JhengHei UI" pitchFamily="34" charset="-120"/>
                <a:sym typeface="Arial" panose="020B0604020202020204" pitchFamily="34" charset="0"/>
              </a:rPr>
              <a:t>中原資訊總處技術職認證答辯報告</a:t>
            </a:r>
            <a:endParaRPr lang="zh-CN" altLang="en-US" sz="3200" b="1" dirty="0">
              <a:solidFill>
                <a:schemeClr val="accent5">
                  <a:lumMod val="75000"/>
                </a:schemeClr>
              </a:solidFill>
              <a:latin typeface="Microsoft JhengHei UI" pitchFamily="34" charset="-120"/>
              <a:ea typeface="Microsoft JhengHei UI" pitchFamily="34" charset="-120"/>
              <a:sym typeface="Arial" panose="020B0604020202020204" pitchFamily="34" charset="0"/>
            </a:endParaRPr>
          </a:p>
        </p:txBody>
      </p:sp>
      <p:sp>
        <p:nvSpPr>
          <p:cNvPr id="7" name="标题 1"/>
          <p:cNvSpPr txBox="1">
            <a:spLocks/>
          </p:cNvSpPr>
          <p:nvPr/>
        </p:nvSpPr>
        <p:spPr>
          <a:xfrm>
            <a:off x="1195773" y="2546069"/>
            <a:ext cx="1356927" cy="4066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icrosoft JhengHei UI" pitchFamily="34" charset="-120"/>
                <a:ea typeface="Microsoft JhengHei UI" pitchFamily="34" charset="-120"/>
                <a:cs typeface="+mj-cs"/>
                <a:sym typeface="Arial" panose="020B0604020202020204" pitchFamily="34" charset="0"/>
              </a:rPr>
              <a:t>能力要求：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icrosoft JhengHei UI" pitchFamily="34" charset="-120"/>
              <a:ea typeface="Microsoft JhengHei UI" pitchFamily="34" charset="-120"/>
              <a:cs typeface="+mj-cs"/>
              <a:sym typeface="Arial" panose="020B060402020202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80465"/>
              </p:ext>
            </p:extLst>
          </p:nvPr>
        </p:nvGraphicFramePr>
        <p:xfrm>
          <a:off x="2587626" y="2537884"/>
          <a:ext cx="7280274" cy="3475028"/>
        </p:xfrm>
        <a:graphic>
          <a:graphicData uri="http://schemas.openxmlformats.org/drawingml/2006/table">
            <a:tbl>
              <a:tblPr/>
              <a:tblGrid>
                <a:gridCol w="943740"/>
                <a:gridCol w="4841109"/>
                <a:gridCol w="762000"/>
                <a:gridCol w="733425"/>
              </a:tblGrid>
              <a:tr h="297272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能力項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能力描述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2-1</a:t>
                      </a:r>
                    </a:p>
                    <a:p>
                      <a:pPr algn="ctr" fontAlgn="ctr"/>
                      <a:r>
                        <a:rPr lang="zh-CN" altLang="en-US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研發工程師</a:t>
                      </a:r>
                      <a:endParaRPr lang="zh-TW" altLang="en-US" sz="10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2-2</a:t>
                      </a:r>
                    </a:p>
                    <a:p>
                      <a:pPr algn="ctr" fontAlgn="ctr"/>
                      <a:r>
                        <a:rPr lang="zh-CN" altLang="en-US" sz="1000" b="0" i="0" u="none" strike="noStrike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研發工程</a:t>
                      </a:r>
                      <a:r>
                        <a:rPr lang="zh-CN" altLang="en-US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師</a:t>
                      </a:r>
                      <a:endParaRPr lang="zh-TW" altLang="en-US" sz="10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3587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技能水平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①熟悉所使用的主要技術，能够独立分析、快速排查和解決問題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②某一專業領域比較精通，具有一定權威，具备辅导他人的能力和技能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③主動學習新技能、新知識，充分了解業界某一領域的新技術動向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A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A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4372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新技術應用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①深入瞭解行業趨勢，掌握前沿知識和方法，業界成功經驗和最佳實踐案例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②結合業務實際成功導入有價值的技術，并在組織內部推廣適用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③導入新方法和新技術，能產生實際效益，並進行優化升級，形成系統體系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B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B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130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專案管理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①專案资源配置與運用：有效控制專案成本，利用最少的成本實現最大效益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②專案時程掌控：進行有效合理分解及優先級排序，確保專案按期交付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③專案風險評估：能有針對性的制定風險應對措施，有效控制風險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④專案質量管控：确保專案成果達到用戶所期望的質量要求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C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B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4373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人才培育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①能結合員工績效、技術能力特點，制定針對性的培養計劃幷指導實施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②履行導師職責，做好團隊教練，及時輔導，合理授權</a:t>
                      </a: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③人才培育養成輸出，爲組織做出貢獻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/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C</a:t>
                      </a:r>
                      <a:endParaRPr lang="zh-TW" altLang="en-US" sz="105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16766">
                <a:tc gridSpan="4">
                  <a:txBody>
                    <a:bodyPr/>
                    <a:lstStyle/>
                    <a:p>
                      <a:pPr algn="l" fontAlgn="ctr"/>
                      <a:r>
                        <a:rPr lang="zh-CN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程度說明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：</a:t>
                      </a:r>
                      <a:r>
                        <a:rPr lang="zh-TW" altLang="en-US" sz="1050" b="0" i="0" u="none" strike="noStrike" dirty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/>
                      </a:r>
                      <a:br>
                        <a:rPr lang="zh-TW" altLang="en-US" sz="1050" b="0" i="0" u="none" strike="noStrike" dirty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</a:br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【A】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水平高，完全可以成爲他人學習的楷模 </a:t>
                      </a:r>
                    </a:p>
                    <a:p>
                      <a:pPr algn="l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【B】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能夠熟練和持續的展現狀態，已具備成功經驗和方法</a:t>
                      </a:r>
                      <a:endParaRPr lang="en-US" altLang="zh-TW" sz="105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【C】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能展現出基本的狀態和意識，掌握一定的基本方法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4617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418125"/>
              </p:ext>
            </p:extLst>
          </p:nvPr>
        </p:nvGraphicFramePr>
        <p:xfrm>
          <a:off x="1031363" y="1463314"/>
          <a:ext cx="10129275" cy="4233780"/>
        </p:xfrm>
        <a:graphic>
          <a:graphicData uri="http://schemas.openxmlformats.org/drawingml/2006/table">
            <a:tbl>
              <a:tblPr/>
              <a:tblGrid>
                <a:gridCol w="872841"/>
                <a:gridCol w="937497"/>
                <a:gridCol w="2025574"/>
                <a:gridCol w="786917"/>
                <a:gridCol w="883617"/>
                <a:gridCol w="224941"/>
                <a:gridCol w="1650053"/>
                <a:gridCol w="872841"/>
                <a:gridCol w="1874994"/>
              </a:tblGrid>
              <a:tr h="423378">
                <a:tc gridSpan="9">
                  <a:txBody>
                    <a:bodyPr/>
                    <a:lstStyle/>
                    <a:p>
                      <a:pPr algn="l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基本信息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423378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姓名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王磊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　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年齡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36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資位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師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4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3378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學歷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本科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畢業學校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北京交通大學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專業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計算機科學與技術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3378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現部門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精益系統管理開發中心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en-US" altLang="zh-CN" sz="1200" b="0" i="0" u="none" strike="noStrike" dirty="0" err="1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園區管理系統開發部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　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申報職級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2-2</a:t>
                      </a: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研發工程師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集團年資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14.4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3378">
                <a:tc gridSpan="9">
                  <a:txBody>
                    <a:bodyPr/>
                    <a:lstStyle/>
                    <a:p>
                      <a:pPr algn="l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工作履歷（從集團外經歷起，倒序填寫）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42337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起止時間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任職單位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崗位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工作執掌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42337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300" b="0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2017.04-</a:t>
                      </a:r>
                      <a:r>
                        <a:rPr lang="zh-CN" altLang="en-US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至今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中原資訊總處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java</a:t>
                      </a:r>
                      <a:r>
                        <a:rPr lang="zh-CN" altLang="en-US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開發工程師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300" kern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負責</a:t>
                      </a:r>
                      <a:r>
                        <a:rPr lang="zh-TW" altLang="en-US" sz="1300" kern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總務類需求承接、方案提供及系統</a:t>
                      </a:r>
                      <a:r>
                        <a:rPr lang="zh-CN" altLang="en-US" sz="1300" kern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設計</a:t>
                      </a:r>
                      <a:r>
                        <a:rPr lang="zh-TW" altLang="en-US" sz="1300" kern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開發與運維</a:t>
                      </a:r>
                      <a:endParaRPr lang="en-US" altLang="zh-CN" sz="1300" kern="12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</a:tr>
              <a:tr h="423378">
                <a:tc gridSpan="2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300" b="0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2010.01-2017.04</a:t>
                      </a:r>
                      <a:endParaRPr lang="zh-CN" altLang="en-US" sz="1300" b="0" i="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3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太原資訊科技部</a:t>
                      </a:r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300" b="0" i="0" u="none" strike="noStrike" kern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java</a:t>
                      </a:r>
                      <a:r>
                        <a:rPr lang="zh-CN" altLang="en-US" sz="1300" b="0" i="0" u="none" strike="noStrike" kern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開發工程師</a:t>
                      </a: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300" kern="1200" dirty="0" err="1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項目架構搭建，功能開發，日常運維</a:t>
                      </a:r>
                      <a:endParaRPr lang="en-US" altLang="zh-CN" sz="13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423378">
                <a:tc gridSpan="2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300" b="0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2007.03-2010.01</a:t>
                      </a:r>
                      <a:endParaRPr lang="zh-CN" altLang="en-US" sz="1300" b="0" i="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3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太原資訊科技部</a:t>
                      </a:r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CN" altLang="en-US" sz="1300" b="0" i="0" u="none" strike="noStrike" dirty="0" smtClean="0">
                          <a:solidFill>
                            <a:srgbClr val="000000"/>
                          </a:solidFill>
                          <a:latin typeface="微软雅黑" pitchFamily="34" charset="-122"/>
                          <a:ea typeface="微软雅黑" pitchFamily="34" charset="-122"/>
                        </a:rPr>
                        <a:t>一卡通工程師</a:t>
                      </a:r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300" kern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園區一卡通項目管理</a:t>
                      </a:r>
                      <a:endParaRPr lang="zh-TW" altLang="en-US" sz="1300" kern="12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423378">
                <a:tc gridSpan="2">
                  <a:txBody>
                    <a:bodyPr/>
                    <a:lstStyle/>
                    <a:p>
                      <a:pPr algn="ctr" fontAlgn="ctr"/>
                      <a:endParaRPr lang="en-US" altLang="zh-CN" sz="13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86173" y="685569"/>
            <a:ext cx="1981063" cy="374706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CN" altLang="en-US" dirty="0" smtClean="0">
                <a:latin typeface="微软雅黑" pitchFamily="34" charset="-122"/>
                <a:ea typeface="微软雅黑" pitchFamily="34" charset="-122"/>
              </a:rPr>
              <a:t>基础信息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28509" y="733384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 smtClean="0">
                <a:latin typeface="微软雅黑" pitchFamily="34" charset="-122"/>
                <a:ea typeface="微软雅黑" pitchFamily="34" charset="-122"/>
              </a:rPr>
              <a:t>技能水平</a:t>
            </a:r>
            <a:endParaRPr lang="zh-CN" altLang="en-US" sz="3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文本框 1"/>
          <p:cNvSpPr txBox="1"/>
          <p:nvPr/>
        </p:nvSpPr>
        <p:spPr>
          <a:xfrm>
            <a:off x="873124" y="1876253"/>
            <a:ext cx="10313859" cy="37856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en-US" altLang="zh-CN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熟練</a:t>
            </a:r>
            <a:r>
              <a:rPr lang="zh-CN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en-US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Web </a:t>
            </a:r>
            <a:r>
              <a:rPr lang="zh-TW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開發，及主流 </a:t>
            </a:r>
            <a:r>
              <a:rPr lang="en-US" altLang="zh-TW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J</a:t>
            </a:r>
            <a:r>
              <a:rPr lang="en-US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ava </a:t>
            </a:r>
            <a:r>
              <a:rPr lang="zh-TW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技術框架</a:t>
            </a:r>
            <a:r>
              <a:rPr lang="en-US" altLang="zh-TW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SSM</a:t>
            </a:r>
            <a:r>
              <a:rPr lang="zh-CN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，掌握微服務技術框架</a:t>
            </a:r>
            <a:r>
              <a:rPr lang="en-US" altLang="zh-CN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SpringCloud</a:t>
            </a:r>
            <a:r>
              <a:rPr lang="zh-CN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SpringBoot</a:t>
            </a:r>
            <a:r>
              <a:rPr lang="zh-CN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等</a:t>
            </a:r>
            <a:r>
              <a:rPr lang="zh-TW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，熟悉</a:t>
            </a:r>
            <a:r>
              <a:rPr lang="zh-CN" altLang="zh-TW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高並發，多線程及</a:t>
            </a:r>
            <a:r>
              <a:rPr lang="zh-TW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en-US" altLang="zh-CN" sz="2000" dirty="0" err="1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vue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項目的</a:t>
            </a:r>
            <a:r>
              <a:rPr lang="zh-TW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前</a:t>
            </a:r>
            <a:r>
              <a:rPr lang="zh-TW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端開</a:t>
            </a:r>
            <a:r>
              <a:rPr lang="zh-TW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發</a:t>
            </a:r>
            <a:r>
              <a:rPr lang="zh-CN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。</a:t>
            </a:r>
            <a:endParaRPr lang="en-US" altLang="zh-CN" sz="2000" dirty="0" smtClean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endParaRPr lang="en-US" altLang="zh-CN" sz="2000" dirty="0" smtClean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zh-TW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</a:t>
            </a:r>
            <a:r>
              <a:rPr lang="zh-CN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熟練使用</a:t>
            </a:r>
            <a:r>
              <a:rPr lang="zh-TW" altLang="en-US" sz="200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主流數據庫產</a:t>
            </a:r>
            <a:r>
              <a:rPr lang="zh-TW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品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，掌握信息系統項目開發流程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。</a:t>
            </a:r>
            <a:endParaRPr lang="en-US" altLang="zh-CN" sz="2000" dirty="0" smtClean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endParaRPr lang="zh-CN" altLang="en-US" sz="2000" dirty="0" smtClean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en-US" altLang="zh-CN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熟悉</a:t>
            </a:r>
            <a:r>
              <a:rPr lang="zh-CN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</a:t>
            </a:r>
            <a:r>
              <a:rPr lang="zh-CN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數據相關技</a:t>
            </a:r>
            <a:r>
              <a:rPr lang="zh-CN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術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H</a:t>
            </a:r>
            <a:r>
              <a:rPr lang="en-US" altLang="zh-CN" sz="2000" dirty="0" err="1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adoop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H</a:t>
            </a:r>
            <a:r>
              <a:rPr lang="en-US" altLang="zh-CN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ive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2000" dirty="0" err="1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HBase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Spark</a:t>
            </a:r>
            <a:r>
              <a: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TW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Storm</a:t>
            </a:r>
            <a:r>
              <a: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TW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Kafka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</a:t>
            </a:r>
            <a:r>
              <a:rPr lang="en-US" altLang="zh-TW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qoop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r>
              <a:rPr lang="zh-CN" altLang="zh-TW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。</a:t>
            </a:r>
            <a:endParaRPr lang="en-US" altLang="zh-CN" sz="2000" dirty="0" smtClean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en-US" altLang="zh-CN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en-US" altLang="zh-CN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</a:t>
            </a: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了解機器學習常用算法，可以使用</a:t>
            </a:r>
            <a:r>
              <a:rPr lang="en-US" altLang="zh-TW" sz="2000" dirty="0" err="1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SparkMLlib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進行開發。</a:t>
            </a:r>
            <a:endParaRPr lang="zh-CN" altLang="zh-TW" sz="2000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873125" y="2029923"/>
            <a:ext cx="615315" cy="36258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１）</a:t>
            </a:r>
          </a:p>
        </p:txBody>
      </p:sp>
      <p:sp>
        <p:nvSpPr>
          <p:cNvPr id="8" name="矩形 7"/>
          <p:cNvSpPr/>
          <p:nvPr/>
        </p:nvSpPr>
        <p:spPr>
          <a:xfrm>
            <a:off x="883285" y="3406494"/>
            <a:ext cx="605155" cy="36258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 </a:t>
            </a:r>
            <a:r>
              <a:rPr lang="zh-CN" altLang="en-US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</a:p>
        </p:txBody>
      </p:sp>
      <p:sp>
        <p:nvSpPr>
          <p:cNvPr id="9" name="矩形 8"/>
          <p:cNvSpPr/>
          <p:nvPr/>
        </p:nvSpPr>
        <p:spPr>
          <a:xfrm>
            <a:off x="873125" y="4276504"/>
            <a:ext cx="605155" cy="3905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 </a:t>
            </a:r>
            <a:r>
              <a:rPr lang="zh-CN" altLang="en-US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</a:p>
        </p:txBody>
      </p:sp>
      <p:sp>
        <p:nvSpPr>
          <p:cNvPr id="10" name="矩形 9"/>
          <p:cNvSpPr/>
          <p:nvPr/>
        </p:nvSpPr>
        <p:spPr>
          <a:xfrm>
            <a:off x="873124" y="5165625"/>
            <a:ext cx="605155" cy="3905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4 </a:t>
            </a:r>
            <a:r>
              <a:rPr lang="zh-CN" altLang="en-US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28509" y="733384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 smtClean="0">
                <a:latin typeface="微软雅黑" pitchFamily="34" charset="-122"/>
                <a:ea typeface="微软雅黑" pitchFamily="34" charset="-122"/>
              </a:rPr>
              <a:t>新技術應用</a:t>
            </a:r>
            <a:endParaRPr lang="zh-CN" altLang="en-US" sz="3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893945" y="1370965"/>
            <a:ext cx="864235" cy="425386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TextBox 13"/>
          <p:cNvSpPr txBox="1"/>
          <p:nvPr/>
        </p:nvSpPr>
        <p:spPr>
          <a:xfrm>
            <a:off x="5001434" y="2084368"/>
            <a:ext cx="6094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solidFill>
                  <a:schemeClr val="bg1"/>
                </a:solidFill>
                <a:latin typeface="MS PMincho" pitchFamily="18" charset="-128"/>
                <a:ea typeface="MS PMincho" pitchFamily="18" charset="-128"/>
              </a:rPr>
              <a:t>01</a:t>
            </a:r>
            <a:endParaRPr lang="zh-CN" altLang="en-US" sz="3600" b="1" dirty="0">
              <a:solidFill>
                <a:schemeClr val="bg1"/>
              </a:solidFill>
              <a:latin typeface="MS PMincho" pitchFamily="18" charset="-128"/>
              <a:ea typeface="MS PMincho" pitchFamily="18" charset="-128"/>
            </a:endParaRPr>
          </a:p>
        </p:txBody>
      </p:sp>
      <p:cxnSp>
        <p:nvCxnSpPr>
          <p:cNvPr id="13" name="直接连接符 15"/>
          <p:cNvCxnSpPr/>
          <p:nvPr/>
        </p:nvCxnSpPr>
        <p:spPr>
          <a:xfrm flipH="1">
            <a:off x="5718496" y="2406040"/>
            <a:ext cx="864096" cy="0"/>
          </a:xfrm>
          <a:prstGeom prst="line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6"/>
          <p:cNvSpPr/>
          <p:nvPr/>
        </p:nvSpPr>
        <p:spPr>
          <a:xfrm flipH="1">
            <a:off x="5643938" y="2353132"/>
            <a:ext cx="108012" cy="108012"/>
          </a:xfrm>
          <a:prstGeom prst="ellipse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 flipH="1">
            <a:off x="6380202" y="2220486"/>
            <a:ext cx="2029858" cy="36266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>
                <a:sym typeface="+mn-ea"/>
              </a:rPr>
              <a:t>微服務平台</a:t>
            </a:r>
          </a:p>
        </p:txBody>
      </p:sp>
      <p:sp>
        <p:nvSpPr>
          <p:cNvPr id="16" name="TextBox 18"/>
          <p:cNvSpPr txBox="1"/>
          <p:nvPr/>
        </p:nvSpPr>
        <p:spPr>
          <a:xfrm>
            <a:off x="6684009" y="2708910"/>
            <a:ext cx="4338217" cy="2653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1600" dirty="0">
                <a:sym typeface="+mn-ea"/>
              </a:rPr>
              <a:t>1.</a:t>
            </a:r>
            <a:r>
              <a:rPr lang="zh-CN" altLang="en-US" sz="1600" dirty="0">
                <a:sym typeface="+mn-ea"/>
              </a:rPr>
              <a:t>本系統功能分模塊化，前後端分離。</a:t>
            </a:r>
          </a:p>
          <a:p>
            <a:pPr>
              <a:lnSpc>
                <a:spcPct val="130000"/>
              </a:lnSpc>
            </a:pPr>
            <a:r>
              <a:rPr lang="en-US" altLang="zh-CN" sz="1600" dirty="0">
                <a:sym typeface="+mn-ea"/>
              </a:rPr>
              <a:t>2.</a:t>
            </a:r>
            <a:r>
              <a:rPr lang="zh-CN" altLang="en-US" sz="1600" dirty="0">
                <a:sym typeface="+mn-ea"/>
              </a:rPr>
              <a:t>平台採用Spring Boot 2.X 、Spring Security、Oauth2、Mybatis Plus等核心技术，前端vue、</a:t>
            </a:r>
            <a:r>
              <a:rPr lang="en-US" altLang="zh-CN" sz="1600" dirty="0">
                <a:sym typeface="+mn-ea"/>
              </a:rPr>
              <a:t>bootstrap</a:t>
            </a:r>
            <a:r>
              <a:rPr lang="zh-CN" altLang="en-US" sz="1600" dirty="0">
                <a:sym typeface="+mn-ea"/>
              </a:rPr>
              <a:t>框架，使用</a:t>
            </a:r>
            <a:r>
              <a:rPr lang="en-US" altLang="zh-CN" sz="1600" dirty="0" err="1">
                <a:sym typeface="+mn-ea"/>
              </a:rPr>
              <a:t>nacos</a:t>
            </a:r>
            <a:r>
              <a:rPr lang="zh-CN" altLang="en-US" sz="1600" dirty="0">
                <a:sym typeface="+mn-ea"/>
              </a:rPr>
              <a:t>作為配置及註冊中心，</a:t>
            </a:r>
            <a:r>
              <a:rPr lang="en-US" altLang="zh-CN" sz="1600" dirty="0">
                <a:sym typeface="+mn-ea"/>
              </a:rPr>
              <a:t>maven</a:t>
            </a:r>
            <a:r>
              <a:rPr lang="zh-CN" altLang="en-US" sz="1600" dirty="0">
                <a:sym typeface="+mn-ea"/>
              </a:rPr>
              <a:t>管理項目依賴</a:t>
            </a:r>
            <a:r>
              <a:rPr lang="en-US" altLang="zh-CN" sz="1600" dirty="0">
                <a:sym typeface="+mn-ea"/>
              </a:rPr>
              <a:t>jar</a:t>
            </a:r>
            <a:r>
              <a:rPr lang="zh-CN" altLang="en-US" sz="1600" dirty="0" smtClean="0">
                <a:sym typeface="+mn-ea"/>
              </a:rPr>
              <a:t>包，</a:t>
            </a:r>
            <a:r>
              <a:rPr lang="en-US" altLang="zh-CN" sz="1600" dirty="0" err="1">
                <a:sym typeface="+mn-ea"/>
              </a:rPr>
              <a:t>Redis</a:t>
            </a:r>
            <a:r>
              <a:rPr lang="zh-CN" altLang="en-US" sz="1600" dirty="0">
                <a:sym typeface="+mn-ea"/>
              </a:rPr>
              <a:t>作為二級</a:t>
            </a:r>
            <a:r>
              <a:rPr lang="en-US" altLang="zh-CN" sz="1600" dirty="0" err="1" smtClean="0">
                <a:sym typeface="+mn-ea"/>
              </a:rPr>
              <a:t>缓存</a:t>
            </a:r>
            <a:r>
              <a:rPr lang="zh-CN" altLang="en-US" sz="1600" dirty="0">
                <a:sym typeface="+mn-ea"/>
              </a:rPr>
              <a:t> ， 使用</a:t>
            </a:r>
            <a:r>
              <a:rPr lang="en-US" altLang="zh-CN" sz="1600" dirty="0" smtClean="0">
                <a:sym typeface="+mn-ea"/>
              </a:rPr>
              <a:t>Jenkins</a:t>
            </a:r>
            <a:r>
              <a:rPr lang="zh-CN" altLang="en-US" sz="1600" dirty="0">
                <a:sym typeface="+mn-ea"/>
              </a:rPr>
              <a:t>持續</a:t>
            </a:r>
            <a:r>
              <a:rPr lang="zh-CN" altLang="en-US" sz="1600" dirty="0" smtClean="0">
                <a:sym typeface="+mn-ea"/>
              </a:rPr>
              <a:t>集成，自動進行</a:t>
            </a:r>
            <a:r>
              <a:rPr lang="en-US" altLang="zh-CN" sz="1600" dirty="0" err="1" smtClean="0">
                <a:sym typeface="+mn-ea"/>
              </a:rPr>
              <a:t>docker</a:t>
            </a:r>
            <a:r>
              <a:rPr lang="zh-CN" altLang="en-US" sz="1600" dirty="0">
                <a:sym typeface="+mn-ea"/>
              </a:rPr>
              <a:t>打包</a:t>
            </a:r>
            <a:r>
              <a:rPr lang="zh-CN" altLang="en-US" sz="1600" dirty="0" smtClean="0">
                <a:sym typeface="+mn-ea"/>
              </a:rPr>
              <a:t>工程，</a:t>
            </a:r>
            <a:r>
              <a:rPr lang="zh-CN" altLang="en-US" sz="1600" dirty="0">
                <a:sym typeface="+mn-ea"/>
              </a:rPr>
              <a:t>自動化部署項</a:t>
            </a:r>
            <a:r>
              <a:rPr lang="zh-CN" altLang="en-US" sz="1600" dirty="0" smtClean="0">
                <a:sym typeface="+mn-ea"/>
              </a:rPr>
              <a:t>目到</a:t>
            </a:r>
            <a:r>
              <a:rPr lang="en-US" altLang="zh-CN" sz="1600" dirty="0" err="1" smtClean="0">
                <a:sym typeface="+mn-ea"/>
              </a:rPr>
              <a:t>kubernetes</a:t>
            </a:r>
            <a:r>
              <a:rPr lang="zh-CN" altLang="en-US" sz="1600" dirty="0" smtClean="0">
                <a:sym typeface="+mn-ea"/>
              </a:rPr>
              <a:t>集群</a:t>
            </a:r>
            <a:r>
              <a:rPr lang="zh-CN" altLang="en-US" sz="1600" dirty="0" smtClean="0">
                <a:sym typeface="+mn-ea"/>
              </a:rPr>
              <a:t>。</a:t>
            </a:r>
            <a:endParaRPr lang="zh-CN" altLang="en-US" sz="1600" dirty="0"/>
          </a:p>
          <a:p>
            <a:pPr>
              <a:lnSpc>
                <a:spcPct val="130000"/>
              </a:lnSpc>
            </a:pPr>
            <a:endParaRPr lang="zh-TW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19"/>
          <p:cNvSpPr txBox="1"/>
          <p:nvPr/>
        </p:nvSpPr>
        <p:spPr>
          <a:xfrm>
            <a:off x="4953262" y="3652545"/>
            <a:ext cx="68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solidFill>
                  <a:schemeClr val="bg1"/>
                </a:solidFill>
                <a:latin typeface="MS PMincho" pitchFamily="18" charset="-128"/>
                <a:ea typeface="MS PMincho" pitchFamily="18" charset="-128"/>
              </a:rPr>
              <a:t>02</a:t>
            </a:r>
            <a:endParaRPr lang="zh-CN" altLang="en-US" sz="3600" b="1" dirty="0">
              <a:solidFill>
                <a:schemeClr val="bg1"/>
              </a:solidFill>
              <a:latin typeface="MS PMincho" pitchFamily="18" charset="-128"/>
              <a:ea typeface="MS PMincho" pitchFamily="18" charset="-128"/>
            </a:endParaRPr>
          </a:p>
        </p:txBody>
      </p:sp>
      <p:cxnSp>
        <p:nvCxnSpPr>
          <p:cNvPr id="18" name="直接连接符 21"/>
          <p:cNvCxnSpPr/>
          <p:nvPr/>
        </p:nvCxnSpPr>
        <p:spPr>
          <a:xfrm>
            <a:off x="4029436" y="4021532"/>
            <a:ext cx="864096" cy="0"/>
          </a:xfrm>
          <a:prstGeom prst="line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22"/>
          <p:cNvSpPr/>
          <p:nvPr/>
        </p:nvSpPr>
        <p:spPr>
          <a:xfrm>
            <a:off x="4860078" y="3964688"/>
            <a:ext cx="108012" cy="108012"/>
          </a:xfrm>
          <a:prstGeom prst="ellipse">
            <a:avLst/>
          </a:prstGeom>
          <a:solidFill>
            <a:schemeClr val="accent5">
              <a:lumMod val="75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2201968" y="3835978"/>
            <a:ext cx="2029858" cy="36266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數據同步工具</a:t>
            </a:r>
          </a:p>
        </p:txBody>
      </p:sp>
      <p:sp>
        <p:nvSpPr>
          <p:cNvPr id="21" name="TextBox 24"/>
          <p:cNvSpPr txBox="1"/>
          <p:nvPr/>
        </p:nvSpPr>
        <p:spPr>
          <a:xfrm>
            <a:off x="1400175" y="4198620"/>
            <a:ext cx="3380105" cy="1372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600" dirty="0" smtClean="0">
                <a:sym typeface="+mn-ea"/>
              </a:rPr>
              <a:t>使用</a:t>
            </a:r>
            <a:r>
              <a:rPr lang="en-US" altLang="zh-CN" sz="1600" dirty="0" err="1" smtClean="0">
                <a:sym typeface="+mn-ea"/>
              </a:rPr>
              <a:t>datax</a:t>
            </a:r>
            <a:r>
              <a:rPr lang="zh-CN" altLang="en-US" sz="1600" dirty="0">
                <a:sym typeface="+mn-ea"/>
              </a:rPr>
              <a:t>同步數</a:t>
            </a:r>
            <a:r>
              <a:rPr lang="zh-CN" altLang="en-US" sz="1600" dirty="0" smtClean="0">
                <a:sym typeface="+mn-ea"/>
              </a:rPr>
              <a:t>據，開發數據加密的</a:t>
            </a:r>
            <a:r>
              <a:rPr lang="en-US" altLang="zh-CN" sz="1600" dirty="0" smtClean="0">
                <a:sym typeface="+mn-ea"/>
              </a:rPr>
              <a:t>Transformer</a:t>
            </a:r>
            <a:r>
              <a:rPr lang="zh-CN" altLang="en-US" sz="1600" dirty="0" smtClean="0">
                <a:sym typeface="+mn-ea"/>
              </a:rPr>
              <a:t>插件，在太原公寓系統轉</a:t>
            </a:r>
            <a:r>
              <a:rPr lang="en-US" altLang="zh-CN" sz="1600" dirty="0" err="1" smtClean="0">
                <a:sym typeface="+mn-ea"/>
              </a:rPr>
              <a:t>PostgreSql</a:t>
            </a:r>
            <a:r>
              <a:rPr lang="zh-CN" altLang="en-US" sz="1600" dirty="0" smtClean="0">
                <a:sym typeface="+mn-ea"/>
              </a:rPr>
              <a:t>是</a:t>
            </a:r>
            <a:r>
              <a:rPr lang="en-US" altLang="zh-CN" sz="1600" dirty="0" smtClean="0">
                <a:sym typeface="+mn-ea"/>
              </a:rPr>
              <a:t>,</a:t>
            </a:r>
            <a:r>
              <a:rPr lang="zh-CN" altLang="en-US" sz="1600" dirty="0" smtClean="0">
                <a:sym typeface="+mn-ea"/>
              </a:rPr>
              <a:t>抄寫數據時加密敏感字段。</a:t>
            </a:r>
            <a:endParaRPr lang="zh-CN" altLang="en-US" sz="1600"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551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6"/>
          <p:cNvSpPr/>
          <p:nvPr/>
        </p:nvSpPr>
        <p:spPr bwMode="auto">
          <a:xfrm>
            <a:off x="2028792" y="1626734"/>
            <a:ext cx="3529011" cy="4210409"/>
          </a:xfrm>
          <a:custGeom>
            <a:avLst/>
            <a:gdLst>
              <a:gd name="T0" fmla="*/ 2932 w 5863"/>
              <a:gd name="T1" fmla="*/ 0 h 6999"/>
              <a:gd name="T2" fmla="*/ 5863 w 5863"/>
              <a:gd name="T3" fmla="*/ 2932 h 6999"/>
              <a:gd name="T4" fmla="*/ 5450 w 5863"/>
              <a:gd name="T5" fmla="*/ 4434 h 6999"/>
              <a:gd name="T6" fmla="*/ 2932 w 5863"/>
              <a:gd name="T7" fmla="*/ 6999 h 6999"/>
              <a:gd name="T8" fmla="*/ 414 w 5863"/>
              <a:gd name="T9" fmla="*/ 4434 h 6999"/>
              <a:gd name="T10" fmla="*/ 0 w 5863"/>
              <a:gd name="T11" fmla="*/ 2932 h 6999"/>
              <a:gd name="T12" fmla="*/ 2932 w 5863"/>
              <a:gd name="T13" fmla="*/ 0 h 69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863" h="6999">
                <a:moveTo>
                  <a:pt x="2932" y="0"/>
                </a:moveTo>
                <a:cubicBezTo>
                  <a:pt x="4550" y="0"/>
                  <a:pt x="5863" y="1313"/>
                  <a:pt x="5863" y="2932"/>
                </a:cubicBezTo>
                <a:cubicBezTo>
                  <a:pt x="5863" y="3480"/>
                  <a:pt x="5712" y="3994"/>
                  <a:pt x="5450" y="4434"/>
                </a:cubicBezTo>
                <a:cubicBezTo>
                  <a:pt x="5201" y="4840"/>
                  <a:pt x="3807" y="6359"/>
                  <a:pt x="2932" y="6999"/>
                </a:cubicBezTo>
                <a:cubicBezTo>
                  <a:pt x="2056" y="6359"/>
                  <a:pt x="663" y="4840"/>
                  <a:pt x="414" y="4434"/>
                </a:cubicBezTo>
                <a:cubicBezTo>
                  <a:pt x="151" y="3994"/>
                  <a:pt x="0" y="3480"/>
                  <a:pt x="0" y="2932"/>
                </a:cubicBezTo>
                <a:cubicBezTo>
                  <a:pt x="0" y="1313"/>
                  <a:pt x="1313" y="0"/>
                  <a:pt x="2932" y="0"/>
                </a:cubicBezTo>
                <a:close/>
              </a:path>
            </a:pathLst>
          </a:custGeom>
          <a:solidFill>
            <a:schemeClr val="accent5">
              <a:lumMod val="50000"/>
            </a:schemeClr>
          </a:solidFill>
          <a:ln>
            <a:noFill/>
          </a:ln>
        </p:spPr>
        <p:txBody>
          <a:bodyPr vert="horz" wrap="square" lIns="91434" tIns="45717" rIns="91434" bIns="45717" numCol="1" anchor="t" anchorCtr="0" compatLnSpc="1"/>
          <a:lstStyle/>
          <a:p>
            <a:endParaRPr lang="zh-CN" altLang="en-US"/>
          </a:p>
        </p:txBody>
      </p:sp>
      <p:sp>
        <p:nvSpPr>
          <p:cNvPr id="6" name="Freeform 6"/>
          <p:cNvSpPr/>
          <p:nvPr/>
        </p:nvSpPr>
        <p:spPr bwMode="auto">
          <a:xfrm>
            <a:off x="6135725" y="2824028"/>
            <a:ext cx="2336248" cy="2787341"/>
          </a:xfrm>
          <a:custGeom>
            <a:avLst/>
            <a:gdLst>
              <a:gd name="T0" fmla="*/ 2932 w 5863"/>
              <a:gd name="T1" fmla="*/ 0 h 6999"/>
              <a:gd name="T2" fmla="*/ 5863 w 5863"/>
              <a:gd name="T3" fmla="*/ 2932 h 6999"/>
              <a:gd name="T4" fmla="*/ 5450 w 5863"/>
              <a:gd name="T5" fmla="*/ 4434 h 6999"/>
              <a:gd name="T6" fmla="*/ 2932 w 5863"/>
              <a:gd name="T7" fmla="*/ 6999 h 6999"/>
              <a:gd name="T8" fmla="*/ 414 w 5863"/>
              <a:gd name="T9" fmla="*/ 4434 h 6999"/>
              <a:gd name="T10" fmla="*/ 0 w 5863"/>
              <a:gd name="T11" fmla="*/ 2932 h 6999"/>
              <a:gd name="T12" fmla="*/ 2932 w 5863"/>
              <a:gd name="T13" fmla="*/ 0 h 69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863" h="6999">
                <a:moveTo>
                  <a:pt x="2932" y="0"/>
                </a:moveTo>
                <a:cubicBezTo>
                  <a:pt x="4550" y="0"/>
                  <a:pt x="5863" y="1313"/>
                  <a:pt x="5863" y="2932"/>
                </a:cubicBezTo>
                <a:cubicBezTo>
                  <a:pt x="5863" y="3480"/>
                  <a:pt x="5712" y="3994"/>
                  <a:pt x="5450" y="4434"/>
                </a:cubicBezTo>
                <a:cubicBezTo>
                  <a:pt x="5201" y="4840"/>
                  <a:pt x="3807" y="6359"/>
                  <a:pt x="2932" y="6999"/>
                </a:cubicBezTo>
                <a:cubicBezTo>
                  <a:pt x="2056" y="6359"/>
                  <a:pt x="663" y="4840"/>
                  <a:pt x="414" y="4434"/>
                </a:cubicBezTo>
                <a:cubicBezTo>
                  <a:pt x="151" y="3994"/>
                  <a:pt x="0" y="3480"/>
                  <a:pt x="0" y="2932"/>
                </a:cubicBezTo>
                <a:cubicBezTo>
                  <a:pt x="0" y="1313"/>
                  <a:pt x="1313" y="0"/>
                  <a:pt x="2932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txBody>
          <a:bodyPr vert="horz" wrap="square" lIns="91434" tIns="45717" rIns="91434" bIns="45717" numCol="1" anchor="t" anchorCtr="0" compatLnSpc="1"/>
          <a:lstStyle/>
          <a:p>
            <a:endParaRPr lang="zh-CN" altLang="en-US"/>
          </a:p>
        </p:txBody>
      </p:sp>
      <p:sp>
        <p:nvSpPr>
          <p:cNvPr id="7" name="椭圆 5"/>
          <p:cNvSpPr/>
          <p:nvPr/>
        </p:nvSpPr>
        <p:spPr bwMode="auto">
          <a:xfrm>
            <a:off x="4604478" y="1639771"/>
            <a:ext cx="936104" cy="936104"/>
          </a:xfrm>
          <a:prstGeom prst="ellipse">
            <a:avLst/>
          </a:prstGeom>
          <a:solidFill>
            <a:schemeClr val="accent6"/>
          </a:solidFill>
          <a:ln w="9525" cap="flat" cmpd="sng" algn="ctr">
            <a:solidFill>
              <a:srgbClr val="F8F8F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34" tIns="45717" rIns="91434" bIns="45717" numCol="1" rtlCol="0" anchor="t" anchorCtr="0" compatLnSpc="1"/>
          <a:lstStyle/>
          <a:p>
            <a:pPr defTabSz="914339"/>
            <a:endParaRPr lang="zh-CN" altLang="en-US" sz="1700"/>
          </a:p>
        </p:txBody>
      </p:sp>
      <p:sp>
        <p:nvSpPr>
          <p:cNvPr id="8" name="椭圆 6"/>
          <p:cNvSpPr/>
          <p:nvPr/>
        </p:nvSpPr>
        <p:spPr bwMode="auto">
          <a:xfrm>
            <a:off x="7828408" y="2891317"/>
            <a:ext cx="911864" cy="911864"/>
          </a:xfrm>
          <a:prstGeom prst="ellipse">
            <a:avLst/>
          </a:prstGeom>
          <a:solidFill>
            <a:schemeClr val="accent6"/>
          </a:solidFill>
          <a:ln w="9525" cap="flat" cmpd="sng" algn="ctr">
            <a:solidFill>
              <a:srgbClr val="F8F8F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34" tIns="45717" rIns="91434" bIns="45717" numCol="1" rtlCol="0" anchor="t" anchorCtr="0" compatLnSpc="1"/>
          <a:lstStyle/>
          <a:p>
            <a:pPr defTabSz="914339"/>
            <a:endParaRPr lang="zh-CN" altLang="en-US" sz="1700"/>
          </a:p>
        </p:txBody>
      </p:sp>
      <p:sp>
        <p:nvSpPr>
          <p:cNvPr id="9" name="TextBox 7"/>
          <p:cNvSpPr txBox="1"/>
          <p:nvPr/>
        </p:nvSpPr>
        <p:spPr>
          <a:xfrm>
            <a:off x="4583031" y="1742141"/>
            <a:ext cx="935285" cy="646325"/>
          </a:xfrm>
          <a:prstGeom prst="rect">
            <a:avLst/>
          </a:prstGeom>
          <a:noFill/>
        </p:spPr>
        <p:txBody>
          <a:bodyPr wrap="square" lIns="91434" tIns="45717" rIns="91434" bIns="45717" rtlCol="0">
            <a:spAutoFit/>
          </a:bodyPr>
          <a:lstStyle/>
          <a:p>
            <a:pPr algn="ctr"/>
            <a:r>
              <a:rPr lang="en-US" altLang="zh-CN" dirty="0" smtClean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CAA</a:t>
            </a:r>
            <a:r>
              <a:rPr lang="zh-CN" altLang="en-US" dirty="0" smtClean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移動報修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7823809" y="2993728"/>
            <a:ext cx="921062" cy="646325"/>
          </a:xfrm>
          <a:prstGeom prst="rect">
            <a:avLst/>
          </a:prstGeom>
          <a:noFill/>
        </p:spPr>
        <p:txBody>
          <a:bodyPr wrap="square" lIns="91434" tIns="45717" rIns="91434" bIns="45717" rtlCol="0">
            <a:spAutoFit/>
          </a:bodyPr>
          <a:lstStyle/>
          <a:p>
            <a:pPr algn="ctr"/>
            <a:r>
              <a:rPr lang="en-US" altLang="zh-CN" dirty="0" smtClean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CAA</a:t>
            </a:r>
            <a:r>
              <a:rPr lang="zh-CN" altLang="en-US" dirty="0" smtClean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移動報修</a:t>
            </a:r>
            <a:endParaRPr lang="zh-CN" altLang="en-US" dirty="0">
              <a:solidFill>
                <a:srgbClr val="F8F8F8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2439064" y="2751696"/>
            <a:ext cx="2611611" cy="1200323"/>
          </a:xfrm>
          <a:prstGeom prst="rect">
            <a:avLst/>
          </a:prstGeom>
          <a:noFill/>
        </p:spPr>
        <p:txBody>
          <a:bodyPr wrap="square" lIns="91434" tIns="45717" rIns="91434" bIns="45717" rtlCol="0">
            <a:spAutoFit/>
          </a:bodyPr>
          <a:lstStyle/>
          <a:p>
            <a:r>
              <a:rPr lang="zh-CN" altLang="en-US" dirty="0" smtClean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合理安排工作順序</a:t>
            </a:r>
            <a:r>
              <a:rPr lang="zh-CN" altLang="en-US" dirty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，</a:t>
            </a:r>
            <a:r>
              <a:rPr lang="zh-CN" altLang="en-US" dirty="0" smtClean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提升小組成員配合效率，保證系統按期交付用戶使用。</a:t>
            </a:r>
            <a:endParaRPr lang="zh-CN" altLang="en-US" dirty="0">
              <a:solidFill>
                <a:srgbClr val="F8F8F8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14" name="TextBox 12"/>
          <p:cNvSpPr txBox="1"/>
          <p:nvPr/>
        </p:nvSpPr>
        <p:spPr>
          <a:xfrm>
            <a:off x="6319982" y="3659660"/>
            <a:ext cx="1982582" cy="1200323"/>
          </a:xfrm>
          <a:prstGeom prst="rect">
            <a:avLst/>
          </a:prstGeom>
          <a:noFill/>
        </p:spPr>
        <p:txBody>
          <a:bodyPr wrap="square" lIns="91434" tIns="45717" rIns="91434" bIns="45717" rtlCol="0">
            <a:spAutoFit/>
          </a:bodyPr>
          <a:lstStyle/>
          <a:p>
            <a:pPr algn="ctr"/>
            <a:r>
              <a:rPr lang="zh-CN" altLang="en-US" dirty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移動端使用</a:t>
            </a:r>
            <a:r>
              <a:rPr lang="en-US" altLang="zh-CN" dirty="0" err="1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Vue</a:t>
            </a:r>
            <a:r>
              <a:rPr lang="zh-CN" altLang="en-US" dirty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開發</a:t>
            </a:r>
            <a:r>
              <a:rPr lang="en-US" altLang="zh-CN" dirty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,</a:t>
            </a:r>
            <a:r>
              <a:rPr lang="zh-CN" altLang="en-US" dirty="0">
                <a:solidFill>
                  <a:srgbClr val="F8F8F8"/>
                </a:solidFill>
                <a:latin typeface="Microsoft YaHei" pitchFamily="34" charset="-122"/>
                <a:ea typeface="Microsoft YaHei" pitchFamily="34" charset="-122"/>
              </a:rPr>
              <a:t>滿足多平台嵌入，有效控制專案風險</a:t>
            </a:r>
          </a:p>
        </p:txBody>
      </p:sp>
      <p:sp>
        <p:nvSpPr>
          <p:cNvPr id="19" name="矩形 18"/>
          <p:cNvSpPr/>
          <p:nvPr/>
        </p:nvSpPr>
        <p:spPr>
          <a:xfrm>
            <a:off x="877482" y="565489"/>
            <a:ext cx="9772015" cy="930802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84480" tIns="162560" rIns="284480" bIns="162560" numCol="1" spcCol="1270" anchor="ctr" anchorCtr="0">
            <a:noAutofit/>
          </a:bodyPr>
          <a:lstStyle/>
          <a:p>
            <a:pPr lvl="0" algn="ctr" defTabSz="177800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altLang="zh-CN" sz="4000" kern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CAA</a:t>
            </a:r>
            <a:r>
              <a:rPr lang="zh-CN" altLang="en-US" sz="4000" kern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移動報修</a:t>
            </a:r>
          </a:p>
        </p:txBody>
      </p:sp>
      <p:sp>
        <p:nvSpPr>
          <p:cNvPr id="13" name="TextBox 3"/>
          <p:cNvSpPr txBox="1"/>
          <p:nvPr/>
        </p:nvSpPr>
        <p:spPr>
          <a:xfrm>
            <a:off x="628509" y="733384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 smtClean="0">
                <a:latin typeface="微软雅黑" pitchFamily="34" charset="-122"/>
                <a:ea typeface="微软雅黑" pitchFamily="34" charset="-122"/>
              </a:rPr>
              <a:t>專案管理</a:t>
            </a:r>
            <a:endParaRPr lang="zh-CN" altLang="en-US" sz="3000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43985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35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367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98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498" tmFilter="0, 0; 0.125,0.2665; 0.25,0.4; 0.375,0.465; 0.5,0.5;  0.625,0.535; 0.75,0.6; 0.875,0.7335; 1,1">
                                          <p:stCondLst>
                                            <p:cond delay="49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49" tmFilter="0, 0; 0.125,0.2665; 0.25,0.4; 0.375,0.465; 0.5,0.5;  0.625,0.535; 0.75,0.6; 0.875,0.7335; 1,1">
                                          <p:stCondLst>
                                            <p:cond delay="993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23" tmFilter="0, 0; 0.125,0.2665; 0.25,0.4; 0.375,0.465; 0.5,0.5;  0.625,0.535; 0.75,0.6; 0.875,0.7335; 1,1">
                                          <p:stCondLst>
                                            <p:cond delay="124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0">
                                          <p:stCondLst>
                                            <p:cond delay="487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24" decel="50000">
                                          <p:stCondLst>
                                            <p:cond delay="507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0">
                                          <p:stCondLst>
                                            <p:cond delay="98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24" decel="50000">
                                          <p:stCondLst>
                                            <p:cond delay="100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0">
                                          <p:stCondLst>
                                            <p:cond delay="1231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24" decel="50000">
                                          <p:stCondLst>
                                            <p:cond delay="1251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0">
                                          <p:stCondLst>
                                            <p:cond delay="135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24" decel="50000">
                                          <p:stCondLst>
                                            <p:cond delay="137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435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367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98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98" tmFilter="0, 0; 0.125,0.2665; 0.25,0.4; 0.375,0.465; 0.5,0.5;  0.625,0.535; 0.75,0.6; 0.875,0.7335; 1,1">
                                          <p:stCondLst>
                                            <p:cond delay="49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49" tmFilter="0, 0; 0.125,0.2665; 0.25,0.4; 0.375,0.465; 0.5,0.5;  0.625,0.535; 0.75,0.6; 0.875,0.7335; 1,1">
                                          <p:stCondLst>
                                            <p:cond delay="993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23" tmFilter="0, 0; 0.125,0.2665; 0.25,0.4; 0.375,0.465; 0.5,0.5;  0.625,0.535; 0.75,0.6; 0.875,0.7335; 1,1">
                                          <p:stCondLst>
                                            <p:cond delay="12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0">
                                          <p:stCondLst>
                                            <p:cond delay="487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24" decel="50000">
                                          <p:stCondLst>
                                            <p:cond delay="507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0">
                                          <p:stCondLst>
                                            <p:cond delay="98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24" decel="50000">
                                          <p:stCondLst>
                                            <p:cond delay="100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0">
                                          <p:stCondLst>
                                            <p:cond delay="1231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24" decel="50000">
                                          <p:stCondLst>
                                            <p:cond delay="1251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0">
                                          <p:stCondLst>
                                            <p:cond delay="13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24" decel="50000">
                                          <p:stCondLst>
                                            <p:cond delay="13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5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46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47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51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52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000"/>
                            </p:stCondLst>
                            <p:childTnLst>
                              <p:par>
                                <p:cTn id="61" presetID="5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63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64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68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69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/>
      <p:bldP spid="10" grpId="0"/>
      <p:bldP spid="12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28509" y="733384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>
                <a:latin typeface="微软雅黑" pitchFamily="34" charset="-122"/>
                <a:ea typeface="微软雅黑" pitchFamily="34" charset="-122"/>
              </a:rPr>
              <a:t>人才培育</a:t>
            </a:r>
            <a:endParaRPr lang="zh-CN" altLang="en-US" sz="3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文本框 1"/>
          <p:cNvSpPr txBox="1"/>
          <p:nvPr/>
        </p:nvSpPr>
        <p:spPr>
          <a:xfrm>
            <a:off x="873124" y="1876253"/>
            <a:ext cx="10313859" cy="240065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en-US" altLang="zh-CN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</a:t>
            </a:r>
            <a:r>
              <a:rPr lang="en-US" altLang="zh-CN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在平時專案開發工作中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，對專案成員進行輔導，并及時解決問題</a:t>
            </a:r>
            <a:r>
              <a:rPr lang="zh-CN" altLang="en-US" sz="2000" dirty="0" smtClean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。</a:t>
            </a:r>
            <a:endParaRPr lang="en-US" altLang="zh-CN" sz="2000" dirty="0" smtClean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endParaRPr lang="zh-CN" altLang="en-US" sz="2000" dirty="0" smtClean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在</a:t>
            </a:r>
            <a:r>
              <a: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團隊內進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行</a:t>
            </a:r>
            <a:r>
              <a:rPr lang="en-US" altLang="zh-CN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Jenkins CICD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的技術分享，以及實際案例的講解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000" dirty="0" smtClean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endParaRPr lang="en-US" altLang="zh-CN" sz="2000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360680">
              <a:lnSpc>
                <a:spcPct val="150000"/>
              </a:lnSpc>
              <a:buClr>
                <a:srgbClr val="4472C4"/>
              </a:buClr>
              <a:defRPr/>
            </a:pP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在</a:t>
            </a:r>
            <a:r>
              <a: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團隊內進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行</a:t>
            </a:r>
            <a:r>
              <a:rPr lang="en-US" altLang="zh-CN" sz="2000" dirty="0" err="1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Hadoop,Spark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等大數據相關技</a:t>
            </a:r>
            <a:r>
              <a: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術</a:t>
            </a:r>
            <a:r>
              <a:rPr lang="zh-CN" alt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的介紹分享</a:t>
            </a:r>
            <a:r>
              <a:rPr lang="zh-CN" altLang="zh-TW" sz="2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。</a:t>
            </a:r>
            <a:endParaRPr lang="zh-CN" altLang="zh-TW" sz="2000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873125" y="2029923"/>
            <a:ext cx="615315" cy="36258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１）</a:t>
            </a:r>
          </a:p>
        </p:txBody>
      </p:sp>
      <p:sp>
        <p:nvSpPr>
          <p:cNvPr id="8" name="矩形 7"/>
          <p:cNvSpPr/>
          <p:nvPr/>
        </p:nvSpPr>
        <p:spPr>
          <a:xfrm>
            <a:off x="883285" y="2903986"/>
            <a:ext cx="605155" cy="36258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 </a:t>
            </a:r>
            <a:r>
              <a:rPr lang="zh-CN" altLang="en-US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</a:p>
        </p:txBody>
      </p:sp>
      <p:sp>
        <p:nvSpPr>
          <p:cNvPr id="9" name="矩形 8"/>
          <p:cNvSpPr/>
          <p:nvPr/>
        </p:nvSpPr>
        <p:spPr>
          <a:xfrm>
            <a:off x="873125" y="3773996"/>
            <a:ext cx="605155" cy="3905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 </a:t>
            </a:r>
            <a:r>
              <a:rPr lang="zh-CN" altLang="en-US" sz="1600" dirty="0" smtClean="0">
                <a:ln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288544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2103</TotalTime>
  <Words>990</Words>
  <Application>Microsoft Office PowerPoint</Application>
  <PresentationFormat>寬螢幕</PresentationFormat>
  <Paragraphs>116</Paragraphs>
  <Slides>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Microsoft JhengHei UI</vt:lpstr>
      <vt:lpstr>Microsoft YaHei</vt:lpstr>
      <vt:lpstr>Microsoft YaHei</vt:lpstr>
      <vt:lpstr>MS PMincho</vt:lpstr>
      <vt:lpstr>SimSun</vt:lpstr>
      <vt:lpstr>新細明體</vt:lpstr>
      <vt:lpstr>Arial</vt:lpstr>
      <vt:lpstr>Calibri</vt:lpstr>
      <vt:lpstr>Calibri Light</vt:lpstr>
      <vt:lpstr>Office 主题</vt:lpstr>
      <vt:lpstr>編寫說明：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智能製造系統平台中心</dc:title>
  <dc:creator>Windows 使用者</dc:creator>
  <cp:lastModifiedBy>pear</cp:lastModifiedBy>
  <cp:revision>161</cp:revision>
  <cp:lastPrinted>2018-12-25T02:29:49Z</cp:lastPrinted>
  <dcterms:created xsi:type="dcterms:W3CDTF">2018-09-01T01:25:56Z</dcterms:created>
  <dcterms:modified xsi:type="dcterms:W3CDTF">2021-07-20T06:41:00Z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