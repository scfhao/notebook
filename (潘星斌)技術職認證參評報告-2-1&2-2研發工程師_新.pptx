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83" r:id="rId2"/>
    <p:sldId id="284" r:id="rId3"/>
    <p:sldId id="285" r:id="rId4"/>
    <p:sldId id="286" r:id="rId5"/>
  </p:sldIdLst>
  <p:sldSz cx="12192000" cy="6858000"/>
  <p:notesSz cx="6797675" cy="9926638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>
          <p15:clr>
            <a:srgbClr val="A4A3A4"/>
          </p15:clr>
        </p15:guide>
        <p15:guide id="2" pos="38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706" autoAdjust="0"/>
  </p:normalViewPr>
  <p:slideViewPr>
    <p:cSldViewPr snapToGrid="0">
      <p:cViewPr varScale="1">
        <p:scale>
          <a:sx n="116" d="100"/>
          <a:sy n="116" d="100"/>
        </p:scale>
        <p:origin x="384" y="132"/>
      </p:cViewPr>
      <p:guideLst>
        <p:guide orient="horz" pos="2124"/>
        <p:guide pos="3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B3B8B5-1FD7-4740-B0DF-08F52405A490}" type="doc">
      <dgm:prSet loTypeId="urn:microsoft.com/office/officeart/2005/8/layout/hList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DE863B61-DB90-4106-B352-7D282FD967B9}">
      <dgm:prSet phldrT="[文本]" phldr="0" custT="0"/>
      <dgm:spPr>
        <a:solidFill>
          <a:schemeClr val="accent5">
            <a:lumMod val="75000"/>
          </a:schemeClr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iPEBG</a:t>
          </a:r>
          <a:r>
            <a: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電子簽核平台</a:t>
          </a:r>
        </a:p>
      </dgm:t>
    </dgm:pt>
    <dgm:pt modelId="{217818CC-EFED-4E2C-8852-E3A59074B042}" type="parTrans" cxnId="{3FA4A2EE-A4E5-4608-8F7C-B334B4C2B27F}">
      <dgm:prSet/>
      <dgm:spPr/>
      <dgm:t>
        <a:bodyPr/>
        <a:lstStyle/>
        <a:p>
          <a:endParaRPr lang="zh-CN" altLang="en-US"/>
        </a:p>
      </dgm:t>
    </dgm:pt>
    <dgm:pt modelId="{B6CE0D19-8248-4881-90C6-08BF6EC9CF24}" type="sibTrans" cxnId="{3FA4A2EE-A4E5-4608-8F7C-B334B4C2B27F}">
      <dgm:prSet/>
      <dgm:spPr/>
      <dgm:t>
        <a:bodyPr/>
        <a:lstStyle/>
        <a:p>
          <a:endParaRPr lang="zh-CN" altLang="en-US"/>
        </a:p>
      </dgm:t>
    </dgm:pt>
    <dgm:pt modelId="{0A5FB72A-68E5-423E-8421-8918F656140C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TW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角色：專案管理，方案制定，開發實施</a:t>
          </a:r>
          <a:endParaRPr lang="zh-CN" altLang="en-US" sz="16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6CCCA0-8F62-436E-8BE8-A280E618DFD8}" type="parTrans" cxnId="{8B8B83BA-409E-4324-A272-3A3A7F75E3DE}">
      <dgm:prSet/>
      <dgm:spPr/>
      <dgm:t>
        <a:bodyPr/>
        <a:lstStyle/>
        <a:p>
          <a:endParaRPr lang="zh-CN" altLang="en-US"/>
        </a:p>
      </dgm:t>
    </dgm:pt>
    <dgm:pt modelId="{6A94EC94-2E14-4C78-977E-82DAEFE40E99}" type="sibTrans" cxnId="{8B8B83BA-409E-4324-A272-3A3A7F75E3DE}">
      <dgm:prSet/>
      <dgm:spPr/>
      <dgm:t>
        <a:bodyPr/>
        <a:lstStyle/>
        <a:p>
          <a:endParaRPr lang="zh-CN" altLang="en-US"/>
        </a:p>
      </dgm:t>
    </dgm:pt>
    <dgm:pt modelId="{7AFFE0F5-69D4-4BA5-9220-DD6ACDA0F367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TW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狀態：</a:t>
          </a:r>
          <a:r>
            <a: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iPEBG </a:t>
          </a:r>
          <a:r>
            <a: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</a:t>
          </a:r>
          <a:r>
            <a:rPr lang="zh-TW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廠區</a:t>
          </a:r>
          <a:r>
            <a:rPr lang="zh-CN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上線</a:t>
          </a:r>
          <a:r>
            <a:rPr lang="zh-TW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endParaRPr lang="zh-CN" altLang="en-US" sz="16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472FD59-D9E9-4638-8CDD-E83E4EA48962}" type="parTrans" cxnId="{BEF83504-5377-49BF-911D-0708D9CBB169}">
      <dgm:prSet/>
      <dgm:spPr/>
    </dgm:pt>
    <dgm:pt modelId="{5778521C-08ED-45B0-A0F5-CCCE8DE000EC}" type="sibTrans" cxnId="{BEF83504-5377-49BF-911D-0708D9CBB169}">
      <dgm:prSet/>
      <dgm:spPr/>
    </dgm:pt>
    <dgm:pt modelId="{0B603189-FA67-46DF-8B11-2FC39D545DAD}">
      <dgm:prSet phldrT="[文本]" phldr="0" custT="0"/>
      <dgm:spPr>
        <a:solidFill>
          <a:schemeClr val="accent5">
            <a:lumMod val="75000"/>
          </a:schemeClr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微服務</a:t>
          </a:r>
          <a:r>
            <a:rPr lang="zh-CN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平台</a:t>
          </a:r>
        </a:p>
      </dgm:t>
    </dgm:pt>
    <dgm:pt modelId="{EDDEB45C-93C7-42BB-88A4-AF6675D09EDF}" type="parTrans" cxnId="{3A9DEB70-7E2D-404A-B559-C3EE70BB2CCF}">
      <dgm:prSet/>
      <dgm:spPr/>
      <dgm:t>
        <a:bodyPr/>
        <a:lstStyle/>
        <a:p>
          <a:endParaRPr lang="zh-CN" altLang="en-US"/>
        </a:p>
      </dgm:t>
    </dgm:pt>
    <dgm:pt modelId="{AF5E3CC6-6995-4941-B51A-00EE9BD70825}" type="sibTrans" cxnId="{3A9DEB70-7E2D-404A-B559-C3EE70BB2CCF}">
      <dgm:prSet/>
      <dgm:spPr/>
      <dgm:t>
        <a:bodyPr/>
        <a:lstStyle/>
        <a:p>
          <a:endParaRPr lang="zh-CN" altLang="en-US"/>
        </a:p>
      </dgm:t>
    </dgm:pt>
    <dgm:pt modelId="{C840CC7F-3384-4626-8AFD-E04C4A092990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TW" altLang="en-US" sz="16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角色：開發實施，關鍵技術開發</a:t>
          </a:r>
          <a:endParaRPr lang="zh-CN" altLang="en-US" sz="16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DD7CF54-A820-4A87-9E84-67DC9F4A089A}" type="parTrans" cxnId="{FE287CCF-2C11-4CDB-9782-91EA07415BB0}">
      <dgm:prSet/>
      <dgm:spPr/>
      <dgm:t>
        <a:bodyPr/>
        <a:lstStyle/>
        <a:p>
          <a:endParaRPr lang="zh-CN" altLang="en-US"/>
        </a:p>
      </dgm:t>
    </dgm:pt>
    <dgm:pt modelId="{D2297AA4-07D4-4023-83FF-1716C37513DE}" type="sibTrans" cxnId="{FE287CCF-2C11-4CDB-9782-91EA07415BB0}">
      <dgm:prSet/>
      <dgm:spPr/>
      <dgm:t>
        <a:bodyPr/>
        <a:lstStyle/>
        <a:p>
          <a:endParaRPr lang="zh-CN" altLang="en-US"/>
        </a:p>
      </dgm:t>
    </dgm:pt>
    <dgm:pt modelId="{BE53480B-0D48-4EF7-B71F-30E1CD4E117C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TW" altLang="en-US" sz="1600" smtClean="0">
              <a:latin typeface="微软雅黑" panose="020B0503020204020204" pitchFamily="34" charset="-122"/>
              <a:ea typeface="微软雅黑" panose="020B0503020204020204" pitchFamily="34" charset="-122"/>
            </a:rPr>
            <a:t>狀態：</a:t>
          </a:r>
          <a:r>
            <a:rPr lang="zh-CN" altLang="en-US" sz="1600" smtClean="0">
              <a:latin typeface="微软雅黑" panose="020B0503020204020204" pitchFamily="34" charset="-122"/>
              <a:ea typeface="微软雅黑" panose="020B0503020204020204" pitchFamily="34" charset="-122"/>
            </a:rPr>
            <a:t>開發階段</a:t>
          </a:r>
        </a:p>
      </dgm:t>
    </dgm:pt>
    <dgm:pt modelId="{55F14968-4D8D-44C5-8712-3EF6C3294D40}" type="parTrans" cxnId="{91BD6C6C-FF2D-47CE-B18E-648A782C328A}">
      <dgm:prSet/>
      <dgm:spPr/>
    </dgm:pt>
    <dgm:pt modelId="{68E3B136-9FA0-4356-BAE4-45FB8A19314A}" type="sibTrans" cxnId="{91BD6C6C-FF2D-47CE-B18E-648A782C328A}">
      <dgm:prSet/>
      <dgm:spPr/>
    </dgm:pt>
    <dgm:pt modelId="{8892470B-3E87-4FDD-9483-E84E54FF4ADD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endParaRPr lang="zh-CN" altLang="en-US" sz="16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4709E21-C782-4511-8C83-3A46F70DD92E}" type="parTrans" cxnId="{58B37504-85D6-437E-BA60-FFE6F81D1A2D}">
      <dgm:prSet/>
      <dgm:spPr/>
    </dgm:pt>
    <dgm:pt modelId="{C3C74AF4-250B-4EB5-A3A4-50E31AF85D0A}" type="sibTrans" cxnId="{58B37504-85D6-437E-BA60-FFE6F81D1A2D}">
      <dgm:prSet/>
      <dgm:spPr/>
    </dgm:pt>
    <dgm:pt modelId="{9ECD4956-EC76-4205-B6C4-2A05EF23E464}" type="pres">
      <dgm:prSet presAssocID="{DBB3B8B5-1FD7-4740-B0DF-08F52405A49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30683FC-8579-40F2-8556-5117F046681A}" type="pres">
      <dgm:prSet presAssocID="{DE863B61-DB90-4106-B352-7D282FD967B9}" presName="composite" presStyleCnt="0"/>
      <dgm:spPr/>
    </dgm:pt>
    <dgm:pt modelId="{4ABBD042-2357-450E-BD31-E7AEE0490ED1}" type="pres">
      <dgm:prSet presAssocID="{DE863B61-DB90-4106-B352-7D282FD967B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36DAE74-EF85-41C2-9484-B75FF90259B8}" type="pres">
      <dgm:prSet presAssocID="{DE863B61-DB90-4106-B352-7D282FD967B9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ADF06E6-9878-4C65-9AD1-3D89CE4D0311}" type="pres">
      <dgm:prSet presAssocID="{B6CE0D19-8248-4881-90C6-08BF6EC9CF24}" presName="space" presStyleCnt="0"/>
      <dgm:spPr/>
    </dgm:pt>
    <dgm:pt modelId="{219D48F0-7D2D-4303-A09B-3C94206CAFE0}" type="pres">
      <dgm:prSet presAssocID="{0B603189-FA67-46DF-8B11-2FC39D545DAD}" presName="composite" presStyleCnt="0"/>
      <dgm:spPr/>
    </dgm:pt>
    <dgm:pt modelId="{60044D88-78BC-488C-B935-0F2D810E42E4}" type="pres">
      <dgm:prSet presAssocID="{0B603189-FA67-46DF-8B11-2FC39D545DA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C89B298-F061-4312-A8CC-681AF6DD1D78}" type="pres">
      <dgm:prSet presAssocID="{0B603189-FA67-46DF-8B11-2FC39D545DAD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278FE87-A565-479F-A768-AEA5B5B3658A}" type="presOf" srcId="{BE53480B-0D48-4EF7-B71F-30E1CD4E117C}" destId="{AC89B298-F061-4312-A8CC-681AF6DD1D78}" srcOrd="0" destOrd="1" presId="urn:microsoft.com/office/officeart/2005/8/layout/hList1"/>
    <dgm:cxn modelId="{91BD6C6C-FF2D-47CE-B18E-648A782C328A}" srcId="{0B603189-FA67-46DF-8B11-2FC39D545DAD}" destId="{BE53480B-0D48-4EF7-B71F-30E1CD4E117C}" srcOrd="1" destOrd="0" parTransId="{55F14968-4D8D-44C5-8712-3EF6C3294D40}" sibTransId="{68E3B136-9FA0-4356-BAE4-45FB8A19314A}"/>
    <dgm:cxn modelId="{3FA4A2EE-A4E5-4608-8F7C-B334B4C2B27F}" srcId="{DBB3B8B5-1FD7-4740-B0DF-08F52405A490}" destId="{DE863B61-DB90-4106-B352-7D282FD967B9}" srcOrd="0" destOrd="0" parTransId="{217818CC-EFED-4E2C-8852-E3A59074B042}" sibTransId="{B6CE0D19-8248-4881-90C6-08BF6EC9CF24}"/>
    <dgm:cxn modelId="{DB002734-6CC5-49DA-BF1B-325B9FCA4334}" type="presOf" srcId="{0A5FB72A-68E5-423E-8421-8918F656140C}" destId="{136DAE74-EF85-41C2-9484-B75FF90259B8}" srcOrd="0" destOrd="0" presId="urn:microsoft.com/office/officeart/2005/8/layout/hList1"/>
    <dgm:cxn modelId="{423F182B-D006-4AAF-A34E-9A5F1D80818E}" type="presOf" srcId="{0B603189-FA67-46DF-8B11-2FC39D545DAD}" destId="{60044D88-78BC-488C-B935-0F2D810E42E4}" srcOrd="0" destOrd="0" presId="urn:microsoft.com/office/officeart/2005/8/layout/hList1"/>
    <dgm:cxn modelId="{0C02D51E-C1AA-4F71-8B29-82E51575A6CD}" type="presOf" srcId="{DBB3B8B5-1FD7-4740-B0DF-08F52405A490}" destId="{9ECD4956-EC76-4205-B6C4-2A05EF23E464}" srcOrd="0" destOrd="0" presId="urn:microsoft.com/office/officeart/2005/8/layout/hList1"/>
    <dgm:cxn modelId="{38E4B04A-4191-4CC5-BE23-5EC602DDF929}" type="presOf" srcId="{C840CC7F-3384-4626-8AFD-E04C4A092990}" destId="{AC89B298-F061-4312-A8CC-681AF6DD1D78}" srcOrd="0" destOrd="0" presId="urn:microsoft.com/office/officeart/2005/8/layout/hList1"/>
    <dgm:cxn modelId="{FE287CCF-2C11-4CDB-9782-91EA07415BB0}" srcId="{0B603189-FA67-46DF-8B11-2FC39D545DAD}" destId="{C840CC7F-3384-4626-8AFD-E04C4A092990}" srcOrd="0" destOrd="0" parTransId="{5DD7CF54-A820-4A87-9E84-67DC9F4A089A}" sibTransId="{D2297AA4-07D4-4023-83FF-1716C37513DE}"/>
    <dgm:cxn modelId="{0B63B361-984F-4E58-AA66-B22E06E68F9C}" type="presOf" srcId="{7AFFE0F5-69D4-4BA5-9220-DD6ACDA0F367}" destId="{136DAE74-EF85-41C2-9484-B75FF90259B8}" srcOrd="0" destOrd="1" presId="urn:microsoft.com/office/officeart/2005/8/layout/hList1"/>
    <dgm:cxn modelId="{8B8B83BA-409E-4324-A272-3A3A7F75E3DE}" srcId="{DE863B61-DB90-4106-B352-7D282FD967B9}" destId="{0A5FB72A-68E5-423E-8421-8918F656140C}" srcOrd="0" destOrd="0" parTransId="{0D6CCCA0-8F62-436E-8BE8-A280E618DFD8}" sibTransId="{6A94EC94-2E14-4C78-977E-82DAEFE40E99}"/>
    <dgm:cxn modelId="{6FC72A50-CEA8-4492-BE5C-19B88034D8B6}" type="presOf" srcId="{DE863B61-DB90-4106-B352-7D282FD967B9}" destId="{4ABBD042-2357-450E-BD31-E7AEE0490ED1}" srcOrd="0" destOrd="0" presId="urn:microsoft.com/office/officeart/2005/8/layout/hList1"/>
    <dgm:cxn modelId="{3A9DEB70-7E2D-404A-B559-C3EE70BB2CCF}" srcId="{DBB3B8B5-1FD7-4740-B0DF-08F52405A490}" destId="{0B603189-FA67-46DF-8B11-2FC39D545DAD}" srcOrd="1" destOrd="0" parTransId="{EDDEB45C-93C7-42BB-88A4-AF6675D09EDF}" sibTransId="{AF5E3CC6-6995-4941-B51A-00EE9BD70825}"/>
    <dgm:cxn modelId="{BEF83504-5377-49BF-911D-0708D9CBB169}" srcId="{DE863B61-DB90-4106-B352-7D282FD967B9}" destId="{7AFFE0F5-69D4-4BA5-9220-DD6ACDA0F367}" srcOrd="1" destOrd="0" parTransId="{4472FD59-D9E9-4638-8CDD-E83E4EA48962}" sibTransId="{5778521C-08ED-45B0-A0F5-CCCE8DE000EC}"/>
    <dgm:cxn modelId="{59D283E8-762D-4649-8E2A-589C7C438E0F}" type="presOf" srcId="{8892470B-3E87-4FDD-9483-E84E54FF4ADD}" destId="{AC89B298-F061-4312-A8CC-681AF6DD1D78}" srcOrd="0" destOrd="2" presId="urn:microsoft.com/office/officeart/2005/8/layout/hList1"/>
    <dgm:cxn modelId="{58B37504-85D6-437E-BA60-FFE6F81D1A2D}" srcId="{0B603189-FA67-46DF-8B11-2FC39D545DAD}" destId="{8892470B-3E87-4FDD-9483-E84E54FF4ADD}" srcOrd="2" destOrd="0" parTransId="{54709E21-C782-4511-8C83-3A46F70DD92E}" sibTransId="{C3C74AF4-250B-4EB5-A3A4-50E31AF85D0A}"/>
    <dgm:cxn modelId="{3C43F375-2668-47FC-AFCA-518ADCE2E961}" type="presParOf" srcId="{9ECD4956-EC76-4205-B6C4-2A05EF23E464}" destId="{530683FC-8579-40F2-8556-5117F046681A}" srcOrd="0" destOrd="0" presId="urn:microsoft.com/office/officeart/2005/8/layout/hList1"/>
    <dgm:cxn modelId="{13F730CC-E17A-4B36-97BF-DFFF0633F81B}" type="presParOf" srcId="{530683FC-8579-40F2-8556-5117F046681A}" destId="{4ABBD042-2357-450E-BD31-E7AEE0490ED1}" srcOrd="0" destOrd="0" presId="urn:microsoft.com/office/officeart/2005/8/layout/hList1"/>
    <dgm:cxn modelId="{5A7D89D6-FDE2-465C-A800-ED71F0EFE6C9}" type="presParOf" srcId="{530683FC-8579-40F2-8556-5117F046681A}" destId="{136DAE74-EF85-41C2-9484-B75FF90259B8}" srcOrd="1" destOrd="0" presId="urn:microsoft.com/office/officeart/2005/8/layout/hList1"/>
    <dgm:cxn modelId="{257040F7-B7CC-447B-8257-EBDDDEA08AA1}" type="presParOf" srcId="{9ECD4956-EC76-4205-B6C4-2A05EF23E464}" destId="{DADF06E6-9878-4C65-9AD1-3D89CE4D0311}" srcOrd="1" destOrd="0" presId="urn:microsoft.com/office/officeart/2005/8/layout/hList1"/>
    <dgm:cxn modelId="{958E3B06-EAA7-4924-B734-5A4A5DDF952C}" type="presParOf" srcId="{9ECD4956-EC76-4205-B6C4-2A05EF23E464}" destId="{219D48F0-7D2D-4303-A09B-3C94206CAFE0}" srcOrd="2" destOrd="0" presId="urn:microsoft.com/office/officeart/2005/8/layout/hList1"/>
    <dgm:cxn modelId="{A28D7791-8687-4F4E-915C-48EAC2DFAA0D}" type="presParOf" srcId="{219D48F0-7D2D-4303-A09B-3C94206CAFE0}" destId="{60044D88-78BC-488C-B935-0F2D810E42E4}" srcOrd="0" destOrd="0" presId="urn:microsoft.com/office/officeart/2005/8/layout/hList1"/>
    <dgm:cxn modelId="{A3AF2953-EC39-49DD-BD6E-6C994A9FAF73}" type="presParOf" srcId="{219D48F0-7D2D-4303-A09B-3C94206CAFE0}" destId="{AC89B298-F061-4312-A8CC-681AF6DD1D7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BD042-2357-450E-BD31-E7AEE0490ED1}">
      <dsp:nvSpPr>
        <dsp:cNvPr id="0" name=""/>
        <dsp:cNvSpPr/>
      </dsp:nvSpPr>
      <dsp:spPr>
        <a:xfrm>
          <a:off x="47" y="185916"/>
          <a:ext cx="4566317" cy="1086157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iPEBG</a:t>
          </a:r>
          <a:r>
            <a:rPr lang="zh-CN" altLang="en-US" sz="3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電子簽核平台</a:t>
          </a:r>
        </a:p>
      </dsp:txBody>
      <dsp:txXfrm>
        <a:off x="47" y="185916"/>
        <a:ext cx="4566317" cy="1086157"/>
      </dsp:txXfrm>
    </dsp:sp>
    <dsp:sp modelId="{136DAE74-EF85-41C2-9484-B75FF90259B8}">
      <dsp:nvSpPr>
        <dsp:cNvPr id="0" name=""/>
        <dsp:cNvSpPr/>
      </dsp:nvSpPr>
      <dsp:spPr>
        <a:xfrm>
          <a:off x="47" y="1272073"/>
          <a:ext cx="4566317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角色：專案管理，方案制定，開發實施</a:t>
          </a:r>
          <a:endParaRPr lang="zh-CN" altLang="en-US" sz="1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狀態：</a:t>
          </a:r>
          <a:r>
            <a:rPr lang="en-US" altLang="zh-CN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iPEBG </a:t>
          </a:r>
          <a:r>
            <a:rPr lang="zh-CN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多</a:t>
          </a:r>
          <a:r>
            <a:rPr lang="zh-TW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廠區</a:t>
          </a:r>
          <a:r>
            <a:rPr lang="zh-CN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上線</a:t>
          </a:r>
          <a:r>
            <a:rPr lang="zh-TW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使用</a:t>
          </a:r>
          <a:endParaRPr lang="zh-CN" altLang="en-US" sz="1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7" y="1272073"/>
        <a:ext cx="4566317" cy="1581120"/>
      </dsp:txXfrm>
    </dsp:sp>
    <dsp:sp modelId="{60044D88-78BC-488C-B935-0F2D810E42E4}">
      <dsp:nvSpPr>
        <dsp:cNvPr id="0" name=""/>
        <dsp:cNvSpPr/>
      </dsp:nvSpPr>
      <dsp:spPr>
        <a:xfrm>
          <a:off x="5205649" y="185916"/>
          <a:ext cx="4566317" cy="1086157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altLang="en-US" sz="3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微服務</a:t>
          </a:r>
          <a:r>
            <a:rPr lang="zh-CN" sz="3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平台</a:t>
          </a:r>
        </a:p>
      </dsp:txBody>
      <dsp:txXfrm>
        <a:off x="5205649" y="185916"/>
        <a:ext cx="4566317" cy="1086157"/>
      </dsp:txXfrm>
    </dsp:sp>
    <dsp:sp modelId="{AC89B298-F061-4312-A8CC-681AF6DD1D78}">
      <dsp:nvSpPr>
        <dsp:cNvPr id="0" name=""/>
        <dsp:cNvSpPr/>
      </dsp:nvSpPr>
      <dsp:spPr>
        <a:xfrm>
          <a:off x="5205649" y="1272073"/>
          <a:ext cx="4566317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600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角色：開發實施，關鍵技術開發</a:t>
          </a:r>
          <a:endParaRPr lang="zh-CN" altLang="en-US" sz="16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TW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狀態：</a:t>
          </a:r>
          <a:r>
            <a:rPr lang="zh-CN" altLang="en-US" sz="1600" kern="1200" smtClean="0">
              <a:latin typeface="微软雅黑" panose="020B0503020204020204" pitchFamily="34" charset="-122"/>
              <a:ea typeface="微软雅黑" panose="020B0503020204020204" pitchFamily="34" charset="-122"/>
            </a:rPr>
            <a:t>開發階段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zh-CN" altLang="en-US" sz="1600" kern="1200" dirty="0" smtClean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205649" y="1272073"/>
        <a:ext cx="4566317" cy="1581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176C01-2996-41EA-87C6-D94E8BA12DB2}" type="datetime2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2021年7月20日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2927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A50F75F-AD11-4973-BAED-59A0098129E9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3502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2869989-EB00-4EE7-BCB5-25BDC5BB29F8}" type="slidenum">
              <a:rPr lang="en-US" altLang="zh-CN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834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  <a:t>2021/7/20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7" name="组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(S)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(S)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​​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​​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(S)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​​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​​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(S)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​​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6692-0600-494D-A58B-8346A1607219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292E4-C117-4AE5-8BCA-334E149AE116}" type="datetimeFigureOut">
              <a:rPr lang="zh-TW" altLang="en-US" smtClean="0"/>
              <a:t>2021/7/20</a:t>
            </a:fld>
            <a:endParaRPr lang="zh-TW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4DCD-E941-46B3-ADE3-0AFD533C6B28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组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直接连接符​​(S)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(S)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(S)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​​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​​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(S)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​​(S)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​​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​​(S)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(S)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​​(S)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(S)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​​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​​(S)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​​(S)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​​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​​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(S)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(S)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​​(S)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​​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(S)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​​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FDCFB-9841-4E8E-A26A-EE55E04AFFB4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E997A-1EEE-4D88-AEC9-C83348780DB3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B8D67-B939-44AB-992D-F02AFF2C2399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8190-531B-41DD-AD7A-47EC2C22B86C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smtClean="0"/>
              <a:t>添加页脚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smtClean="0"/>
              <a:t>‹#›</a:t>
            </a:fld>
            <a:endParaRPr lang="zh-CN" altLang="en-US" dirty="0"/>
          </a:p>
        </p:txBody>
      </p:sp>
      <p:grpSp>
        <p:nvGrpSpPr>
          <p:cNvPr id="5" name="组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直接连接符​​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​​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​​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​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​​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​​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​​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​​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​​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​​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组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0" name="直接连接符​​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​​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组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直接连接符​​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连接符​​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​​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​​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6" name="直接连接符 4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​​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​​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​​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" name="直接连接符​​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​​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​​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组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5" name="直接连接符 3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​​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​​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​​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0" name="直接连接符​​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​​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​​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​​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​​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EC09C-6658-4B3F-8DB1-134C6DD59176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EE274-C014-4170-9D78-BB3EE034439F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EE274-C014-4170-9D78-BB3EE034439F}" type="datetime2">
              <a:rPr lang="zh-CN" altLang="en-US" smtClean="0"/>
              <a:t>2021年7月20日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noProof="0" smtClean="0"/>
              <a:t>添加页脚</a:t>
            </a:r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7" name="组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8" name="直接连接符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​​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​​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​​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​​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​​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​​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组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直接连接符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组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直接连接符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连接符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连接符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直接连接符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组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直接连接符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组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直接连接符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​​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连接符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直接连接符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8" name="直接连接符 57"/>
          <p:cNvCxnSpPr/>
          <p:nvPr userDrawn="1"/>
        </p:nvCxnSpPr>
        <p:spPr>
          <a:xfrm>
            <a:off x="609600" y="6172200"/>
            <a:ext cx="9434117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5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" y="0"/>
            <a:ext cx="2013167" cy="543847"/>
          </a:xfrm>
          <a:prstGeom prst="rect">
            <a:avLst/>
          </a:prstGeom>
        </p:spPr>
      </p:pic>
      <p:pic>
        <p:nvPicPr>
          <p:cNvPr id="60" name="Picture 7" descr="未命名 -2拷貝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279" y="5665419"/>
            <a:ext cx="1476375" cy="8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521852"/>
              </p:ext>
            </p:extLst>
          </p:nvPr>
        </p:nvGraphicFramePr>
        <p:xfrm>
          <a:off x="1031363" y="1349649"/>
          <a:ext cx="10129275" cy="3810736"/>
        </p:xfrm>
        <a:graphic>
          <a:graphicData uri="http://schemas.openxmlformats.org/drawingml/2006/table">
            <a:tbl>
              <a:tblPr/>
              <a:tblGrid>
                <a:gridCol w="872841"/>
                <a:gridCol w="791210"/>
                <a:gridCol w="2550160"/>
                <a:gridCol w="408618"/>
                <a:gridCol w="883617"/>
                <a:gridCol w="224790"/>
                <a:gridCol w="1650204"/>
                <a:gridCol w="872841"/>
                <a:gridCol w="1874994"/>
              </a:tblGrid>
              <a:tr h="423545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基本信息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王磊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資位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師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學歷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本科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畢業學校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北京交通大學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專業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計算機科學與技術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現部門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精益系統管理開發中心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/園區管理系統開發部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申報職級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2-2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發工程師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集團年資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378">
                <a:tc gridSpan="9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工作履歷（從集團外經歷起，倒序填寫）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  <a:tr h="4235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起止時間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任職單位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崗位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工作執掌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2018.03-</a:t>
                      </a: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中原資訊總處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開發工程師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項目架構搭建，功能開發，日常運維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2015.06-2018.02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山西高臻互聯網科技有限公司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java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研發工程師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項目架構搭建，需求分析，功能開發</a:t>
                      </a:r>
                      <a:endParaRPr lang="en-US" altLang="zh-CN" sz="13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  <a:tr h="42337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2011.11-2015.05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北京北大千方科技有限公司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java</a:t>
                      </a:r>
                      <a:r>
                        <a:rPr lang="zh-CN" altLang="en-US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研發工程師</a:t>
                      </a:r>
                      <a:endParaRPr lang="zh-CN" altLang="en-US" sz="1300" b="0" i="0" u="none" strike="noStrike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altLang="zh-CN" sz="13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項目架構搭建，需求調研，需求分析，功能開發，日常運維</a:t>
                      </a:r>
                    </a:p>
                  </a:txBody>
                  <a:tcPr marL="10079" marR="10079" marT="1008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6173" y="685569"/>
            <a:ext cx="1981063" cy="374706"/>
          </a:xfrm>
          <a:prstGeom prst="rect">
            <a:avLst/>
          </a:prstGeom>
          <a:noFill/>
        </p:spPr>
        <p:txBody>
          <a:bodyPr wrap="square" lIns="96762" tIns="48381" rIns="96762" bIns="48381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基础信息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3628" y="650182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技能水平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3124" y="1876253"/>
            <a:ext cx="10313859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r>
              <a:rPr lang="en-US" altLang="zh-CN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熟練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en-US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 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開發，及主流 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</a:t>
            </a:r>
            <a:r>
              <a:rPr lang="en-US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ava 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技術框架</a:t>
            </a:r>
            <a:r>
              <a:rPr lang="en-US" altLang="zh-TW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SSM</a:t>
            </a:r>
            <a:r>
              <a:rPr lang="zh-CN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，掌握微服務技術框架</a:t>
            </a:r>
            <a:r>
              <a:rPr lang="en-US" altLang="zh-CN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SpringCloud</a:t>
            </a:r>
            <a:r>
              <a:rPr lang="zh-CN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SpringBoot</a:t>
            </a:r>
            <a:r>
              <a:rPr lang="zh-CN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，熟悉</a:t>
            </a:r>
            <a:r>
              <a:rPr lang="zh-CN" altLang="zh-TW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高並發，多線程及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TW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HTML + CSS + JS 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前端開</a:t>
            </a:r>
            <a:r>
              <a:rPr lang="zh-TW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發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endParaRPr lang="en-US" altLang="zh-CN" sz="20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r>
              <a:rPr lang="zh-TW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熟練使用</a:t>
            </a:r>
            <a:r>
              <a:rPr lang="zh-TW" altLang="en-US" sz="200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主流數據庫產</a:t>
            </a:r>
            <a:r>
              <a:rPr lang="zh-TW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品</a:t>
            </a:r>
            <a:r>
              <a:rPr lang="zh-CN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，掌握信息系統項目開發流程</a:t>
            </a:r>
            <a:r>
              <a:rPr lang="zh-CN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endParaRPr lang="zh-CN" altLang="en-US" sz="20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r>
              <a:rPr lang="en-US" altLang="zh-CN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數據相關技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術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en-US" altLang="zh-CN" sz="2000" dirty="0" err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adoop</a:t>
            </a:r>
            <a:r>
              <a:rPr lang="zh-CN" altLang="en-US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en-US" altLang="zh-CN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ive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HBase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Spark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Storm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TW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qoop</a:t>
            </a: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zh-TW" sz="2000" dirty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00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</a:p>
          <a:p>
            <a:pPr indent="360680">
              <a:lnSpc>
                <a:spcPct val="150000"/>
              </a:lnSpc>
              <a:buClr>
                <a:srgbClr val="4472C4"/>
              </a:buClr>
              <a:defRPr/>
            </a:pPr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了解機器學習常用算法，熟悉</a:t>
            </a:r>
            <a:r>
              <a:rPr lang="en-US" altLang="zh-TW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SparkMLlib</a:t>
            </a:r>
            <a:endParaRPr lang="zh-CN" altLang="zh-TW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73125" y="2029923"/>
            <a:ext cx="615315" cy="362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１）</a:t>
            </a:r>
          </a:p>
        </p:txBody>
      </p:sp>
      <p:sp>
        <p:nvSpPr>
          <p:cNvPr id="5" name="矩形 4"/>
          <p:cNvSpPr/>
          <p:nvPr/>
        </p:nvSpPr>
        <p:spPr>
          <a:xfrm>
            <a:off x="883285" y="3406494"/>
            <a:ext cx="605155" cy="36258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zh-CN" altLang="en-US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6" name="矩形 5"/>
          <p:cNvSpPr/>
          <p:nvPr/>
        </p:nvSpPr>
        <p:spPr>
          <a:xfrm>
            <a:off x="873125" y="4276504"/>
            <a:ext cx="605155" cy="3905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7" name="矩形 6"/>
          <p:cNvSpPr/>
          <p:nvPr/>
        </p:nvSpPr>
        <p:spPr>
          <a:xfrm>
            <a:off x="873124" y="5165625"/>
            <a:ext cx="605155" cy="3905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 </a:t>
            </a:r>
            <a:r>
              <a:rPr lang="zh-CN" altLang="en-US" sz="1600" dirty="0" smtClean="0">
                <a:ln>
                  <a:noFill/>
                </a:ln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77918" y="661573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新技術應用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93945" y="1370965"/>
            <a:ext cx="864235" cy="42538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001434" y="2084368"/>
            <a:ext cx="609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01</a:t>
            </a:r>
            <a:endParaRPr lang="zh-CN" alt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5718496" y="2406040"/>
            <a:ext cx="864096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 flipH="1">
            <a:off x="5643938" y="2353132"/>
            <a:ext cx="108012" cy="108012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 flipH="1">
            <a:off x="6380202" y="2220486"/>
            <a:ext cx="2029858" cy="3626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ym typeface="+mn-ea"/>
              </a:rPr>
              <a:t>微服務平台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010" y="2708910"/>
            <a:ext cx="4169410" cy="265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ym typeface="+mn-ea"/>
              </a:rPr>
              <a:t>1.</a:t>
            </a:r>
            <a:r>
              <a:rPr lang="zh-CN" altLang="en-US" sz="1600" dirty="0">
                <a:sym typeface="+mn-ea"/>
              </a:rPr>
              <a:t>本系統功能分模塊化，前後端分離。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ym typeface="+mn-ea"/>
              </a:rPr>
              <a:t>2.</a:t>
            </a:r>
            <a:r>
              <a:rPr lang="zh-CN" altLang="en-US" sz="1600" dirty="0">
                <a:sym typeface="+mn-ea"/>
              </a:rPr>
              <a:t>平台採用Spring Boot 2.X 、Spring Security、Oauth2、Mybatis Plus等核心技术，前端vue、</a:t>
            </a:r>
            <a:r>
              <a:rPr lang="en-US" altLang="zh-CN" sz="1600" dirty="0">
                <a:sym typeface="+mn-ea"/>
              </a:rPr>
              <a:t>bootstrap</a:t>
            </a:r>
            <a:r>
              <a:rPr lang="zh-CN" altLang="en-US" sz="1600" dirty="0">
                <a:sym typeface="+mn-ea"/>
              </a:rPr>
              <a:t>框架，使用</a:t>
            </a:r>
            <a:r>
              <a:rPr lang="en-US" altLang="zh-CN" sz="1600" dirty="0" err="1">
                <a:sym typeface="+mn-ea"/>
              </a:rPr>
              <a:t>nacos</a:t>
            </a:r>
            <a:r>
              <a:rPr lang="zh-CN" altLang="en-US" sz="1600" dirty="0">
                <a:sym typeface="+mn-ea"/>
              </a:rPr>
              <a:t>作為配置及註冊中心，</a:t>
            </a:r>
            <a:r>
              <a:rPr lang="en-US" altLang="zh-CN" sz="1600" dirty="0">
                <a:sym typeface="+mn-ea"/>
              </a:rPr>
              <a:t>maven</a:t>
            </a:r>
            <a:r>
              <a:rPr lang="zh-CN" altLang="en-US" sz="1600" dirty="0">
                <a:sym typeface="+mn-ea"/>
              </a:rPr>
              <a:t>管理項目依賴</a:t>
            </a:r>
            <a:r>
              <a:rPr lang="en-US" altLang="zh-CN" sz="1600" dirty="0">
                <a:sym typeface="+mn-ea"/>
              </a:rPr>
              <a:t>jar</a:t>
            </a:r>
            <a:r>
              <a:rPr lang="zh-CN" altLang="en-US" sz="1600" dirty="0">
                <a:sym typeface="+mn-ea"/>
              </a:rPr>
              <a:t>包，</a:t>
            </a:r>
            <a:r>
              <a:rPr lang="en-US" altLang="zh-CN" sz="1600" dirty="0" err="1">
                <a:sym typeface="+mn-ea"/>
              </a:rPr>
              <a:t>docker</a:t>
            </a:r>
            <a:r>
              <a:rPr lang="zh-CN" altLang="en-US" sz="1600" dirty="0">
                <a:sym typeface="+mn-ea"/>
              </a:rPr>
              <a:t>打包工程，</a:t>
            </a:r>
            <a:r>
              <a:rPr lang="en-US" altLang="zh-CN" sz="1600" dirty="0">
                <a:sym typeface="+mn-ea"/>
              </a:rPr>
              <a:t>Jenkins</a:t>
            </a:r>
            <a:r>
              <a:rPr lang="zh-CN" altLang="en-US" sz="1600" dirty="0">
                <a:sym typeface="+mn-ea"/>
              </a:rPr>
              <a:t>持續集成，自動化部署項</a:t>
            </a:r>
            <a:r>
              <a:rPr lang="zh-CN" altLang="en-US" sz="1600" dirty="0" smtClean="0">
                <a:sym typeface="+mn-ea"/>
              </a:rPr>
              <a:t>目</a:t>
            </a:r>
            <a:r>
              <a:rPr lang="en-US" altLang="zh-CN" sz="1600" dirty="0" smtClean="0">
                <a:sym typeface="+mn-ea"/>
              </a:rPr>
              <a:t>,</a:t>
            </a:r>
            <a:r>
              <a:rPr lang="en-US" altLang="zh-CN" sz="1600" dirty="0" err="1">
                <a:sym typeface="+mn-ea"/>
              </a:rPr>
              <a:t>Redis</a:t>
            </a:r>
            <a:r>
              <a:rPr lang="zh-CN" altLang="en-US" sz="1600" dirty="0">
                <a:sym typeface="+mn-ea"/>
              </a:rPr>
              <a:t>作為二級</a:t>
            </a:r>
            <a:r>
              <a:rPr lang="en-US" altLang="zh-CN" sz="1600" dirty="0" err="1">
                <a:sym typeface="+mn-ea"/>
              </a:rPr>
              <a:t>缓存</a:t>
            </a:r>
            <a:r>
              <a:rPr lang="zh-CN" altLang="en-US" sz="1600" dirty="0">
                <a:sym typeface="+mn-ea"/>
              </a:rPr>
              <a:t>。</a:t>
            </a:r>
            <a:endParaRPr lang="zh-CN" altLang="en-US" sz="1600" dirty="0"/>
          </a:p>
          <a:p>
            <a:pPr>
              <a:lnSpc>
                <a:spcPct val="130000"/>
              </a:lnSpc>
            </a:pPr>
            <a:endParaRPr lang="zh-TW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53262" y="3652545"/>
            <a:ext cx="68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MS PMincho" pitchFamily="18" charset="-128"/>
                <a:ea typeface="MS PMincho" pitchFamily="18" charset="-128"/>
              </a:rPr>
              <a:t>02</a:t>
            </a:r>
            <a:endParaRPr lang="zh-CN" altLang="en-US" sz="3600" b="1" dirty="0">
              <a:solidFill>
                <a:schemeClr val="bg1"/>
              </a:solidFill>
              <a:latin typeface="MS PMincho" pitchFamily="18" charset="-128"/>
              <a:ea typeface="MS PMincho" pitchFamily="18" charset="-128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029436" y="4021532"/>
            <a:ext cx="864096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/>
          <p:cNvSpPr/>
          <p:nvPr/>
        </p:nvSpPr>
        <p:spPr>
          <a:xfrm>
            <a:off x="4860078" y="3964688"/>
            <a:ext cx="108012" cy="108012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201968" y="3835978"/>
            <a:ext cx="2029858" cy="36266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數據同步工具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0175" y="4198620"/>
            <a:ext cx="3380105" cy="1050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1600" dirty="0">
                <a:sym typeface="+mn-ea"/>
              </a:rPr>
              <a:t>使用</a:t>
            </a:r>
            <a:r>
              <a:rPr lang="zh-TW" altLang="en-US" sz="1600" dirty="0" smtClean="0">
                <a:sym typeface="+mn-ea"/>
              </a:rPr>
              <a:t>開</a:t>
            </a:r>
            <a:r>
              <a:rPr lang="zh-CN" altLang="en-US" sz="1600" dirty="0" smtClean="0">
                <a:sym typeface="+mn-ea"/>
              </a:rPr>
              <a:t>源</a:t>
            </a:r>
            <a:r>
              <a:rPr lang="en-US" altLang="zh-TW" sz="1600" dirty="0" smtClean="0">
                <a:sym typeface="+mn-ea"/>
              </a:rPr>
              <a:t>ETL</a:t>
            </a:r>
            <a:r>
              <a:rPr lang="zh-TW" altLang="en-US" sz="1600" dirty="0">
                <a:sym typeface="+mn-ea"/>
              </a:rPr>
              <a:t>開發工具</a:t>
            </a:r>
            <a:r>
              <a:rPr lang="en-US" altLang="zh-TW" sz="1600" dirty="0">
                <a:sym typeface="+mn-ea"/>
              </a:rPr>
              <a:t>KETTLE</a:t>
            </a:r>
            <a:r>
              <a:rPr lang="zh-CN" altLang="en-US" sz="1600" dirty="0">
                <a:sym typeface="+mn-ea"/>
              </a:rPr>
              <a:t>進行數據轉換抽取，分析並配置</a:t>
            </a:r>
            <a:r>
              <a:rPr lang="en-US" altLang="zh-CN" sz="1600" dirty="0">
                <a:sym typeface="+mn-ea"/>
              </a:rPr>
              <a:t>datax</a:t>
            </a:r>
            <a:r>
              <a:rPr lang="zh-CN" altLang="en-US" sz="1600" dirty="0">
                <a:sym typeface="+mn-ea"/>
              </a:rPr>
              <a:t>同步數據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10933" y="950537"/>
            <a:ext cx="2590621" cy="55937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96762" tIns="48381" rIns="96762" bIns="48381" rtlCol="0">
            <a:spAutoFit/>
          </a:bodyPr>
          <a:lstStyle/>
          <a:p>
            <a:pPr algn="ctr"/>
            <a:r>
              <a:rPr lang="zh-CN" altLang="en-US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專案管理</a:t>
            </a:r>
            <a:endParaRPr lang="zh-CN" altLang="en-US" sz="3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1093470" y="2216785"/>
          <a:ext cx="9772015" cy="3039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524c3c2-5d5e-44e0-9467-71379cd145dd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406</Words>
  <Application>Microsoft Office PowerPoint</Application>
  <PresentationFormat>寬螢幕</PresentationFormat>
  <Paragraphs>64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微软雅黑</vt:lpstr>
      <vt:lpstr>MS PMincho</vt:lpstr>
      <vt:lpstr>宋体</vt:lpstr>
      <vt:lpstr>新細明體</vt:lpstr>
      <vt:lpstr>Arial</vt:lpstr>
      <vt:lpstr>Calibri</vt:lpstr>
      <vt:lpstr>Calibri Light</vt:lpstr>
      <vt:lpstr>Office 主题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智能製造系統平台中心</dc:title>
  <dc:creator>Windows 使用者</dc:creator>
  <cp:lastModifiedBy>pear</cp:lastModifiedBy>
  <cp:revision>213</cp:revision>
  <cp:lastPrinted>2018-12-25T02:29:00Z</cp:lastPrinted>
  <dcterms:created xsi:type="dcterms:W3CDTF">2018-09-01T01:25:00Z</dcterms:created>
  <dcterms:modified xsi:type="dcterms:W3CDTF">2021-07-20T01:14:58Z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2052-11.1.0.10000</vt:lpwstr>
  </property>
</Properties>
</file>